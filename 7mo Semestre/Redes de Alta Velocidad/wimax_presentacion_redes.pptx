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645920"/>
            <a:ext cx="137160" cy="3474720"/>
          </a:xfrm>
          <a:prstGeom prst="rect">
            <a:avLst/>
          </a:prstGeom>
          <a:solidFill>
            <a:srgbClr val="D9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155448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Georgia"/>
              </a:defRPr>
            </a:pPr>
            <a:r>
              <a:t>WiMAX: Origen, Arquitectura, Guerra de Estándares y Evolución a 4G/5G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29184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8A9BA8"/>
                </a:solidFill>
                <a:latin typeface="Verdana"/>
              </a:defRPr>
            </a:pPr>
            <a:r>
              <a:t>Materia: Redes de Alta Velocidad  |  Nivel Didáctico con Rigor Técnico</a:t>
            </a:r>
          </a:p>
          <a:p>
            <a:pPr>
              <a:spcBef>
                <a:spcPts val="800"/>
              </a:spcBef>
              <a:defRPr sz="1400">
                <a:solidFill>
                  <a:srgbClr val="D96B00"/>
                </a:solidFill>
                <a:latin typeface="Verdana"/>
              </a:defRPr>
            </a:pPr>
            <a:r>
              <a:t>Análisis del estándar IEEE 802.16, comparación con Wi-Fi/3G y el salto cualitativo hacia LTE/5G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30352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D1D9E6"/>
                </a:solidFill>
                <a:latin typeface="Verdana"/>
              </a:defRPr>
            </a:pPr>
            <a:r>
              <a:t>Presentación Académica .pptx Editable  •  Referencias IEEE Incluidas al Pie de Página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6B00"/>
                </a:solidFill>
                <a:latin typeface="Verdana"/>
              </a:defRPr>
            </a:pPr>
            <a:r>
              <a:t>REDES DE ALTA VELOCIDAD | WIMAX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E2E"/>
                </a:solidFill>
                <a:latin typeface="Georgia"/>
              </a:defRPr>
            </a:pPr>
            <a:r>
              <a:t>El problema de la 'última milla' y las emergencias mundiales impulsaron el nacimiento de WiMAX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669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1. ¿Quiénes lo Crearon y Cuándo?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11E2E"/>
                </a:solidFill>
              </a:defRPr>
            </a:pPr>
            <a:r>
              <a:t>• Estándar Base: Diseñado en 1999 por el Grupo IEEE 802.16, presidido por el Dr. Roger Marks.</a:t>
            </a:r>
          </a:p>
          <a:p>
            <a:pPr>
              <a:defRPr sz="1300">
                <a:solidFill>
                  <a:srgbClr val="111E2E"/>
                </a:solidFill>
              </a:defRPr>
            </a:pPr>
            <a:r>
              <a:t>• Consorcio Comercial: WiMAX Forum fundado en 2001 (liderado por Intel y Alvarion) para certificar la interoperabilidad de equipos.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5669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2. ¿Qué Necesidad Humana Resolvía?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11E2E"/>
                </a:solidFill>
              </a:defRPr>
            </a:pPr>
            <a:r>
              <a:t>• Romper el Cuello de Botella: Llevar banda ancha a zonas donde tender cables de cobre (DSL) o fibra era inviable o muy costoso.</a:t>
            </a:r>
          </a:p>
          <a:p>
            <a:pPr>
              <a:defRPr sz="1300">
                <a:solidFill>
                  <a:srgbClr val="111E2E"/>
                </a:solidFill>
              </a:defRPr>
            </a:pPr>
            <a:r>
              <a:t>• 'Última Milla' Inalámbrica: Conectar hogares, escuelas y Pymes por el aire a velocidades de megabits con costo reducido.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17720"/>
            <a:ext cx="566928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3. Contexto Global y Crisis Múltiples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E2E"/>
                </a:solidFill>
              </a:defRPr>
            </a:pPr>
            <a:r>
              <a:t>• Redes de Misión Crítica: Tras los ataques del 11-S (2001), se buscó infraestructura robusta sin dependencia del tendido físico.</a:t>
            </a:r>
          </a:p>
          <a:p>
            <a:pPr>
              <a:defRPr sz="1250">
                <a:solidFill>
                  <a:srgbClr val="111E2E"/>
                </a:solidFill>
              </a:defRPr>
            </a:pPr>
            <a:r>
              <a:t>• Respuesta a Desastres: En el tsunami de Banda Aceh (2004) y el Huracán Katrina (2005), se desplegaron antenas WiMAX para conectar a equipos de rescate e ingenieros.</a:t>
            </a:r>
          </a:p>
        </p:txBody>
      </p:sp>
      <p:pic>
        <p:nvPicPr>
          <p:cNvPr id="14" name="Picture 13" descr="wimax_emergency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754880" cy="39319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675120" y="5486400"/>
            <a:ext cx="4754880" cy="86868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0" y="55321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Figura 1: Despliegue de emergencia de estación base WiMAX y antena parabólica durante respuesta a desastres naturales (Banda Aceh / Katrina).</a:t>
            </a:r>
          </a:p>
          <a:p>
            <a:pPr>
              <a:defRPr sz="1000">
                <a:solidFill>
                  <a:srgbClr val="D96B00"/>
                </a:solidFill>
              </a:defRPr>
            </a:pPr>
            <a:r>
              <a:t>Referencia: IEEE 802.16 Standards &amp; DiVA Emergency Response Report [1, 2].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6B00"/>
                </a:solidFill>
                <a:latin typeface="Verdana"/>
              </a:defRPr>
            </a:pPr>
            <a:r>
              <a:t>REDES DE ALTA VELOCIDAD | WIMAX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E2E"/>
                </a:solidFill>
                <a:latin typeface="Georgia"/>
              </a:defRPr>
            </a:pPr>
            <a:r>
              <a:t>WiMAX superó las limitaciones de alcance de Wi-Fi y la baja velocidad de las redes celulares 3G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Antecesor 1: Wi-Fi (802.11)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Propósito Original: Redes de área local (LAN) en interiores para hogares y oficinas.</a:t>
            </a:r>
          </a:p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Limitación Principal: Alcance muy corto (~100 metros).</a:t>
            </a:r>
          </a:p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El Problema del MAC: Usa CSMA/CA (contención). Si muchos usuarios transmiten, los paquetes colisionan y la red se satura.</a:t>
            </a:r>
          </a:p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Sin Visión Directa (NLOS): Sufre degradación severa por rebote en edificios en exteriores.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Antecesor 2: Celular 3G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574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Propósito Original: Telefonía móvil centrada en voz con datos básicos.</a:t>
            </a:r>
          </a:p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Limitación Principal: Ancho de banda reducido (velocidades reales de &lt;2 Mbps en 3G inicial).</a:t>
            </a:r>
          </a:p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Infraestructura: Basada en conmutación de circuitos heredada de redes 2G.</a:t>
            </a:r>
          </a:p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Costo Operativo: Planes de datos sumamente costosos para usar en computadoras portátiles.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08760"/>
            <a:ext cx="3383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La Solución: WiMAX (802.16)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Alcance Metropolitano: Hasta 50 km con visión directa y 10 km en ciudad (NLOS).</a:t>
            </a:r>
          </a:p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Capa MAC Programada: La estación base asigna turnos exactos. ¡Cero colisiones de paquetes!</a:t>
            </a:r>
          </a:p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Arquitectura All-IP: Red 100% basada en Protocolo IP sin conmutación de circuitos.</a:t>
            </a:r>
          </a:p>
          <a:p>
            <a:pPr>
              <a:spcAft>
                <a:spcPts val="600"/>
              </a:spcAft>
              <a:defRPr sz="1200">
                <a:solidFill>
                  <a:srgbClr val="111E2E"/>
                </a:solidFill>
              </a:defRPr>
            </a:pPr>
            <a:r>
              <a:t>• Calidad de Servicio (QoS): Garantías estrictas de ancho de banda para Voz sobre IP (VoIP) y video sin lag.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6B00"/>
                </a:solidFill>
                <a:latin typeface="Verdana"/>
              </a:defRPr>
            </a:pPr>
            <a:r>
              <a:t>REDES DE ALTA VELOCIDAD | WIMAX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E2E"/>
                </a:solidFill>
                <a:latin typeface="Georgia"/>
              </a:defRPr>
            </a:pPr>
            <a:r>
              <a:t>Intel intentó saltarse a las telefónicas, pero la incompatibilidad interna de WiMAX frenó su avance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669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1. Silicon Valley vs. Telefónicas Tradicionales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E2E"/>
                </a:solidFill>
              </a:defRPr>
            </a:pPr>
            <a:r>
              <a:t>• El Plan de Intel: Querían integrar chips WiMAX en todas las laptops Centrino para que los usuarios tuvieran internet de alta velocidad en toda la ciudad sin pagar planes celulares a las telefónicas.</a:t>
            </a:r>
          </a:p>
          <a:p>
            <a:pPr>
              <a:defRPr sz="1250">
                <a:solidFill>
                  <a:srgbClr val="111E2E"/>
                </a:solidFill>
              </a:defRPr>
            </a:pPr>
            <a:r>
              <a:t>• Guerra IEEE vs. 3GPP: El consorcio de telefónicas (Ericsson, Nokia, Qualcomm) vio esto como una amenaza mortal a sus redes 3G e inició el desarrollo acelerado de LTE como respuesta.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669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2. El Error Técnico Interno (El 'Tropiezo' de WiMAX)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E2E"/>
                </a:solidFill>
              </a:defRPr>
            </a:pPr>
            <a:r>
              <a:t>• Incompatibilidad Total: El estándar original IEEE 802.16-2004 (WiMAX Fijo, OFDM 256-FFT) NO era compatible con el nuevo IEEE 802.16e-2005 (WiMAX Móvil, SOFDMA).</a:t>
            </a:r>
          </a:p>
          <a:p>
            <a:pPr>
              <a:defRPr sz="1250">
                <a:solidFill>
                  <a:srgbClr val="111E2E"/>
                </a:solidFill>
              </a:defRPr>
            </a:pPr>
            <a:r>
              <a:t>• Decepción en los Operadores: Los operadores que invirtieron millones en antenas fijas descubrieron que no podían actualizarlas por software para dar servicio a celulares. ¡Tenían que tirar el equipo y comprar todo de nuevo!</a:t>
            </a:r>
          </a:p>
        </p:txBody>
      </p:sp>
      <p:pic>
        <p:nvPicPr>
          <p:cNvPr id="11" name="Picture 10" descr="wimax_htc_evo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754880" cy="3931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75120" y="5486400"/>
            <a:ext cx="4754880" cy="86868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55321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Figura 2: Smartphone HTC EVO 4G (2010) comercializado por Sprint/Clearwire en EE.UU., el primer teléfono inteligente con conectividad WiMAX Móvil.</a:t>
            </a:r>
          </a:p>
          <a:p>
            <a:pPr>
              <a:defRPr sz="1000">
                <a:solidFill>
                  <a:srgbClr val="D96B00"/>
                </a:solidFill>
              </a:defRPr>
            </a:pPr>
            <a:r>
              <a:t>Referencia: IEEE Communications Magazine &amp; 4G Wikipedia [3, 4].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6B00"/>
                </a:solidFill>
                <a:latin typeface="Verdana"/>
              </a:defRPr>
            </a:pPr>
            <a:r>
              <a:t>REDES DE ALTA VELOCIDAD | WIMAX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E2E"/>
                </a:solidFill>
                <a:latin typeface="Georgia"/>
              </a:defRPr>
            </a:pPr>
            <a:r>
              <a:t>WiMAX divide la señal en subportadoras paralelas (OFDM/SOFDMA) para atravesar edificios sin visión directa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1. Modulación OFDM / SOFDMA (Sin Visión Directa)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11E2E"/>
                </a:solidFill>
              </a:defRPr>
            </a:pPr>
            <a:r>
              <a:t>• Ortogonalidad de Subportadoras: En lugar de enviar un solo flujo de datos gigante que puede rebotar y destruirse en los edificios, WiMAX divide el canal en cientos de subportadoras paralelas.</a:t>
            </a:r>
          </a:p>
          <a:p>
            <a:pPr>
              <a:spcAft>
                <a:spcPts val="1000"/>
              </a:spcAft>
              <a:defRPr sz="1300">
                <a:solidFill>
                  <a:srgbClr val="111E2E"/>
                </a:solidFill>
              </a:defRPr>
            </a:pPr>
            <a:r>
              <a:t>• Operación NLOS (Non-Line-of-Sight): Si una frecuencia choca contra un edificio y se pierde, los datos continúan viajando por las demás subportadoras sin interrumpir la conexión del usuario.</a:t>
            </a:r>
          </a:p>
          <a:p>
            <a:pPr>
              <a:defRPr sz="1300">
                <a:solidFill>
                  <a:srgbClr val="111E2E"/>
                </a:solidFill>
              </a:defRPr>
            </a:pPr>
            <a:r>
              <a:t>• SOFDMA Escalable: Ajusta la cantidad de puntos FFT (128 a 2048) según el ancho de banda del canal (1.25 a 20 MHz) para adaptarse a movilidad vehicular.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50876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645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2. Modulación Adaptativa (ACM) y Shannon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0975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11E2E"/>
                </a:solidFill>
              </a:defRPr>
            </a:pPr>
            <a:r>
              <a:t>• Capacidad de Shannon: La velocidad teórica máxima depende de la calidad de señal:</a:t>
            </a:r>
          </a:p>
          <a:p>
            <a:pPr>
              <a:spcBef>
                <a:spcPts val="5000"/>
              </a:spcBef>
              <a:defRPr sz="1250">
                <a:solidFill>
                  <a:srgbClr val="111E2E"/>
                </a:solidFill>
              </a:defRPr>
            </a:pPr>
            <a:r>
              <a:t>• Cerca de la Antena (Alta SINR): Cambia a 64-QAM. Envía 6 bits por símbolo. ¡Máxima velocidad de descarga!</a:t>
            </a:r>
          </a:p>
          <a:p>
            <a:pPr>
              <a:spcBef>
                <a:spcPts val="800"/>
              </a:spcBef>
              <a:defRPr sz="1250">
                <a:solidFill>
                  <a:srgbClr val="111E2E"/>
                </a:solidFill>
              </a:defRPr>
            </a:pPr>
            <a:r>
              <a:t>• En el Borde de la Celda (Baja SINR): Conmuta automáticamente a 16-QAM o QPSK. La velocidad baja, pero la llamada de voz o conexión NUNCA se cae.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560320"/>
            <a:ext cx="4572000" cy="548640"/>
          </a:xfrm>
          <a:prstGeom prst="rect">
            <a:avLst/>
          </a:prstGeom>
          <a:solidFill>
            <a:srgbClr val="0A19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6B00"/>
                </a:solidFill>
              </a:defRPr>
            </a:pPr>
            <a:r>
              <a:t>C = B · log₂ (1 + SINR)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6B00"/>
                </a:solidFill>
                <a:latin typeface="Verdana"/>
              </a:defRPr>
            </a:pPr>
            <a:r>
              <a:t>REDES DE ALTA VELOCIDAD | WIMAX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E2E"/>
                </a:solidFill>
                <a:latin typeface="Georgia"/>
              </a:defRPr>
            </a:pPr>
            <a:r>
              <a:t>Una capa MAC orientada a conexión asigna turnos exactos para evitar colisiones y asegurar calidad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6692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Clases de Calidad de Servicio (QoS en WiMAX)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111E2E"/>
                </a:solidFill>
              </a:defRPr>
            </a:pPr>
            <a:r>
              <a:t>• UGS (Unsolicited Grant Service):</a:t>
            </a:r>
            <a:br/>
            <a:r>
              <a:t>   Ancho de banda e intervalo fijo. Diseñado para VoIP sin latencia ni jitter.</a:t>
            </a:r>
          </a:p>
          <a:p>
            <a:pPr>
              <a:spcAft>
                <a:spcPts val="600"/>
              </a:spcAft>
              <a:defRPr sz="1150">
                <a:solidFill>
                  <a:srgbClr val="111E2E"/>
                </a:solidFill>
              </a:defRPr>
            </a:pPr>
            <a:r>
              <a:t>• rtPS (Real-time Polling Service):</a:t>
            </a:r>
            <a:br/>
            <a:r>
              <a:t>   Ranuras periódicas variables. Diseñado para streaming de video y videoconferencia.</a:t>
            </a:r>
          </a:p>
          <a:p>
            <a:pPr>
              <a:spcAft>
                <a:spcPts val="600"/>
              </a:spcAft>
              <a:defRPr sz="1150">
                <a:solidFill>
                  <a:srgbClr val="111E2E"/>
                </a:solidFill>
              </a:defRPr>
            </a:pPr>
            <a:r>
              <a:t>• nrtPS (Non-real-time Polling Service):</a:t>
            </a:r>
            <a:br/>
            <a:r>
              <a:t>   Asignación garantizada no en tiempo real. Ideal para descargas FTP pesadas.</a:t>
            </a:r>
          </a:p>
          <a:p>
            <a:pPr>
              <a:spcAft>
                <a:spcPts val="600"/>
              </a:spcAft>
              <a:defRPr sz="1150">
                <a:solidFill>
                  <a:srgbClr val="111E2E"/>
                </a:solidFill>
              </a:defRPr>
            </a:pPr>
            <a:r>
              <a:t>• BE (Best Effort):</a:t>
            </a:r>
            <a:br/>
            <a:r>
              <a:t>   Sin garantías explícitas. Para navegación web general y correo electrónico.</a:t>
            </a:r>
          </a:p>
          <a:p>
            <a:pPr>
              <a:spcAft>
                <a:spcPts val="600"/>
              </a:spcAft>
              <a:defRPr sz="1150">
                <a:solidFill>
                  <a:srgbClr val="111E2E"/>
                </a:solidFill>
              </a:defRPr>
            </a:pPr>
            <a:r>
              <a:t>• ertPS (Extended rtPS):</a:t>
            </a:r>
            <a:br/>
            <a:r>
              <a:t>   Optimizado para VoIP con supresión de silencio (ahorra energía).</a:t>
            </a:r>
          </a:p>
        </p:txBody>
      </p:sp>
      <p:pic>
        <p:nvPicPr>
          <p:cNvPr id="8" name="Picture 7" descr="wimax_active_equip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754880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75120" y="5486400"/>
            <a:ext cx="4754880" cy="86868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55321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Figura 3: Equipos activos WiMAX: Módulo de radiobase y CPEs residenciales de Alvarion BreezeMAX con procesamiento de QoS.</a:t>
            </a:r>
          </a:p>
          <a:p>
            <a:pPr>
              <a:defRPr sz="1000">
                <a:solidFill>
                  <a:srgbClr val="D96B00"/>
                </a:solidFill>
              </a:defRPr>
            </a:pPr>
            <a:r>
              <a:t>Referencia: Alvarion BreezeMAX Specs &amp; Unina QoS Measurements [5, 6].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6B00"/>
                </a:solidFill>
                <a:latin typeface="Verdana"/>
              </a:defRPr>
            </a:pPr>
            <a:r>
              <a:t>REDES DE ALTA VELOCIDAD | WIMAX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E2E"/>
                </a:solidFill>
                <a:latin typeface="Georgia"/>
              </a:defRPr>
            </a:pPr>
            <a:r>
              <a:t>Desde Clearwire en EE.UU. hasta Axtel en México: WiMAX llevó voz e internet a más de 40 ciudades mexicanas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669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 Caso de Estudio México: Axtel (Banda 3.5 GHz)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E2E"/>
                </a:solidFill>
              </a:defRPr>
            </a:pPr>
            <a:r>
              <a:t>• Despliegue Masivo (2008): Axtel contrató a Motorola para implementar la red wi4 WiMAX y sistemas Alvarion BreezeMAX.</a:t>
            </a:r>
          </a:p>
          <a:p>
            <a:pPr>
              <a:defRPr sz="1250">
                <a:solidFill>
                  <a:srgbClr val="111E2E"/>
                </a:solidFill>
              </a:defRPr>
            </a:pPr>
            <a:r>
              <a:t>• Cobertura: Llevó teléfono fijo e internet inalámbrico de alta velocidad a más de 60,000 suscriptores en +40 ciudades (CDMX, Monterrey, Guadalajara).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669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 Implementaciones Globales Destacadas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E2E"/>
                </a:solidFill>
              </a:defRPr>
            </a:pPr>
            <a:r>
              <a:t>• Clearwire / Sprint (EE.UU.): Cubrió a 130 millones de personas en 2012 con la banda de 2.5 GHz.</a:t>
            </a:r>
          </a:p>
          <a:p>
            <a:pPr>
              <a:defRPr sz="1250">
                <a:solidFill>
                  <a:srgbClr val="111E2E"/>
                </a:solidFill>
              </a:defRPr>
            </a:pPr>
            <a:r>
              <a:t>• Scartel / Yota (Rusia): Red con más de 250,000 clientes activos en Moscú y San Petersburgo.</a:t>
            </a:r>
          </a:p>
          <a:p>
            <a:pPr>
              <a:defRPr sz="1250">
                <a:solidFill>
                  <a:srgbClr val="111E2E"/>
                </a:solidFill>
              </a:defRPr>
            </a:pPr>
            <a:r>
              <a:t>• Mobilink y Wateen (Pakistán): Proveyeron banda ancha inalámbrica en áreas sin líneas telefónicas terrestres.</a:t>
            </a:r>
          </a:p>
        </p:txBody>
      </p:sp>
      <p:pic>
        <p:nvPicPr>
          <p:cNvPr id="11" name="Picture 10" descr="wimax_axtel_rooftop_c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754880" cy="3931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75120" y="5486400"/>
            <a:ext cx="4754880" cy="86868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55321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Figura 4: Técnico instalando unidad receptora CPE WiMAX de 3.5 GHz en azotea residencial de Axtel en México.</a:t>
            </a:r>
          </a:p>
          <a:p>
            <a:pPr>
              <a:defRPr sz="1000">
                <a:solidFill>
                  <a:srgbClr val="D96B00"/>
                </a:solidFill>
              </a:defRPr>
            </a:pPr>
            <a:r>
              <a:t>Referencia: SEC Axtel 20-F Filings &amp; Motorola Converge Digest [7, 8].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6B00"/>
                </a:solidFill>
                <a:latin typeface="Verdana"/>
              </a:defRPr>
            </a:pPr>
            <a:r>
              <a:t>REDES DE ALTA VELOCIDAD | WIMAX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E2E"/>
                </a:solidFill>
                <a:latin typeface="Georgia"/>
              </a:defRPr>
            </a:pPr>
            <a:r>
              <a:t>LTE resolvió el alto consumo de batería en teléfonos y unificó a la industria celular global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6692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1. ¿Qué Resolvió LTE que WiMAX Ya No Pudo?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5486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11E2E"/>
                </a:solidFill>
              </a:defRPr>
            </a:pPr>
            <a:r>
              <a:t>• Batería en Smartphones (Uplink SC-FDMA): WiMAX usaba SOFDMA en la subida, requiriendo amplificadores de potencia lineales que agotaban la batería. LTE adoptó SC-FDMA en la subida, reduciendo enormemente el consumo eléctrico.</a:t>
            </a:r>
          </a:p>
          <a:p>
            <a:pPr>
              <a:defRPr sz="1200">
                <a:solidFill>
                  <a:srgbClr val="111E2E"/>
                </a:solidFill>
              </a:defRPr>
            </a:pPr>
            <a:r>
              <a:t>• Retrocompatibilidad Nativa: LTE permitió a los usuarios conservar su señal 2G/3G cuando salían de la ciudad (Roaming sin interrupciones). WiMAX requería construir torres totalmente independientes.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669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2. El Legado Vivo de WiMAX en las Redes 5G Actuales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11E2E"/>
                </a:solidFill>
              </a:defRPr>
            </a:pPr>
            <a:r>
              <a:t>• Transición del Espectro: Las frecuencias de 3.5 GHz abiertas originalmente por WiMAX en todo el mundo fueron reasignadas por los reguladores.</a:t>
            </a:r>
          </a:p>
          <a:p>
            <a:pPr>
              <a:defRPr sz="1250">
                <a:solidFill>
                  <a:srgbClr val="111E2E"/>
                </a:solidFill>
              </a:defRPr>
            </a:pPr>
            <a:r>
              <a:t>• La Banda n78 de 5G: Hoy, esa misma banda de 3.5 GHz es la columna vertebral del despliegue masivo de redes 5G NR a nivel mundial.</a:t>
            </a:r>
          </a:p>
        </p:txBody>
      </p:sp>
      <p:pic>
        <p:nvPicPr>
          <p:cNvPr id="11" name="Picture 10" descr="wimax_5g_cell_t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08760"/>
            <a:ext cx="4754880" cy="39319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75120" y="5486400"/>
            <a:ext cx="4754880" cy="86868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553212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Figura 5: Torre celular moderna de tecnología 5G NR en banda de 3.5 GHz, heredera del espectro de transmisión de WiMAX.</a:t>
            </a:r>
          </a:p>
          <a:p>
            <a:pPr>
              <a:defRPr sz="1000">
                <a:solidFill>
                  <a:srgbClr val="D96B00"/>
                </a:solidFill>
              </a:defRPr>
            </a:pPr>
            <a:r>
              <a:t>Referencia: arXiv 5G &amp; ETSI TS 136 300 [9, 10].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6B00"/>
                </a:solidFill>
                <a:latin typeface="Verdana"/>
              </a:defRPr>
            </a:pPr>
            <a:r>
              <a:t>REDES DE ALTA VELOCIDAD | WIMAX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E2E"/>
                </a:solidFill>
                <a:latin typeface="Georgia"/>
              </a:defRPr>
            </a:pPr>
            <a:r>
              <a:t>Cuadro evolutivo de tecnologías inalámbricas: De Wi-Fi/3G a WiMAX, LTE y 5G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834640"/>
                <a:gridCol w="2864815"/>
              </a:tblGrid>
              <a:tr h="807720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Atributo Técnico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Antecesores (Wi-Fi / 3G)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Estándar Analizado (WiMAX)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Sucesores (4G LTE / 5G NR)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1E2E"/>
                          </a:solidFill>
                        </a:rPr>
                        <a:t>Organismo / Creador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IEEE 802.11 / 3GPP (GSM/UMTS)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IEEE Working Group 802.16 / WiMAX Forum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3GPP (Consorcio Celular Global)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1E2E"/>
                          </a:solidFill>
                        </a:rPr>
                        <a:t>Alcance Operativo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Local (~100m) / Celular 3G (~5km)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Metropolitano (10 a 50 km)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Celular Extenso Global (15 a 30 km)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1E2E"/>
                          </a:solidFill>
                        </a:rPr>
                        <a:t>Modulación Uplink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OFDM (Wi-Fi) / W-CDMA (3G)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SOFDMA (Escalable)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SC-FDMA (Ahorra batería) / 5G NR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1E2E"/>
                          </a:solidFill>
                        </a:rPr>
                        <a:t>Gestión MAC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Contención por compresión CSMA/CA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Centralizada y Programada por Radiobase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Programada eNodeB / gNodeB All-IP</a:t>
                      </a:r>
                    </a:p>
                  </a:txBody>
                  <a:tcPr>
                    <a:solidFill>
                      <a:srgbClr val="F4F6F9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11E2E"/>
                          </a:solidFill>
                        </a:rPr>
                        <a:t>Compatibilidad Heredada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Redes independientes aisladas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Sin retrocompatibilidad entre 16d y 16e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11E2E"/>
                          </a:solidFill>
                        </a:rPr>
                        <a:t>Compatibilidad nativa 2G/3G/4G/5G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6B00"/>
                </a:solidFill>
                <a:latin typeface="Verdana"/>
              </a:defRPr>
            </a:pPr>
            <a:r>
              <a:t>REDES DE ALTA VELOCIDAD | WIMAX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11E2E"/>
                </a:solidFill>
                <a:latin typeface="Georgia"/>
              </a:defRPr>
            </a:pPr>
            <a:r>
              <a:t>Referencias bibliográficas en formato estándar IEEE para la materia de Redes de Alta Velocidad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254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1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628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Georgia"/>
              </a:defRPr>
            </a:pPr>
            <a:r>
              <a:t>Fuentes Documentales Grounded en Formato IEEE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6289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[1] IEEE Standard for Local and Metropolitan Area Networks - Part 16: Air Interface for Fixed Broadband Wireless Access Systems, IEEE Std 802.16-2004, Oct. 2004.</a:t>
            </a:r>
          </a:p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[2] IEEE Standard for Local and Metropolitan Area Networks - Part 16: Air Interface for Fixed and Mobile Broadband Wireless Access Systems, IEEE Std 802.16e-2005, Feb. 2006.</a:t>
            </a:r>
          </a:p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[3] WiMAX Forum, 'WiMAX System Evaluation Methodology', White Paper, version 2.1, Jul. 2008.</a:t>
            </a:r>
          </a:p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[4] J. Andrews, A. Ghosh, and R. Muhamed, Fundamentals of WiMAX: Understanding Broadband Wireless Networking. Upper Saddle River, NJ: Prentice Hall, 2007.</a:t>
            </a:r>
          </a:p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[5] Alvarion Ltd., 'BreezeMAX 3650 / 3500 Technical Product Specification and System Architecture', Technical Report, 2006.</a:t>
            </a:r>
          </a:p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[6] A. Pescape et al., 'QoS Support in WiMAX Networks: Issues and Experimental Measurements', University of Naples Federico II, Tech. Rep. CN-2006-009, 2006.</a:t>
            </a:r>
          </a:p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[7] Axtel S.A.B. de C.V., 'Annual Report Pursuant to Section 13 of the Securities Exchange Act of 1934 (Form 20-F)', SEC EDGAR Filing, 2008.</a:t>
            </a:r>
          </a:p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[8] Motorola Inc., 'Motorola wi4 WiMAX Solutions Guide and Deployment for Mobilink/Axtel', Converge Digest Report, Dec. 2007.</a:t>
            </a:r>
          </a:p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[9] ETSI, 'LTE; Evolved Universal Terrestrial Radio Access (E-UTRA) and Evolved Universal Terrestrial Radio Access Network (E-UTRAN); Overall description', ETSI TS 136 300 V16.2.0, Jul. 2020.</a:t>
            </a:r>
          </a:p>
          <a:p>
            <a:pPr>
              <a:spcAft>
                <a:spcPts val="400"/>
              </a:spcAft>
              <a:defRPr sz="1050">
                <a:solidFill>
                  <a:srgbClr val="111E2E"/>
                </a:solidFill>
                <a:latin typeface="Verdana"/>
              </a:defRPr>
            </a:pPr>
            <a:r>
              <a:t>[10] J. Andrews et al., 'What Will 5G Be?', IEEE Journal on Selected Areas in Communications / arXiv:1405.2957, 2014.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