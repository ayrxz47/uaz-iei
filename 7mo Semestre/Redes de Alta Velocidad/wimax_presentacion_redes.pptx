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DC646C0-DD1F-48CC-A511-BBF220CB0D6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2A4163A-CCEC-477B-9FAF-766CB35450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C09CD5E-BE14-476F-8DA8-00970F3C66F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94E59243-B4A8-4816-9C65-1F7CCC5963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B7F71A6-7FC7-425F-9464-136A407F3ED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072049E-3B13-4D0D-A9BF-0DA5395DA9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7A066DB-6150-4F2E-8924-74DFA7C641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D2B24EC-2477-4406-8938-DCA66BB15C3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A1F546F-70BB-4EA3-AB92-8A870639D4C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3921204-EA76-4E2D-8E66-7CE3205B031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pic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algn="l">
              <a:buNone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Double-click to add an Image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9DAD48-4CE4-4D8E-994C-979386DDA7E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19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914400" y="1645920"/>
            <a:ext cx="136800" cy="3474360"/>
          </a:xfrm>
          <a:prstGeom prst="rect">
            <a:avLst/>
          </a:prstGeom>
          <a:solidFill>
            <a:srgbClr val="D96B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TextBox 2"/>
          <p:cNvSpPr/>
          <p:nvPr/>
        </p:nvSpPr>
        <p:spPr>
          <a:xfrm>
            <a:off x="1280160" y="1554480"/>
            <a:ext cx="9875160" cy="20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1" u="none" strike="noStrike">
                <a:solidFill>
                  <a:srgbClr val="FFFFFF"/>
                </a:solidFill>
                <a:effectLst/>
                <a:uFillTx/>
                <a:latin typeface="Georgia"/>
              </a:rPr>
              <a:t>WiMAX: Origen, Arquitectura, Guerra de Estándares y Evolución a 4G/5G</a:t>
            </a:r>
            <a:endParaRPr lang="en-US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280160" y="3291840"/>
            <a:ext cx="9875160" cy="67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8A9BA8"/>
                </a:solidFill>
                <a:effectLst/>
                <a:uFillTx/>
                <a:latin typeface="Verdana"/>
              </a:rPr>
              <a:t>Redes de Alta Velocidad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r>
              <a:rPr lang="en-US" sz="1400" b="0" u="none" strike="noStrike">
                <a:solidFill>
                  <a:srgbClr val="D96B00"/>
                </a:solidFill>
                <a:effectLst/>
                <a:uFillTx/>
                <a:latin typeface="Verdana"/>
              </a:rPr>
              <a:t>Análisis del estándar IEEE 802.16, comparación con Wi-Fi/3G y el salto cualitativo hacia LTE/5G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1"/>
          <p:cNvSpPr/>
          <p:nvPr/>
        </p:nvSpPr>
        <p:spPr>
          <a:xfrm>
            <a:off x="731520" y="32004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D96B00"/>
                </a:solidFill>
                <a:effectLst/>
                <a:uFillTx/>
                <a:latin typeface="Verdana"/>
              </a:rPr>
              <a:t>REDES DE ALTA VELOCIDAD | WIMAX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"/>
          <p:cNvSpPr/>
          <p:nvPr/>
        </p:nvSpPr>
        <p:spPr>
          <a:xfrm>
            <a:off x="731520" y="594360"/>
            <a:ext cx="1072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11E2E"/>
                </a:solidFill>
                <a:effectLst/>
                <a:uFillTx/>
                <a:latin typeface="Georgia"/>
              </a:rPr>
              <a:t>El problema de la 'última milla' y las emergencias mundiales impulsaron el nacimiento de WiMAX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Rectangle 3"/>
          <p:cNvSpPr/>
          <p:nvPr/>
        </p:nvSpPr>
        <p:spPr>
          <a:xfrm>
            <a:off x="731520" y="1325880"/>
            <a:ext cx="10728360" cy="25200"/>
          </a:xfrm>
          <a:prstGeom prst="rect">
            <a:avLst/>
          </a:prstGeom>
          <a:solidFill>
            <a:srgbClr val="0052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Rounded Rectangle 4"/>
          <p:cNvSpPr/>
          <p:nvPr/>
        </p:nvSpPr>
        <p:spPr>
          <a:xfrm>
            <a:off x="731520" y="1508760"/>
            <a:ext cx="56689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8" name="TextBox 5"/>
          <p:cNvSpPr/>
          <p:nvPr/>
        </p:nvSpPr>
        <p:spPr>
          <a:xfrm>
            <a:off x="914400" y="164592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1. ¿Quiénes lo Crearon y Cuándo?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6"/>
          <p:cNvSpPr/>
          <p:nvPr/>
        </p:nvSpPr>
        <p:spPr>
          <a:xfrm>
            <a:off x="822960" y="1920240"/>
            <a:ext cx="54860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Estándar Base: Diseñado en 1999 por el Grupo IEEE 802.16, presidido por el Dr. Roger Marks.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Consorcio Comercial: WiMAX Forum fundado en 2001 (liderado por Intel y Alvarion) para certificar la interoperabilidad de equipos.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ounded Rectangle 7"/>
          <p:cNvSpPr/>
          <p:nvPr/>
        </p:nvSpPr>
        <p:spPr>
          <a:xfrm>
            <a:off x="731520" y="3063240"/>
            <a:ext cx="5668920" cy="14626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8"/>
          <p:cNvSpPr/>
          <p:nvPr/>
        </p:nvSpPr>
        <p:spPr>
          <a:xfrm>
            <a:off x="914400" y="320040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2. ¿Qué Necesidad Humana Resolvía?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9"/>
          <p:cNvSpPr/>
          <p:nvPr/>
        </p:nvSpPr>
        <p:spPr>
          <a:xfrm>
            <a:off x="822960" y="3474720"/>
            <a:ext cx="548604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Romper el Cuello de Botella: Llevar banda ancha a zonas donde tender cables de cobre (DSL) o fibra era inviable o muy costoso.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'Última Milla' Inalámbrica: Conectar hogares, escuelas y Pymes por el aire a velocidades de megabits con costo reducido.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10"/>
          <p:cNvSpPr/>
          <p:nvPr/>
        </p:nvSpPr>
        <p:spPr>
          <a:xfrm>
            <a:off x="731520" y="4617720"/>
            <a:ext cx="5668920" cy="1737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4" name="TextBox 11"/>
          <p:cNvSpPr/>
          <p:nvPr/>
        </p:nvSpPr>
        <p:spPr>
          <a:xfrm>
            <a:off x="914400" y="475488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3. Contexto Global y Crisis Múltiples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12"/>
          <p:cNvSpPr/>
          <p:nvPr/>
        </p:nvSpPr>
        <p:spPr>
          <a:xfrm>
            <a:off x="822960" y="5029200"/>
            <a:ext cx="54860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Redes de Misión Crítica: Tras los ataques del 11-S (2001), se buscó infraestructura robusta sin dependencia del tendido físico.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Respuesta a Desastres: En el tsunami de Banda Aceh (2004) y el Huracán Katrina (2005), se desplegaron antenas WiMAX para conectar a equipos de rescate e ingenieros.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6" name="Picture 13" descr="wimax_emergency_deployment.png"/>
          <p:cNvPicPr/>
          <p:nvPr/>
        </p:nvPicPr>
        <p:blipFill>
          <a:blip r:embed="rId1"/>
          <a:stretch/>
        </p:blipFill>
        <p:spPr>
          <a:xfrm>
            <a:off x="6675120" y="1508760"/>
            <a:ext cx="4754520" cy="393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7" name="Rounded Rectangle 14"/>
          <p:cNvSpPr/>
          <p:nvPr/>
        </p:nvSpPr>
        <p:spPr>
          <a:xfrm>
            <a:off x="6675120" y="5486400"/>
            <a:ext cx="4754520" cy="868320"/>
          </a:xfrm>
          <a:prstGeom prst="roundRect">
            <a:avLst>
              <a:gd name="adj" fmla="val 16667"/>
            </a:avLst>
          </a:prstGeom>
          <a:solidFill>
            <a:srgbClr val="0A19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8" name="TextBox 15"/>
          <p:cNvSpPr/>
          <p:nvPr/>
        </p:nvSpPr>
        <p:spPr>
          <a:xfrm>
            <a:off x="6766560" y="553212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Figura 1: Despliegue de emergencia de estación base WiMAX y antena parabólica durante respuesta a desastres naturales (Banda Aceh / Katrina).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D96B00"/>
                </a:solidFill>
                <a:effectLst/>
                <a:uFillTx/>
                <a:latin typeface="Calibri"/>
              </a:rPr>
              <a:t>Referencia: IEEE 802.16 Standards &amp; DiVA Emergency Response Report [1, 2].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TextBox 1"/>
          <p:cNvSpPr/>
          <p:nvPr/>
        </p:nvSpPr>
        <p:spPr>
          <a:xfrm>
            <a:off x="731520" y="32004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D96B00"/>
                </a:solidFill>
                <a:effectLst/>
                <a:uFillTx/>
                <a:latin typeface="Verdana"/>
              </a:rPr>
              <a:t>REDES DE ALTA VELOCIDAD | WIMAX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731520" y="594360"/>
            <a:ext cx="1072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11E2E"/>
                </a:solidFill>
                <a:effectLst/>
                <a:uFillTx/>
                <a:latin typeface="Georgia"/>
              </a:rPr>
              <a:t>WiMAX superó las limitaciones de alcance de Wi-Fi y la baja velocidad de las redes celulares 3G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ectangle 3"/>
          <p:cNvSpPr/>
          <p:nvPr/>
        </p:nvSpPr>
        <p:spPr>
          <a:xfrm>
            <a:off x="731520" y="1325880"/>
            <a:ext cx="10728360" cy="25200"/>
          </a:xfrm>
          <a:prstGeom prst="rect">
            <a:avLst/>
          </a:prstGeom>
          <a:solidFill>
            <a:srgbClr val="0052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2" name="Rounded Rectangle 4"/>
          <p:cNvSpPr/>
          <p:nvPr/>
        </p:nvSpPr>
        <p:spPr>
          <a:xfrm>
            <a:off x="731520" y="1508760"/>
            <a:ext cx="3382920" cy="4845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5"/>
          <p:cNvSpPr/>
          <p:nvPr/>
        </p:nvSpPr>
        <p:spPr>
          <a:xfrm>
            <a:off x="914400" y="164592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Antecesor 1: Wi-Fi (802.11)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6"/>
          <p:cNvSpPr/>
          <p:nvPr/>
        </p:nvSpPr>
        <p:spPr>
          <a:xfrm>
            <a:off x="822960" y="2057400"/>
            <a:ext cx="32000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Propósito Original: Redes de área local (LAN) en interiores para hogares y oficinas.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Limitación Principal: Alcance muy corto (~100 metros).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El Problema del MAC: Usa CSMA/CA (contención). Si muchos usuarios transmiten, los paquetes colisionan y la red se satura.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Sin Visión Directa (NLOS): Sufre degradación severa por rebote en edificios en exteriores.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7"/>
          <p:cNvSpPr/>
          <p:nvPr/>
        </p:nvSpPr>
        <p:spPr>
          <a:xfrm>
            <a:off x="4389120" y="1508760"/>
            <a:ext cx="3382920" cy="4845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TextBox 8"/>
          <p:cNvSpPr/>
          <p:nvPr/>
        </p:nvSpPr>
        <p:spPr>
          <a:xfrm>
            <a:off x="4572000" y="164592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Antecesor 2: Celular 3G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9"/>
          <p:cNvSpPr/>
          <p:nvPr/>
        </p:nvSpPr>
        <p:spPr>
          <a:xfrm>
            <a:off x="4480560" y="2057400"/>
            <a:ext cx="32000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Propósito Original: Telefonía móvil centrada en voz con datos básicos.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Limitación Principal: Ancho de banda reducido (velocidades reales de &lt;2 Mbps en 3G inicial).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Infraestructura: Basada en conmutación de circuitos heredada de redes 2G.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Costo Operativo: Planes de datos sumamente costosos para usar en computadoras portátiles.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10"/>
          <p:cNvSpPr/>
          <p:nvPr/>
        </p:nvSpPr>
        <p:spPr>
          <a:xfrm>
            <a:off x="8046720" y="1508760"/>
            <a:ext cx="3382920" cy="4845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11"/>
          <p:cNvSpPr/>
          <p:nvPr/>
        </p:nvSpPr>
        <p:spPr>
          <a:xfrm>
            <a:off x="8229600" y="1645920"/>
            <a:ext cx="3017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La Solución: WiMAX (802.16)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12"/>
          <p:cNvSpPr/>
          <p:nvPr/>
        </p:nvSpPr>
        <p:spPr>
          <a:xfrm>
            <a:off x="8138160" y="2057400"/>
            <a:ext cx="32000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Alcance Metropolitano: Hasta 50 km con visión directa y 10 km en ciudad (NLOS).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Capa MAC Programada: La estación base asigna turnos exactos. ¡Cero colisiones de paquetes!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Arquitectura All-IP: Red 100% basada en Protocolo IP sin conmutación de circuitos.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Calidad de Servicio (QoS): Garantías estrictas de ancho de banda para Voz sobre IP (VoIP) y video sin lag.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Box 1"/>
          <p:cNvSpPr/>
          <p:nvPr/>
        </p:nvSpPr>
        <p:spPr>
          <a:xfrm>
            <a:off x="731520" y="32004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D96B00"/>
                </a:solidFill>
                <a:effectLst/>
                <a:uFillTx/>
                <a:latin typeface="Verdana"/>
              </a:rPr>
              <a:t>REDES DE ALTA VELOCIDAD | WIMAX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2"/>
          <p:cNvSpPr/>
          <p:nvPr/>
        </p:nvSpPr>
        <p:spPr>
          <a:xfrm>
            <a:off x="731520" y="594360"/>
            <a:ext cx="1072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11E2E"/>
                </a:solidFill>
                <a:effectLst/>
                <a:uFillTx/>
                <a:latin typeface="Georgia"/>
              </a:rPr>
              <a:t>Intel intentó saltarse a las telefónicas, pero la incompatibilidad interna de WiMAX frenó su avance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ectangle 3"/>
          <p:cNvSpPr/>
          <p:nvPr/>
        </p:nvSpPr>
        <p:spPr>
          <a:xfrm>
            <a:off x="731520" y="1325880"/>
            <a:ext cx="10728360" cy="25200"/>
          </a:xfrm>
          <a:prstGeom prst="rect">
            <a:avLst/>
          </a:prstGeom>
          <a:solidFill>
            <a:srgbClr val="0052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Rounded Rectangle 4"/>
          <p:cNvSpPr/>
          <p:nvPr/>
        </p:nvSpPr>
        <p:spPr>
          <a:xfrm>
            <a:off x="731520" y="1508760"/>
            <a:ext cx="566892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5"/>
          <p:cNvSpPr/>
          <p:nvPr/>
        </p:nvSpPr>
        <p:spPr>
          <a:xfrm>
            <a:off x="914400" y="164592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1. Silicon Valley vs. Telefónicas Tradicionales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6"/>
          <p:cNvSpPr/>
          <p:nvPr/>
        </p:nvSpPr>
        <p:spPr>
          <a:xfrm>
            <a:off x="822960" y="1920240"/>
            <a:ext cx="54860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El Plan de Intel: Querían integrar chips WiMAX en todas las laptops Centrino para que los usuarios tuvieran internet de alta velocidad en toda la ciudad sin pagar planes celulares a las telefónicas.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Guerra IEEE vs. 3GPP: El consorcio de telefónicas (Ericsson, Nokia, Qualcomm) vio esto como una amenaza mortal a sus redes 3G e inició el desarrollo acelerado de LTE como respuesta.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Rounded Rectangle 7"/>
          <p:cNvSpPr/>
          <p:nvPr/>
        </p:nvSpPr>
        <p:spPr>
          <a:xfrm>
            <a:off x="731520" y="3931920"/>
            <a:ext cx="5668920" cy="242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8"/>
          <p:cNvSpPr/>
          <p:nvPr/>
        </p:nvSpPr>
        <p:spPr>
          <a:xfrm>
            <a:off x="914400" y="406908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2. El Error Técnico Interno (El 'Tropiezo' de WiMAX)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9"/>
          <p:cNvSpPr/>
          <p:nvPr/>
        </p:nvSpPr>
        <p:spPr>
          <a:xfrm>
            <a:off x="822960" y="4343400"/>
            <a:ext cx="54860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Incompatibilidad Total: El estándar original IEEE 802.16-2004 (WiMAX Fijo, OFDM 256-FFT) NO era compatible con el nuevo IEEE 802.16e-2005 (WiMAX Móvil, SOFDMA).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Decepción en los Operadores: Los operadores que invirtieron millones en antenas fijas descubrieron que no podían actualizarlas por software para dar servicio a celulares. ¡Tenían que tirar el equipo y comprar todo de nuevo!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0" name="Picture 10" descr="wimax_htc_evo_phone.png"/>
          <p:cNvPicPr/>
          <p:nvPr/>
        </p:nvPicPr>
        <p:blipFill>
          <a:blip r:embed="rId1"/>
          <a:stretch/>
        </p:blipFill>
        <p:spPr>
          <a:xfrm>
            <a:off x="6675120" y="1508760"/>
            <a:ext cx="4754520" cy="393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1" name="Rounded Rectangle 11"/>
          <p:cNvSpPr/>
          <p:nvPr/>
        </p:nvSpPr>
        <p:spPr>
          <a:xfrm>
            <a:off x="6675120" y="5486400"/>
            <a:ext cx="4754520" cy="868320"/>
          </a:xfrm>
          <a:prstGeom prst="roundRect">
            <a:avLst>
              <a:gd name="adj" fmla="val 16667"/>
            </a:avLst>
          </a:prstGeom>
          <a:solidFill>
            <a:srgbClr val="0A19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12"/>
          <p:cNvSpPr/>
          <p:nvPr/>
        </p:nvSpPr>
        <p:spPr>
          <a:xfrm>
            <a:off x="6766560" y="553212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Figura 2: Smartphone HTC EVO 4G (2010) comercializado por Sprint/Clearwire en EE.UU., el primer teléfono inteligente con conectividad WiMAX Móvil.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D96B00"/>
                </a:solidFill>
                <a:effectLst/>
                <a:uFillTx/>
                <a:latin typeface="Calibri"/>
              </a:rPr>
              <a:t>Referencia: IEEE Communications Magazine &amp; 4G Wikipedia [3, 4].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"/>
          <p:cNvSpPr/>
          <p:nvPr/>
        </p:nvSpPr>
        <p:spPr>
          <a:xfrm>
            <a:off x="731520" y="32004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D96B00"/>
                </a:solidFill>
                <a:effectLst/>
                <a:uFillTx/>
                <a:latin typeface="Verdana"/>
              </a:rPr>
              <a:t>REDES DE ALTA VELOCIDAD | WIMAX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"/>
          <p:cNvSpPr/>
          <p:nvPr/>
        </p:nvSpPr>
        <p:spPr>
          <a:xfrm>
            <a:off x="731520" y="594360"/>
            <a:ext cx="1072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11E2E"/>
                </a:solidFill>
                <a:effectLst/>
                <a:uFillTx/>
                <a:latin typeface="Georgia"/>
              </a:rPr>
              <a:t>WiMAX divide la señal en subportadoras paralelas (OFDM/SOFDMA) para atravesar edificios sin visión directa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Rectangle 3"/>
          <p:cNvSpPr/>
          <p:nvPr/>
        </p:nvSpPr>
        <p:spPr>
          <a:xfrm>
            <a:off x="731520" y="1325880"/>
            <a:ext cx="10728360" cy="25200"/>
          </a:xfrm>
          <a:prstGeom prst="rect">
            <a:avLst/>
          </a:prstGeom>
          <a:solidFill>
            <a:srgbClr val="0052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Rounded Rectangle 4"/>
          <p:cNvSpPr/>
          <p:nvPr/>
        </p:nvSpPr>
        <p:spPr>
          <a:xfrm>
            <a:off x="731520" y="1508760"/>
            <a:ext cx="5211720" cy="4845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Box 5"/>
          <p:cNvSpPr/>
          <p:nvPr/>
        </p:nvSpPr>
        <p:spPr>
          <a:xfrm>
            <a:off x="914400" y="1645920"/>
            <a:ext cx="484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1. Modulación OFDM / SOFDMA (Sin Visión Directa)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6"/>
          <p:cNvSpPr/>
          <p:nvPr/>
        </p:nvSpPr>
        <p:spPr>
          <a:xfrm>
            <a:off x="914400" y="2011680"/>
            <a:ext cx="4845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Ortogonalidad de Subportadoras: En lugar de enviar un solo flujo de datos gigante que puede rebotar y destruirse en los edificios, WiMAX divide el canal en cientos de subportadoras paralelas.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lang="en-US" sz="13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Operación NLOS (Non-Line-of-Sight): Si una frecuencia choca contra un edificio y se pierde, los datos continúan viajando por las demás subportadoras sin interrumpir la conexión del usuario.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SOFDMA Escalable: Ajusta la cantidad de puntos FFT (128 a 2048) según el ancho de banda del canal (1.25 a 20 MHz) para adaptarse a movilidad vehicular.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Rounded Rectangle 7"/>
          <p:cNvSpPr/>
          <p:nvPr/>
        </p:nvSpPr>
        <p:spPr>
          <a:xfrm>
            <a:off x="6248160" y="1508760"/>
            <a:ext cx="5211720" cy="4845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8"/>
          <p:cNvSpPr/>
          <p:nvPr/>
        </p:nvSpPr>
        <p:spPr>
          <a:xfrm>
            <a:off x="6431040" y="1645920"/>
            <a:ext cx="48459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2. Modulación Adaptativa (ACM) y Shannon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9"/>
          <p:cNvSpPr/>
          <p:nvPr/>
        </p:nvSpPr>
        <p:spPr>
          <a:xfrm>
            <a:off x="6431040" y="2011680"/>
            <a:ext cx="484596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Capacidad de Shannon: La velocidad teórica máxima depende de la calidad de señal: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5000"/>
              </a:spcBef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Cerca de la Antena (Alta SINR): Cambia a 64-QAM. Envía 6 bits por símbolo. ¡Máxima velocidad de descarga!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Bef>
                <a:spcPts val="799"/>
              </a:spcBef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En el Borde de la Celda (Baja SINR): Conmuta automáticamente a 16-QAM o QPSK. La velocidad baja, pero la llamada de voz o conexión NUNCA se cae.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Rectangle 10"/>
          <p:cNvSpPr/>
          <p:nvPr/>
        </p:nvSpPr>
        <p:spPr>
          <a:xfrm>
            <a:off x="6583680" y="2560320"/>
            <a:ext cx="4571640" cy="548280"/>
          </a:xfrm>
          <a:prstGeom prst="rect">
            <a:avLst/>
          </a:prstGeom>
          <a:solidFill>
            <a:srgbClr val="0A192F"/>
          </a:solidFill>
          <a:ln>
            <a:solidFill>
              <a:srgbClr val="4A7EBB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457200">
              <a:lnSpc>
                <a:spcPct val="100000"/>
              </a:lnSpc>
            </a:pPr>
            <a:r>
              <a:rPr lang="en-US" sz="1600" b="1" u="none" strike="noStrike">
                <a:solidFill>
                  <a:srgbClr val="D96B00"/>
                </a:solidFill>
                <a:effectLst/>
                <a:uFillTx/>
                <a:latin typeface="Calibri"/>
              </a:rPr>
              <a:t>C = B · log₂ (1 + SINR)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extBox 1"/>
          <p:cNvSpPr/>
          <p:nvPr/>
        </p:nvSpPr>
        <p:spPr>
          <a:xfrm>
            <a:off x="731520" y="32004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D96B00"/>
                </a:solidFill>
                <a:effectLst/>
                <a:uFillTx/>
                <a:latin typeface="Verdana"/>
              </a:rPr>
              <a:t>REDES DE ALTA VELOCIDAD | WIMAX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2"/>
          <p:cNvSpPr/>
          <p:nvPr/>
        </p:nvSpPr>
        <p:spPr>
          <a:xfrm>
            <a:off x="731520" y="594360"/>
            <a:ext cx="1072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11E2E"/>
                </a:solidFill>
                <a:effectLst/>
                <a:uFillTx/>
                <a:latin typeface="Georgia"/>
              </a:rPr>
              <a:t>Una capa MAC orientada a conexión asigna turnos exactos para evitar colisiones y asegurar calidad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Rectangle 3"/>
          <p:cNvSpPr/>
          <p:nvPr/>
        </p:nvSpPr>
        <p:spPr>
          <a:xfrm>
            <a:off x="731520" y="1325880"/>
            <a:ext cx="10728360" cy="25200"/>
          </a:xfrm>
          <a:prstGeom prst="rect">
            <a:avLst/>
          </a:prstGeom>
          <a:solidFill>
            <a:srgbClr val="0052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Rounded Rectangle 4"/>
          <p:cNvSpPr/>
          <p:nvPr/>
        </p:nvSpPr>
        <p:spPr>
          <a:xfrm>
            <a:off x="731520" y="1508760"/>
            <a:ext cx="5668920" cy="4845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TextBox 5"/>
          <p:cNvSpPr/>
          <p:nvPr/>
        </p:nvSpPr>
        <p:spPr>
          <a:xfrm>
            <a:off x="914400" y="164592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Clases de Calidad de Servicio (QoS en WiMAX)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6"/>
          <p:cNvSpPr/>
          <p:nvPr/>
        </p:nvSpPr>
        <p:spPr>
          <a:xfrm>
            <a:off x="822960" y="2011680"/>
            <a:ext cx="5486040" cy="411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UGS (Unsolicited Grant Service):</a:t>
            </a:r>
            <a:br>
              <a:rPr sz="1150"/>
            </a:br>
            <a:r>
              <a:rPr lang="en-US" sz="11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   Ancho de banda e intervalo fijo. Diseñado para VoIP sin latencia ni jitter.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rtPS (Real-time Polling Service):</a:t>
            </a:r>
            <a:br>
              <a:rPr sz="1150"/>
            </a:br>
            <a:r>
              <a:rPr lang="en-US" sz="11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   Ranuras periódicas variables. Diseñado para streaming de video y videoconferencia.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nrtPS (Non-real-time Polling Service):</a:t>
            </a:r>
            <a:br>
              <a:rPr sz="1150"/>
            </a:br>
            <a:r>
              <a:rPr lang="en-US" sz="11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   Asignación garantizada no en tiempo real. Ideal para descargas FTP pesadas.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BE (Best Effort):</a:t>
            </a:r>
            <a:br>
              <a:rPr sz="1150"/>
            </a:br>
            <a:r>
              <a:rPr lang="en-US" sz="11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   Sin garantías explícitas. Para navegación web general y correo electrónico.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lang="en-US" sz="11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ertPS (Extended rtPS):</a:t>
            </a:r>
            <a:br>
              <a:rPr sz="1150"/>
            </a:br>
            <a:r>
              <a:rPr lang="en-US" sz="11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   Optimizado para VoIP con supresión de silencio (ahorra energía).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9" name="Picture 7" descr="wimax_active_equipment.png"/>
          <p:cNvPicPr/>
          <p:nvPr/>
        </p:nvPicPr>
        <p:blipFill>
          <a:blip r:embed="rId1"/>
          <a:stretch/>
        </p:blipFill>
        <p:spPr>
          <a:xfrm>
            <a:off x="6675120" y="1508760"/>
            <a:ext cx="4754520" cy="393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Rounded Rectangle 8"/>
          <p:cNvSpPr/>
          <p:nvPr/>
        </p:nvSpPr>
        <p:spPr>
          <a:xfrm>
            <a:off x="6675120" y="5486400"/>
            <a:ext cx="4754520" cy="868320"/>
          </a:xfrm>
          <a:prstGeom prst="roundRect">
            <a:avLst>
              <a:gd name="adj" fmla="val 16667"/>
            </a:avLst>
          </a:prstGeom>
          <a:solidFill>
            <a:srgbClr val="0A19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TextBox 9"/>
          <p:cNvSpPr/>
          <p:nvPr/>
        </p:nvSpPr>
        <p:spPr>
          <a:xfrm>
            <a:off x="6766560" y="553212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Figura 3: Equipos activos WiMAX: Módulo de radiobase y CPEs residenciales de Alvarion BreezeMAX con procesamiento de QoS.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D96B00"/>
                </a:solidFill>
                <a:effectLst/>
                <a:uFillTx/>
                <a:latin typeface="Calibri"/>
              </a:rPr>
              <a:t>Referencia: Alvarion BreezeMAX Specs &amp; Unina QoS Measurements [5, 6].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Box 1"/>
          <p:cNvSpPr/>
          <p:nvPr/>
        </p:nvSpPr>
        <p:spPr>
          <a:xfrm>
            <a:off x="731520" y="32004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D96B00"/>
                </a:solidFill>
                <a:effectLst/>
                <a:uFillTx/>
                <a:latin typeface="Verdana"/>
              </a:rPr>
              <a:t>REDES DE ALTA VELOCIDAD | WIMAX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Box 2"/>
          <p:cNvSpPr/>
          <p:nvPr/>
        </p:nvSpPr>
        <p:spPr>
          <a:xfrm>
            <a:off x="731520" y="594360"/>
            <a:ext cx="1072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11E2E"/>
                </a:solidFill>
                <a:effectLst/>
                <a:uFillTx/>
                <a:latin typeface="Georgia"/>
              </a:rPr>
              <a:t>Desde Clearwire en EE.UU. hasta Axtel en México: WiMAX llevó voz e internet a más de 40 ciudades mexicanas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Rectangle 3"/>
          <p:cNvSpPr/>
          <p:nvPr/>
        </p:nvSpPr>
        <p:spPr>
          <a:xfrm>
            <a:off x="731520" y="1325880"/>
            <a:ext cx="10728360" cy="25200"/>
          </a:xfrm>
          <a:prstGeom prst="rect">
            <a:avLst/>
          </a:prstGeom>
          <a:solidFill>
            <a:srgbClr val="0052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Rounded Rectangle 4"/>
          <p:cNvSpPr/>
          <p:nvPr/>
        </p:nvSpPr>
        <p:spPr>
          <a:xfrm>
            <a:off x="731520" y="1508760"/>
            <a:ext cx="566892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TextBox 5"/>
          <p:cNvSpPr/>
          <p:nvPr/>
        </p:nvSpPr>
        <p:spPr>
          <a:xfrm>
            <a:off x="914400" y="164592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 Caso de Estudio México: Axtel (Banda 3.5 GHz)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TextBox 6"/>
          <p:cNvSpPr/>
          <p:nvPr/>
        </p:nvSpPr>
        <p:spPr>
          <a:xfrm>
            <a:off x="822960" y="1920240"/>
            <a:ext cx="54860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Despliegue Masivo (2008): Axtel contrató a Motorola para implementar la red wi4 WiMAX y sistemas Alvarion BreezeMAX.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Cobertura: Llevó teléfono fijo e internet inalámbrico de alta velocidad a más de 60,000 suscriptores en +40 ciudades (CDMX, Monterrey, Guadalajara).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Rounded Rectangle 7"/>
          <p:cNvSpPr/>
          <p:nvPr/>
        </p:nvSpPr>
        <p:spPr>
          <a:xfrm>
            <a:off x="731520" y="3931920"/>
            <a:ext cx="5668920" cy="242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TextBox 8"/>
          <p:cNvSpPr/>
          <p:nvPr/>
        </p:nvSpPr>
        <p:spPr>
          <a:xfrm>
            <a:off x="914400" y="406908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 Implementaciones Globales Destacadas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9"/>
          <p:cNvSpPr/>
          <p:nvPr/>
        </p:nvSpPr>
        <p:spPr>
          <a:xfrm>
            <a:off x="822960" y="4343400"/>
            <a:ext cx="54860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Clearwire / Sprint (EE.UU.): Cubrió a 130 millones de personas en 2012 con la banda de 2.5 GHz.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Scartel / Yota (Rusia): Red con más de 250,000 clientes activos en Moscú y San Petersburgo.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Mobilink y Wateen (Pakistán): Proveyeron banda ancha inalámbrica en áreas sin líneas telefónicas terrestres.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1" name="Picture 10" descr="wimax_axtel_rooftop_cpe.png"/>
          <p:cNvPicPr/>
          <p:nvPr/>
        </p:nvPicPr>
        <p:blipFill>
          <a:blip r:embed="rId1"/>
          <a:stretch/>
        </p:blipFill>
        <p:spPr>
          <a:xfrm>
            <a:off x="6675120" y="1508760"/>
            <a:ext cx="4754520" cy="393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Rounded Rectangle 11"/>
          <p:cNvSpPr/>
          <p:nvPr/>
        </p:nvSpPr>
        <p:spPr>
          <a:xfrm>
            <a:off x="6675120" y="5486400"/>
            <a:ext cx="4754520" cy="868320"/>
          </a:xfrm>
          <a:prstGeom prst="roundRect">
            <a:avLst>
              <a:gd name="adj" fmla="val 16667"/>
            </a:avLst>
          </a:prstGeom>
          <a:solidFill>
            <a:srgbClr val="0A19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3" name="TextBox 12"/>
          <p:cNvSpPr/>
          <p:nvPr/>
        </p:nvSpPr>
        <p:spPr>
          <a:xfrm>
            <a:off x="6766560" y="553212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Figura 4: Técnico instalando unidad receptora CPE WiMAX de 3.5 GHz en azotea residencial de Axtel en México.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D96B00"/>
                </a:solidFill>
                <a:effectLst/>
                <a:uFillTx/>
                <a:latin typeface="Calibri"/>
              </a:rPr>
              <a:t>Referencia: SEC Axtel 20-F Filings &amp; Motorola Converge Digest [7, 8].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Box 1"/>
          <p:cNvSpPr/>
          <p:nvPr/>
        </p:nvSpPr>
        <p:spPr>
          <a:xfrm>
            <a:off x="731520" y="32004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D96B00"/>
                </a:solidFill>
                <a:effectLst/>
                <a:uFillTx/>
                <a:latin typeface="Verdana"/>
              </a:rPr>
              <a:t>REDES DE ALTA VELOCIDAD | WIMAX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Box 2"/>
          <p:cNvSpPr/>
          <p:nvPr/>
        </p:nvSpPr>
        <p:spPr>
          <a:xfrm>
            <a:off x="731520" y="594360"/>
            <a:ext cx="1072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11E2E"/>
                </a:solidFill>
                <a:effectLst/>
                <a:uFillTx/>
                <a:latin typeface="Georgia"/>
              </a:rPr>
              <a:t>LTE resolvió el alto consumo de batería en teléfonos y unificó a la industria celular global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Rectangle 3"/>
          <p:cNvSpPr/>
          <p:nvPr/>
        </p:nvSpPr>
        <p:spPr>
          <a:xfrm>
            <a:off x="731520" y="1325880"/>
            <a:ext cx="10728360" cy="25200"/>
          </a:xfrm>
          <a:prstGeom prst="rect">
            <a:avLst/>
          </a:prstGeom>
          <a:solidFill>
            <a:srgbClr val="0052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7" name="Rounded Rectangle 4"/>
          <p:cNvSpPr/>
          <p:nvPr/>
        </p:nvSpPr>
        <p:spPr>
          <a:xfrm>
            <a:off x="731520" y="1508760"/>
            <a:ext cx="5668920" cy="2285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8" name="TextBox 5"/>
          <p:cNvSpPr/>
          <p:nvPr/>
        </p:nvSpPr>
        <p:spPr>
          <a:xfrm>
            <a:off x="914400" y="164592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1. ¿Qué Resolvió LTE que WiMAX Ya No Pudo?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Box 6"/>
          <p:cNvSpPr/>
          <p:nvPr/>
        </p:nvSpPr>
        <p:spPr>
          <a:xfrm>
            <a:off x="822960" y="1920240"/>
            <a:ext cx="54860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Batería en Smartphones (Uplink SC-FDMA): WiMAX usaba SOFDMA en la subida, requiriendo amplificadores de potencia lineales que agotaban la batería. LTE adoptó SC-FDMA en la subida, reduciendo enormemente el consumo eléctrico.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Retrocompatibilidad Nativa: LTE permitió a los usuarios conservar su señal 2G/3G cuando salían de la ciudad (Roaming sin interrupciones). WiMAX requería construir torres totalmente independientes.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Rounded Rectangle 7"/>
          <p:cNvSpPr/>
          <p:nvPr/>
        </p:nvSpPr>
        <p:spPr>
          <a:xfrm>
            <a:off x="731520" y="3931920"/>
            <a:ext cx="5668920" cy="24228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1" name="TextBox 8"/>
          <p:cNvSpPr/>
          <p:nvPr/>
        </p:nvSpPr>
        <p:spPr>
          <a:xfrm>
            <a:off x="914400" y="4069080"/>
            <a:ext cx="53031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2. El Legado Vivo de WiMAX en las Redes 5G Actuales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9"/>
          <p:cNvSpPr/>
          <p:nvPr/>
        </p:nvSpPr>
        <p:spPr>
          <a:xfrm>
            <a:off x="822960" y="4343400"/>
            <a:ext cx="5486040" cy="191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Transición del Espectro: Las frecuencias de 3.5 GHz abiertas originalmente por WiMAX en todo el mundo fueron reasignadas por los reguladores.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250" b="0" u="none" strike="noStrike">
                <a:solidFill>
                  <a:srgbClr val="111E2E"/>
                </a:solidFill>
                <a:effectLst/>
                <a:uFillTx/>
                <a:latin typeface="Calibri"/>
              </a:rPr>
              <a:t>• La Banda n78 de 5G: Hoy, esa misma banda de 3.5 GHz es la columna vertebral del despliegue masivo de redes 5G NR a nivel mundial.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3" name="Picture 10" descr="wimax_5g_cell_tower.png"/>
          <p:cNvPicPr/>
          <p:nvPr/>
        </p:nvPicPr>
        <p:blipFill>
          <a:blip r:embed="rId1"/>
          <a:stretch/>
        </p:blipFill>
        <p:spPr>
          <a:xfrm>
            <a:off x="6675120" y="1508760"/>
            <a:ext cx="4754520" cy="3931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Rounded Rectangle 11"/>
          <p:cNvSpPr/>
          <p:nvPr/>
        </p:nvSpPr>
        <p:spPr>
          <a:xfrm>
            <a:off x="6675120" y="5486400"/>
            <a:ext cx="4754520" cy="868320"/>
          </a:xfrm>
          <a:prstGeom prst="roundRect">
            <a:avLst>
              <a:gd name="adj" fmla="val 16667"/>
            </a:avLst>
          </a:prstGeom>
          <a:solidFill>
            <a:srgbClr val="0A192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5" name="TextBox 12"/>
          <p:cNvSpPr/>
          <p:nvPr/>
        </p:nvSpPr>
        <p:spPr>
          <a:xfrm>
            <a:off x="6766560" y="5532120"/>
            <a:ext cx="457164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Figura 5: Torre celular moderna de tecnología 5G NR en banda de 3.5 GHz, heredera del espectro de transmisión de WiMAX.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D96B00"/>
                </a:solidFill>
                <a:effectLst/>
                <a:uFillTx/>
                <a:latin typeface="Calibri"/>
              </a:rPr>
              <a:t>Referencia: arXiv 5G &amp; ETSI TS 136 300 [9, 10].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TextBox 1"/>
          <p:cNvSpPr/>
          <p:nvPr/>
        </p:nvSpPr>
        <p:spPr>
          <a:xfrm>
            <a:off x="731520" y="32004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D96B00"/>
                </a:solidFill>
                <a:effectLst/>
                <a:uFillTx/>
                <a:latin typeface="Verdana"/>
              </a:rPr>
              <a:t>REDES DE ALTA VELOCIDAD | WIMAX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2"/>
          <p:cNvSpPr/>
          <p:nvPr/>
        </p:nvSpPr>
        <p:spPr>
          <a:xfrm>
            <a:off x="731520" y="594360"/>
            <a:ext cx="1072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11E2E"/>
                </a:solidFill>
                <a:effectLst/>
                <a:uFillTx/>
                <a:latin typeface="Georgia"/>
              </a:rPr>
              <a:t>Cuadro evolutivo de tecnologías inalámbricas: De Wi-Fi/3G a WiMAX, LTE y 5G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Rectangle 3"/>
          <p:cNvSpPr/>
          <p:nvPr/>
        </p:nvSpPr>
        <p:spPr>
          <a:xfrm>
            <a:off x="731520" y="1325880"/>
            <a:ext cx="10728360" cy="25200"/>
          </a:xfrm>
          <a:prstGeom prst="rect">
            <a:avLst/>
          </a:prstGeom>
          <a:solidFill>
            <a:srgbClr val="0052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graphicFrame>
        <p:nvGraphicFramePr>
          <p:cNvPr id="149" name="Table 4"/>
          <p:cNvGraphicFramePr/>
          <p:nvPr/>
        </p:nvGraphicFramePr>
        <p:xfrm>
          <a:off x="731520" y="1508760"/>
          <a:ext cx="10728360" cy="484596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2834640"/>
                <a:gridCol w="2864520"/>
              </a:tblGrid>
              <a:tr h="80748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Atributo Técnico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Antecesores (Wi-Fi / 3G)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Estándar Analizado (WiMAX)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A192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Sucesores (4G LTE / 5G NR)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A192F"/>
                    </a:solidFill>
                  </a:tcPr>
                </a:tc>
              </a:tr>
              <a:tr h="807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Organismo / Creador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IEEE 802.11 / 3GPP (GSM/UMTS)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IEEE Working Group 802.16 / WiMAX Forum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3GPP (Consorcio Celular Global)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7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Alcance Operativo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Local (~100m) / Celular 3G (~5km)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Metropolitano (10 a 50 km)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Celular Extenso Global (15 a 30 km)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807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Modulación Uplink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OFDM (Wi-Fi) / W-CDMA (3G)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SOFDMA (Escalable)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SC-FDMA (Ahorra batería) / 5G NR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7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Gestión MAC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Contención por compresión CSMA/CA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Centralizada y Programada por Radiobase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Programada eNodeB / gNodeB All-IP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4F6F9"/>
                    </a:solidFill>
                  </a:tcPr>
                </a:tc>
              </a:tr>
              <a:tr h="8074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Compatibilidad Heredada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Redes independientes aisladas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Sin retrocompatibilidad entre 16d y 16e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100" b="0" u="none" strike="noStrike">
                          <a:solidFill>
                            <a:srgbClr val="111E2E"/>
                          </a:solidFill>
                          <a:effectLst/>
                          <a:uFillTx/>
                          <a:latin typeface="Calibri"/>
                        </a:rPr>
                        <a:t>Compatibilidad nativa 2G/3G/4G/5G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TextBox 1"/>
          <p:cNvSpPr/>
          <p:nvPr/>
        </p:nvSpPr>
        <p:spPr>
          <a:xfrm>
            <a:off x="731520" y="320040"/>
            <a:ext cx="107283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1" u="none" strike="noStrike">
                <a:solidFill>
                  <a:srgbClr val="D96B00"/>
                </a:solidFill>
                <a:effectLst/>
                <a:uFillTx/>
                <a:latin typeface="Verdana"/>
              </a:rPr>
              <a:t>REDES DE ALTA VELOCIDAD | WIMAX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Box 2"/>
          <p:cNvSpPr/>
          <p:nvPr/>
        </p:nvSpPr>
        <p:spPr>
          <a:xfrm>
            <a:off x="731520" y="594360"/>
            <a:ext cx="10728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200" b="1" u="none" strike="noStrike">
                <a:solidFill>
                  <a:srgbClr val="111E2E"/>
                </a:solidFill>
                <a:effectLst/>
                <a:uFillTx/>
                <a:latin typeface="Georgia"/>
              </a:rPr>
              <a:t>Referencias bibliográficas en formato estándar IEEE para la materia de Redes de Alta Velocidad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Rectangle 3"/>
          <p:cNvSpPr/>
          <p:nvPr/>
        </p:nvSpPr>
        <p:spPr>
          <a:xfrm>
            <a:off x="731520" y="1325880"/>
            <a:ext cx="10728360" cy="25200"/>
          </a:xfrm>
          <a:prstGeom prst="rect">
            <a:avLst/>
          </a:prstGeom>
          <a:solidFill>
            <a:srgbClr val="0052CC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19440" rIns="90000" bIns="-1944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3" name="Rounded Rectangle 4"/>
          <p:cNvSpPr/>
          <p:nvPr/>
        </p:nvSpPr>
        <p:spPr>
          <a:xfrm>
            <a:off x="731520" y="1508760"/>
            <a:ext cx="10728360" cy="484596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D1D9E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/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4" name="TextBox 5"/>
          <p:cNvSpPr/>
          <p:nvPr/>
        </p:nvSpPr>
        <p:spPr>
          <a:xfrm>
            <a:off x="914400" y="1645920"/>
            <a:ext cx="103626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1" u="none" strike="noStrike">
                <a:solidFill>
                  <a:srgbClr val="0052CC"/>
                </a:solidFill>
                <a:effectLst/>
                <a:uFillTx/>
                <a:latin typeface="Georgia"/>
              </a:rPr>
              <a:t>Fuentes Documentales Grounded en Formato IEEE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6"/>
          <p:cNvSpPr/>
          <p:nvPr/>
        </p:nvSpPr>
        <p:spPr>
          <a:xfrm>
            <a:off x="914400" y="1965960"/>
            <a:ext cx="10362600" cy="420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u="none" strike="noStrike">
                <a:solidFill>
                  <a:srgbClr val="111E2E"/>
                </a:solidFill>
                <a:effectLst/>
                <a:uFillTx/>
                <a:latin typeface="Verdana"/>
              </a:rPr>
              <a:t>[1] IEEE Standard for Local and Metropolitan Area Networks - Part 16: Air Interface for Fixed Broadband Wireless Access Systems, IEEE Std 802.16-2004, Oct. 2004.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u="none" strike="noStrike">
                <a:solidFill>
                  <a:srgbClr val="111E2E"/>
                </a:solidFill>
                <a:effectLst/>
                <a:uFillTx/>
                <a:latin typeface="Verdana"/>
              </a:rPr>
              <a:t>[2] IEEE Standard for Local and Metropolitan Area Networks - Part 16: Air Interface for Fixed and Mobile Broadband Wireless Access Systems, IEEE Std 802.16e-2005, Feb. 2006.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u="none" strike="noStrike">
                <a:solidFill>
                  <a:srgbClr val="111E2E"/>
                </a:solidFill>
                <a:effectLst/>
                <a:uFillTx/>
                <a:latin typeface="Verdana"/>
              </a:rPr>
              <a:t>[3] WiMAX Forum, 'WiMAX System Evaluation Methodology', White Paper, version 2.1, Jul. 2008.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u="none" strike="noStrike">
                <a:solidFill>
                  <a:srgbClr val="111E2E"/>
                </a:solidFill>
                <a:effectLst/>
                <a:uFillTx/>
                <a:latin typeface="Verdana"/>
              </a:rPr>
              <a:t>[4] J. Andrews, A. Ghosh, and R. Muhamed, Fundamentals of WiMAX: Understanding Broadband Wireless Networking. Upper Saddle River, NJ: Prentice Hall, 2007.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u="none" strike="noStrike">
                <a:solidFill>
                  <a:srgbClr val="111E2E"/>
                </a:solidFill>
                <a:effectLst/>
                <a:uFillTx/>
                <a:latin typeface="Verdana"/>
              </a:rPr>
              <a:t>[5] Alvarion Ltd., 'BreezeMAX 3650 / 3500 Technical Product Specification and System Architecture', Technical Report, 2006.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u="none" strike="noStrike">
                <a:solidFill>
                  <a:srgbClr val="111E2E"/>
                </a:solidFill>
                <a:effectLst/>
                <a:uFillTx/>
                <a:latin typeface="Verdana"/>
              </a:rPr>
              <a:t>[6] A. Pescape et al., 'QoS Support in WiMAX Networks: Issues and Experimental Measurements', University of Naples Federico II, Tech. Rep. CN-2006-009, 2006.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u="none" strike="noStrike">
                <a:solidFill>
                  <a:srgbClr val="111E2E"/>
                </a:solidFill>
                <a:effectLst/>
                <a:uFillTx/>
                <a:latin typeface="Verdana"/>
              </a:rPr>
              <a:t>[7] Axtel S.A.B. de C.V., 'Annual Report Pursuant to Section 13 of the Securities Exchange Act of 1934 (Form 20-F)', SEC EDGAR Filing, 2008.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u="none" strike="noStrike">
                <a:solidFill>
                  <a:srgbClr val="111E2E"/>
                </a:solidFill>
                <a:effectLst/>
                <a:uFillTx/>
                <a:latin typeface="Verdana"/>
              </a:rPr>
              <a:t>[8] Motorola Inc., 'Motorola wi4 WiMAX Solutions Guide and Deployment for Mobilink/Axtel', Converge Digest Report, Dec. 2007.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u="none" strike="noStrike">
                <a:solidFill>
                  <a:srgbClr val="111E2E"/>
                </a:solidFill>
                <a:effectLst/>
                <a:uFillTx/>
                <a:latin typeface="Verdana"/>
              </a:rPr>
              <a:t>[9] ETSI, 'LTE; Evolved Universal Terrestrial Radio Access (E-UTRA) and Evolved Universal Terrestrial Radio Access Network (E-UTRAN); Overall description', ETSI TS 136 300 V16.2.0, Jul. 2020.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00"/>
              </a:spcAft>
            </a:pPr>
            <a:r>
              <a:rPr lang="en-US" sz="1050" b="0" u="none" strike="noStrike">
                <a:solidFill>
                  <a:srgbClr val="111E2E"/>
                </a:solidFill>
                <a:effectLst/>
                <a:uFillTx/>
                <a:latin typeface="Verdana"/>
              </a:rPr>
              <a:t>[10] J. Andrews et al., 'What Will 5G Be?', IEEE Journal on Selected Areas in Communications / arXiv:1405.2957, 2014.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itchFamily="0" charset="1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</TotalTime>
  <Application>LibreOffice/26.8.0.3$Linux_X86_64 LibreOffice_project/680$Build-3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2026-10-11T13:38:32Z</dcterms:modified>
  <cp:revision>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