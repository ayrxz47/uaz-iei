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3C8CB4-81A1-4C98-8B7B-9E4798BE58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D3F643-248C-43FB-8C5A-F3C03725ED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15A22B-1991-45AB-BC6D-17CDD275CF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5E1D20-2155-4FB9-9A86-A9E778559C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BC4655-32FB-4A4B-B845-597CE72890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BA7EB3-BACE-492C-A601-CAFFE5A9A1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954B85-00EC-44F8-8ED1-35BC0A86FA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EF8FA-4767-4A8A-96F1-4C3B15D4A9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1D56D1-276B-4D5D-ADDC-F4DAA96D91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844588-B7B4-47E0-9EDE-870C5F3B89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44A7BF-146D-432F-BD4F-46BE7BF3D9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image.png"/>
          <p:cNvPicPr/>
          <p:nvPr/>
        </p:nvPicPr>
        <p:blipFill>
          <a:blip r:embed="rId1"/>
          <a:stretch/>
        </p:blipFill>
        <p:spPr>
          <a:xfrm>
            <a:off x="2971800" y="4854600"/>
            <a:ext cx="6248160" cy="37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3" descr="image.png"/>
          <p:cNvPicPr/>
          <p:nvPr/>
        </p:nvPicPr>
        <p:blipFill>
          <a:blip r:embed="rId2"/>
          <a:stretch/>
        </p:blipFill>
        <p:spPr>
          <a:xfrm>
            <a:off x="4795920" y="228600"/>
            <a:ext cx="260028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4"/>
          <p:cNvSpPr/>
          <p:nvPr/>
        </p:nvSpPr>
        <p:spPr>
          <a:xfrm>
            <a:off x="1012320" y="914400"/>
            <a:ext cx="1016712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spAutoFit/>
          </a:bodyPr>
          <a:p>
            <a:pPr algn="ctr"/>
            <a:r>
              <a:rPr lang="en-US" sz="40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Protocolo ATM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ts val="4657"/>
              </a:lnSpc>
            </a:pPr>
            <a:r>
              <a:rPr lang="en-US" sz="4050" b="0" u="none" strike="noStrike">
                <a:solidFill>
                  <a:srgbClr val="93C5FD"/>
                </a:solidFill>
                <a:effectLst/>
                <a:uFillTx/>
                <a:latin typeface="Space Grotesk Medium"/>
              </a:rPr>
              <a:t>Asynchronous Transfer Mode: Arquitectura, Auge y Legado</a:t>
            </a:r>
            <a:endParaRPr lang="en-US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2000160" y="3538440"/>
            <a:ext cx="81910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79"/>
              </a:lnSpc>
            </a:pPr>
            <a:r>
              <a:rPr lang="en-US" sz="143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Análisis integral de la tecnología que prometió unificar las telecomunicaciones globales: génesis histórica, controversias de estandarización, ingeniería de celdas fijas y lecciones para las redes modernas.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6" descr="image.png"/>
          <p:cNvPicPr/>
          <p:nvPr/>
        </p:nvPicPr>
        <p:blipFill>
          <a:blip r:embed="rId3"/>
          <a:stretch/>
        </p:blipFill>
        <p:spPr>
          <a:xfrm>
            <a:off x="4572000" y="292680"/>
            <a:ext cx="184320" cy="13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7"/>
          <p:cNvSpPr/>
          <p:nvPr/>
        </p:nvSpPr>
        <p:spPr>
          <a:xfrm>
            <a:off x="2971800" y="5054760"/>
            <a:ext cx="2028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136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Telecomunicaciones &amp; Redes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5286240" y="5054760"/>
            <a:ext cx="17809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N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i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v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e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l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: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I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n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g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e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n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i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e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r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í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a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A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v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a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n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z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a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d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7353000" y="5054760"/>
            <a:ext cx="18666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320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Plus Jakarta Sans"/>
              </a:rPr>
              <a:t>Sesión Técnica (40 Minutos)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10" descr="image.png"/>
          <p:cNvPicPr/>
          <p:nvPr/>
        </p:nvPicPr>
        <p:blipFill>
          <a:blip r:embed="rId4"/>
          <a:stretch/>
        </p:blipFill>
        <p:spPr>
          <a:xfrm>
            <a:off x="2971800" y="5083200"/>
            <a:ext cx="17100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11" descr="image.png"/>
          <p:cNvPicPr/>
          <p:nvPr/>
        </p:nvPicPr>
        <p:blipFill>
          <a:blip r:embed="rId5"/>
          <a:stretch/>
        </p:blipFill>
        <p:spPr>
          <a:xfrm>
            <a:off x="5286240" y="5083200"/>
            <a:ext cx="151920" cy="13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12" descr="image.png"/>
          <p:cNvPicPr/>
          <p:nvPr/>
        </p:nvPicPr>
        <p:blipFill>
          <a:blip r:embed="rId6"/>
          <a:stretch/>
        </p:blipFill>
        <p:spPr>
          <a:xfrm>
            <a:off x="7353000" y="5083200"/>
            <a:ext cx="132840" cy="13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485640" y="485640"/>
            <a:ext cx="5690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Contexto Histórico (Años 80)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485640" y="1009800"/>
            <a:ext cx="541944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4" descr="image.png"/>
          <p:cNvPicPr/>
          <p:nvPr/>
        </p:nvPicPr>
        <p:blipFill>
          <a:blip r:embed="rId1"/>
          <a:stretch/>
        </p:blipFill>
        <p:spPr>
          <a:xfrm>
            <a:off x="6286680" y="9360"/>
            <a:ext cx="58957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5"/>
          <p:cNvSpPr/>
          <p:nvPr/>
        </p:nvSpPr>
        <p:spPr>
          <a:xfrm>
            <a:off x="485640" y="1871640"/>
            <a:ext cx="5419440" cy="11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 mediados de la década de 1980, el mundo de las comunicaciones estaba fracturado en dos paradigmas incompatibles: las </a:t>
            </a: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redes de conmutación de circuitos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(diseñadas por telcos para voz de retardo determinista) y las </a:t>
            </a: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redes de conmutación de paquetes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(diseñadas para ráfagas de datos informáticos).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485640" y="3272400"/>
            <a:ext cx="54194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Con la llegada de la fibra óptica y los despliegues de </a:t>
            </a: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SONET/SDH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el ancho de banda creció exponencialmente, pero los conmutadores por software no podían procesar paquetes de longitud variable a velocidades Gigabit.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485640" y="4572000"/>
            <a:ext cx="541944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El </a:t>
            </a: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CCITT (hoy ITU-T, International Telecommunication Union por sus siglas en inglés)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concibió la </a:t>
            </a:r>
            <a:r>
              <a:rPr lang="en-US" sz="116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Red Digital de Servicios Integrados de Banda Ancha (B-ISDN)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eligiendo a ATM en 1988 como el protocolo de transporte definitivo.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2" descr="image.png"/>
          <p:cNvPicPr/>
          <p:nvPr/>
        </p:nvPicPr>
        <p:blipFill>
          <a:blip r:embed="rId2"/>
          <a:stretch/>
        </p:blipFill>
        <p:spPr>
          <a:xfrm>
            <a:off x="581040" y="2028240"/>
            <a:ext cx="5347800" cy="283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3" descr="image.png"/>
          <p:cNvPicPr/>
          <p:nvPr/>
        </p:nvPicPr>
        <p:blipFill>
          <a:blip r:embed="rId3"/>
          <a:stretch/>
        </p:blipFill>
        <p:spPr>
          <a:xfrm>
            <a:off x="6262560" y="2028240"/>
            <a:ext cx="5347800" cy="283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4"/>
          <p:cNvSpPr/>
          <p:nvPr/>
        </p:nvSpPr>
        <p:spPr>
          <a:xfrm>
            <a:off x="581040" y="5053320"/>
            <a:ext cx="1102968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1080" tIns="0" rIns="0" bIns="0" anchor="t">
            <a:spAutoFit/>
          </a:bodyPr>
          <a:p>
            <a:pPr algn="ctr"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El Compromiso Político de Ginebra </a:t>
            </a: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(1989):</a:t>
            </a:r>
            <a:r>
              <a:rPr lang="en-US" sz="1130" b="0" u="none" strike="noStrike">
                <a:solidFill>
                  <a:srgbClr val="F1C40F"/>
                </a:solidFill>
                <a:effectLst/>
                <a:uFillTx/>
                <a:latin typeface="Plus Jakarta Sans"/>
              </a:rPr>
              <a:t> Ni 32 ni 64. La ITU-T impuso el </a:t>
            </a:r>
            <a:r>
              <a:rPr lang="en-US" sz="1130" b="0" u="none" strike="noStrike">
                <a:solidFill>
                  <a:srgbClr val="F1C40F"/>
                </a:solidFill>
                <a:effectLst/>
                <a:uFillTx/>
                <a:latin typeface="Plus Jakarta Sans"/>
              </a:rPr>
              <a:t>promedio aritmético exacto: (32 + 64) / 2 = </a:t>
            </a:r>
            <a:r>
              <a:rPr lang="en-US" sz="1130" b="0" u="none" strike="noStrike">
                <a:solidFill>
                  <a:srgbClr val="F1C40F"/>
                </a:solidFill>
                <a:effectLst/>
                <a:uFillTx/>
                <a:latin typeface="Plus Jakarta Sans"/>
              </a:rPr>
              <a:t>48 bytes de payload + 5 bytes de header = </a:t>
            </a: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53 bytes</a:t>
            </a:r>
            <a:r>
              <a:rPr lang="en-US" sz="1130" b="0" u="none" strike="noStrike">
                <a:solidFill>
                  <a:srgbClr val="F1C40F"/>
                </a:solidFill>
                <a:effectLst/>
                <a:uFillTx/>
                <a:latin typeface="Plus Jakarta Sans"/>
              </a:rPr>
              <a:t>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5" descr="image.png"/>
          <p:cNvPicPr/>
          <p:nvPr/>
        </p:nvPicPr>
        <p:blipFill>
          <a:blip r:embed="rId4"/>
          <a:stretch/>
        </p:blipFill>
        <p:spPr>
          <a:xfrm>
            <a:off x="609480" y="5100840"/>
            <a:ext cx="18072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6"/>
          <p:cNvSpPr/>
          <p:nvPr/>
        </p:nvSpPr>
        <p:spPr>
          <a:xfrm>
            <a:off x="876240" y="230472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15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La Postura Estadounidense (64 Bytes)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76240" y="2704680"/>
            <a:ext cx="47574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Los operadores de EE. UU. (Bell Labs, ANSI) priorizaban el transporte eficiente de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datos computacionales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(Datacom). Paquetes IP grandes exigían cargas útiles mayores para minimizar el encabezado.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876240" y="3763800"/>
            <a:ext cx="47574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Un tamaño de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64 bytes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representaba un balance óptimo entre sobrecarga (overhead) y granularidad, permitiendo alta tasa de transferencia de datos.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6558120" y="230472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15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La Postura Europea (32 Bytes)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6558120" y="2704680"/>
            <a:ext cx="47574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Las operadoras europeas (CNET Francia, Telcos) priorizaban la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telefonía vocal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. A 64 kbps (PCM), llenar 64 bytes tardaba 8 ms, requiriendo canceladores de eco costosos en distancias cortas continentales.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6558120" y="3763800"/>
            <a:ext cx="4757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Europa exigía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32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bytes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(4 ms de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buffer) para eliminar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la necesidad de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canceladores de eco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y garantizar latencia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imperceptible.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12" descr="image.png"/>
          <p:cNvPicPr/>
          <p:nvPr/>
        </p:nvPicPr>
        <p:blipFill>
          <a:blip r:embed="rId5"/>
          <a:stretch/>
        </p:blipFill>
        <p:spPr>
          <a:xfrm>
            <a:off x="876240" y="2333160"/>
            <a:ext cx="205200" cy="20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3" descr="image.png"/>
          <p:cNvPicPr/>
          <p:nvPr/>
        </p:nvPicPr>
        <p:blipFill>
          <a:blip r:embed="rId6"/>
          <a:stretch/>
        </p:blipFill>
        <p:spPr>
          <a:xfrm>
            <a:off x="6558120" y="2333160"/>
            <a:ext cx="20520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14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El Gran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Debate: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¿Por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qué 48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Bytes de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Carga?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5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2" descr="image.png"/>
          <p:cNvPicPr/>
          <p:nvPr/>
        </p:nvPicPr>
        <p:blipFill>
          <a:blip r:embed="rId2"/>
          <a:stretch/>
        </p:blipFill>
        <p:spPr>
          <a:xfrm>
            <a:off x="58104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3" descr="image.png"/>
          <p:cNvPicPr/>
          <p:nvPr/>
        </p:nvPicPr>
        <p:blipFill>
          <a:blip r:embed="rId3"/>
          <a:stretch/>
        </p:blipFill>
        <p:spPr>
          <a:xfrm>
            <a:off x="433692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4" descr="image.png"/>
          <p:cNvPicPr/>
          <p:nvPr/>
        </p:nvPicPr>
        <p:blipFill>
          <a:blip r:embed="rId4"/>
          <a:stretch/>
        </p:blipFill>
        <p:spPr>
          <a:xfrm>
            <a:off x="809280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Box 5"/>
          <p:cNvSpPr/>
          <p:nvPr/>
        </p:nvSpPr>
        <p:spPr>
          <a:xfrm>
            <a:off x="819000" y="3401640"/>
            <a:ext cx="319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Conmutación en Hardware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819000" y="3735000"/>
            <a:ext cx="30412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En 1990, los routers IP basados en CPU colapsaban a más de 100 Mbps. ATM permitía que conmutadores basados en silicio (ASICs y matrices Crossbar) conmutaran celdas a velocidad de línea mediante etiquetas fijas.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4575240" y="3401640"/>
            <a:ext cx="319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Latencia y Jitter Deterministas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4575240" y="3735000"/>
            <a:ext cx="30412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Un paquete IP de 1500 bytes bloqueaba la línea durante milisegundos. Las celdas pequeñas de 53 bytes permitían intercalar voz y video sin sufrir jitter provocado por ráfagas pesadas de datos.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8331120" y="3401640"/>
            <a:ext cx="31935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Multiplexación Estadística (ATDM)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8331120" y="3735000"/>
            <a:ext cx="30412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A diferencia de TDM tradicional (ranuras fijas vacías cuando no hay habla), ATM asigna slots dinámicamente bajo demanda, multiplicando la eficiencia espectral de los enlaces de fibra óptica.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11" descr="image.png"/>
          <p:cNvPicPr/>
          <p:nvPr/>
        </p:nvPicPr>
        <p:blipFill>
          <a:blip r:embed="rId5"/>
          <a:stretch/>
        </p:blipFill>
        <p:spPr>
          <a:xfrm>
            <a:off x="819000" y="2916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2" descr="image.png"/>
          <p:cNvPicPr/>
          <p:nvPr/>
        </p:nvPicPr>
        <p:blipFill>
          <a:blip r:embed="rId6"/>
          <a:stretch/>
        </p:blipFill>
        <p:spPr>
          <a:xfrm>
            <a:off x="4575240" y="2916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13" descr="image.png"/>
          <p:cNvPicPr/>
          <p:nvPr/>
        </p:nvPicPr>
        <p:blipFill>
          <a:blip r:embed="rId7"/>
          <a:stretch/>
        </p:blipFill>
        <p:spPr>
          <a:xfrm>
            <a:off x="8331120" y="2916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14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Problemas Críticos que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Resolvía ATM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5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Picture 2" descr="image.png"/>
          <p:cNvPicPr/>
          <p:nvPr/>
        </p:nvPicPr>
        <p:blipFill>
          <a:blip r:embed="rId2"/>
          <a:stretch/>
        </p:blipFill>
        <p:spPr>
          <a:xfrm>
            <a:off x="581040" y="2767680"/>
            <a:ext cx="3428640" cy="21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3"/>
          <p:cNvSpPr/>
          <p:nvPr/>
        </p:nvSpPr>
        <p:spPr>
          <a:xfrm>
            <a:off x="781200" y="3110400"/>
            <a:ext cx="302868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6749"/>
              </a:lnSpc>
            </a:pPr>
            <a:r>
              <a:rPr lang="en-US" sz="67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53</a:t>
            </a:r>
            <a:endParaRPr lang="en-US" sz="6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781200" y="4062960"/>
            <a:ext cx="30286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 SemiBold"/>
              </a:rPr>
              <a:t>BYTES TOTALES POR CELDA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"/>
          <p:cNvSpPr/>
          <p:nvPr/>
        </p:nvSpPr>
        <p:spPr>
          <a:xfrm>
            <a:off x="781200" y="4406040"/>
            <a:ext cx="3028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+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4390920" y="1266840"/>
            <a:ext cx="75805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Campos del </a:t>
            </a: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Encabezado </a:t>
            </a:r>
            <a:r>
              <a:rPr lang="en-US" sz="165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(UNI vs NNI)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7" descr="image.png"/>
          <p:cNvPicPr/>
          <p:nvPr/>
        </p:nvPicPr>
        <p:blipFill>
          <a:blip r:embed="rId3"/>
          <a:stretch/>
        </p:blipFill>
        <p:spPr>
          <a:xfrm>
            <a:off x="1190520" y="4406040"/>
            <a:ext cx="110448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8" descr="image.png"/>
          <p:cNvPicPr/>
          <p:nvPr/>
        </p:nvPicPr>
        <p:blipFill>
          <a:blip r:embed="rId4"/>
          <a:stretch/>
        </p:blipFill>
        <p:spPr>
          <a:xfrm>
            <a:off x="2409840" y="4406040"/>
            <a:ext cx="990360" cy="2188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6" name="Table 9"/>
          <p:cNvGraphicFramePr/>
          <p:nvPr/>
        </p:nvGraphicFramePr>
        <p:xfrm>
          <a:off x="4390920" y="1647720"/>
          <a:ext cx="7210080" cy="4820760"/>
        </p:xfrm>
        <a:graphic>
          <a:graphicData uri="http://schemas.openxmlformats.org/drawingml/2006/table">
            <a:tbl>
              <a:tblPr/>
              <a:tblGrid>
                <a:gridCol w="1916280"/>
                <a:gridCol w="920520"/>
                <a:gridCol w="4372920"/>
              </a:tblGrid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Campo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Bits (UNI)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Propósito y Función Técnica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GFC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(Generic Flow Control)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4 bits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Control de flujo local en interfaz de usuario (se reemplaza por VPI en NNI).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VPI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(Virtual Path Identifier)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8 bits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Identifica el haz o trayectoria virtual que agrupa múltiples canales.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VCI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(Virtual Channel Identifier)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16 bits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Identifica el canal virtual individual extremo a extremo dentro del VPI.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PT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(Payload Type)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3 bits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Distingue datos de usuario, señalización OAM y congestión (EFCI).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CLP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(Cell Loss Priority)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1 bit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Si está en 1, indica celda descartable en caso de congestión en el switch.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868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HEC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(Header Error Control)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8 bits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Polinomio generador CRC-8 para corrección de 1 bit y sincronización de trama.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7" name="Rectangle 10"/>
          <p:cNvSpPr/>
          <p:nvPr/>
        </p:nvSpPr>
        <p:spPr>
          <a:xfrm>
            <a:off x="4395960" y="234324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1"/>
          <p:cNvSpPr/>
          <p:nvPr/>
        </p:nvSpPr>
        <p:spPr>
          <a:xfrm>
            <a:off x="6312240" y="234324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12"/>
          <p:cNvSpPr/>
          <p:nvPr/>
        </p:nvSpPr>
        <p:spPr>
          <a:xfrm>
            <a:off x="7233120" y="234324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3"/>
          <p:cNvSpPr/>
          <p:nvPr/>
        </p:nvSpPr>
        <p:spPr>
          <a:xfrm>
            <a:off x="4395960" y="302832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4"/>
          <p:cNvSpPr/>
          <p:nvPr/>
        </p:nvSpPr>
        <p:spPr>
          <a:xfrm>
            <a:off x="6312240" y="302832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15"/>
          <p:cNvSpPr/>
          <p:nvPr/>
        </p:nvSpPr>
        <p:spPr>
          <a:xfrm>
            <a:off x="7233120" y="302832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16"/>
          <p:cNvSpPr/>
          <p:nvPr/>
        </p:nvSpPr>
        <p:spPr>
          <a:xfrm>
            <a:off x="4395960" y="371340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17"/>
          <p:cNvSpPr/>
          <p:nvPr/>
        </p:nvSpPr>
        <p:spPr>
          <a:xfrm>
            <a:off x="6312240" y="371340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18"/>
          <p:cNvSpPr/>
          <p:nvPr/>
        </p:nvSpPr>
        <p:spPr>
          <a:xfrm>
            <a:off x="7233120" y="371340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9"/>
          <p:cNvSpPr/>
          <p:nvPr/>
        </p:nvSpPr>
        <p:spPr>
          <a:xfrm>
            <a:off x="4395960" y="439884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20"/>
          <p:cNvSpPr/>
          <p:nvPr/>
        </p:nvSpPr>
        <p:spPr>
          <a:xfrm>
            <a:off x="6312240" y="439884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1"/>
          <p:cNvSpPr/>
          <p:nvPr/>
        </p:nvSpPr>
        <p:spPr>
          <a:xfrm>
            <a:off x="7233120" y="439884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22"/>
          <p:cNvSpPr/>
          <p:nvPr/>
        </p:nvSpPr>
        <p:spPr>
          <a:xfrm>
            <a:off x="4395960" y="508392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23"/>
          <p:cNvSpPr/>
          <p:nvPr/>
        </p:nvSpPr>
        <p:spPr>
          <a:xfrm>
            <a:off x="6312240" y="508392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4"/>
          <p:cNvSpPr/>
          <p:nvPr/>
        </p:nvSpPr>
        <p:spPr>
          <a:xfrm>
            <a:off x="7233120" y="508392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25"/>
          <p:cNvSpPr/>
          <p:nvPr/>
        </p:nvSpPr>
        <p:spPr>
          <a:xfrm>
            <a:off x="4395960" y="5769000"/>
            <a:ext cx="191628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6"/>
          <p:cNvSpPr/>
          <p:nvPr/>
        </p:nvSpPr>
        <p:spPr>
          <a:xfrm>
            <a:off x="6312240" y="5769000"/>
            <a:ext cx="9205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27"/>
          <p:cNvSpPr/>
          <p:nvPr/>
        </p:nvSpPr>
        <p:spPr>
          <a:xfrm>
            <a:off x="7233120" y="5769000"/>
            <a:ext cx="43725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8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Estructura de la Celda: 53 Bytes Fijos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29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2" descr="image.png"/>
          <p:cNvPicPr/>
          <p:nvPr/>
        </p:nvPicPr>
        <p:blipFill>
          <a:blip r:embed="rId2"/>
          <a:stretch/>
        </p:blipFill>
        <p:spPr>
          <a:xfrm>
            <a:off x="581040" y="2226960"/>
            <a:ext cx="5347800" cy="31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3" descr="image.png"/>
          <p:cNvPicPr/>
          <p:nvPr/>
        </p:nvPicPr>
        <p:blipFill>
          <a:blip r:embed="rId3"/>
          <a:stretch/>
        </p:blipFill>
        <p:spPr>
          <a:xfrm>
            <a:off x="6262560" y="2226960"/>
            <a:ext cx="5347800" cy="318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4"/>
          <p:cNvSpPr/>
          <p:nvPr/>
        </p:nvSpPr>
        <p:spPr>
          <a:xfrm>
            <a:off x="876240" y="250344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Planos del Modelo de Red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876240" y="2903400"/>
            <a:ext cx="4757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ATM definió una estructura tridimensional de planos independientes: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6"/>
          <p:cNvSpPr/>
          <p:nvPr/>
        </p:nvSpPr>
        <p:spPr>
          <a:xfrm>
            <a:off x="6558120" y="250344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Capas de Adaptación (AAL)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7"/>
          <p:cNvSpPr/>
          <p:nvPr/>
        </p:nvSpPr>
        <p:spPr>
          <a:xfrm>
            <a:off x="6558120" y="2903400"/>
            <a:ext cx="4757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Traducen protocolos superiores a celdas de 48 bytes: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8"/>
          <p:cNvSpPr/>
          <p:nvPr/>
        </p:nvSpPr>
        <p:spPr>
          <a:xfrm>
            <a:off x="981000" y="348912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1066680" y="3489840"/>
            <a:ext cx="45669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Plano de Usuario: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Transferencia transparente de información de aplicación con control de flujo y errores.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981000" y="403776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1"/>
          <p:cNvSpPr/>
          <p:nvPr/>
        </p:nvSpPr>
        <p:spPr>
          <a:xfrm>
            <a:off x="1066680" y="4038480"/>
            <a:ext cx="45669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Plano de Control: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Establecimiento, mantenimiento y liberación de conexiones mediante señalización (Q.2931).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2"/>
          <p:cNvSpPr/>
          <p:nvPr/>
        </p:nvSpPr>
        <p:spPr>
          <a:xfrm>
            <a:off x="981000" y="458640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3"/>
          <p:cNvSpPr/>
          <p:nvPr/>
        </p:nvSpPr>
        <p:spPr>
          <a:xfrm>
            <a:off x="1066680" y="4587120"/>
            <a:ext cx="45669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Plano de Gestión: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Supervisión de fallos, rendimiento y operación (OAM).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6662880" y="325296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5"/>
          <p:cNvSpPr/>
          <p:nvPr/>
        </p:nvSpPr>
        <p:spPr>
          <a:xfrm>
            <a:off x="6748560" y="3253680"/>
            <a:ext cx="45669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AAL1: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Emulación de circuitos T1/E1, voz PCM (CBR síncrono).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6"/>
          <p:cNvSpPr/>
          <p:nvPr/>
        </p:nvSpPr>
        <p:spPr>
          <a:xfrm>
            <a:off x="6662880" y="374544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6748560" y="3710160"/>
            <a:ext cx="45669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AAL2: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Voz comprimida con tasa de bits variable (VBR en tiempo real).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18"/>
          <p:cNvSpPr/>
          <p:nvPr/>
        </p:nvSpPr>
        <p:spPr>
          <a:xfrm>
            <a:off x="6662880" y="4257720"/>
            <a:ext cx="853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•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9"/>
          <p:cNvSpPr/>
          <p:nvPr/>
        </p:nvSpPr>
        <p:spPr>
          <a:xfrm>
            <a:off x="6748560" y="4222800"/>
            <a:ext cx="45669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568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AAL5 (SEAL):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Capa ultra-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simplificada para tráfico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IP/Ethernet, eliminando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sobrecargas intermedias.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El Modelo de Referencia ATM &amp; AAL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1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2"/>
          <p:cNvSpPr/>
          <p:nvPr/>
        </p:nvSpPr>
        <p:spPr>
          <a:xfrm>
            <a:off x="581040" y="5798520"/>
            <a:ext cx="11029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627"/>
              </a:lnSpc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El algoritmo </a:t>
            </a:r>
            <a:r>
              <a:rPr lang="en-US" sz="105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GCRA (Generic Cell Rate Algorithm / Leaky Bucket)</a:t>
            </a: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 evaluaba en tiempo real el cumplimiento del contrato de tráfico (UPC).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0" name="Table 3"/>
          <p:cNvGraphicFramePr/>
          <p:nvPr/>
        </p:nvGraphicFramePr>
        <p:xfrm>
          <a:off x="581040" y="1519920"/>
          <a:ext cx="11019960" cy="4135320"/>
        </p:xfrm>
        <a:graphic>
          <a:graphicData uri="http://schemas.openxmlformats.org/drawingml/2006/table">
            <a:tbl>
              <a:tblPr/>
              <a:tblGrid>
                <a:gridCol w="2170440"/>
                <a:gridCol w="3100320"/>
                <a:gridCol w="2470680"/>
                <a:gridCol w="3278520"/>
              </a:tblGrid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Categoría ATM Forum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Garantías de Ancho de Banda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Métricas de Retardo (CTD / CDV)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Aplicaciones Típicas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</a:tr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Plus Jakarta Sans"/>
                        </a:rPr>
                        <a:t>CBR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(Constant Bit Rate)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Reserva estricta (PCR garantizado)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Mínimo retardo y variación casi nula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Telefonía fija, audio sin compresión, TDM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4ADE80"/>
                          </a:solidFill>
                          <a:effectLst/>
                          <a:uFillTx/>
                          <a:latin typeface="Plus Jakarta Sans"/>
                        </a:rPr>
                        <a:t>rt-VBR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(Real-Time Variable)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Reserva de tasa media (SCR) y pico (PCR)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Límites estrictos de retardo (CDV)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Videoconferencia interactiva, streaming H.261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FBBF24"/>
                          </a:solidFill>
                          <a:effectLst/>
                          <a:uFillTx/>
                          <a:latin typeface="Plus Jakarta Sans"/>
                        </a:rPr>
                        <a:t>nrt-VBR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(Non-Real-Time VBR)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Garantía de ancho de banda promedio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Sin garantías críticas de retardo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Transacciones bancarias, bases de datos SQL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084FC"/>
                          </a:solidFill>
                          <a:effectLst/>
                          <a:uFillTx/>
                          <a:latin typeface="Plus Jakarta Sans"/>
                        </a:rPr>
                        <a:t>ABR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(Available Bit Rate)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Tasa mínima (MCR) + adaptación por feedback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No garantizado (baja pérdida)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Transferencia LAN a LAN, tráfico TCP/IP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90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94A3B8"/>
                          </a:solidFill>
                          <a:effectLst/>
                          <a:uFillTx/>
                          <a:latin typeface="Plus Jakarta Sans"/>
                        </a:rPr>
                        <a:t>UBR</a:t>
                      </a: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 (Unspecified Bit Rate)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Best-effort (sin reserva alguna)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Sin garantías de pérdida ni retardo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Navegación web, transferencias de archivos FTP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1" name="Rectangle 4"/>
          <p:cNvSpPr/>
          <p:nvPr/>
        </p:nvSpPr>
        <p:spPr>
          <a:xfrm>
            <a:off x="585720" y="2215080"/>
            <a:ext cx="217044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5"/>
          <p:cNvSpPr/>
          <p:nvPr/>
        </p:nvSpPr>
        <p:spPr>
          <a:xfrm>
            <a:off x="2756520" y="2215080"/>
            <a:ext cx="30999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6"/>
          <p:cNvSpPr/>
          <p:nvPr/>
        </p:nvSpPr>
        <p:spPr>
          <a:xfrm>
            <a:off x="5856840" y="2215080"/>
            <a:ext cx="24703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7"/>
          <p:cNvSpPr/>
          <p:nvPr/>
        </p:nvSpPr>
        <p:spPr>
          <a:xfrm>
            <a:off x="8327520" y="2215080"/>
            <a:ext cx="32781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585720" y="2900520"/>
            <a:ext cx="217044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9"/>
          <p:cNvSpPr/>
          <p:nvPr/>
        </p:nvSpPr>
        <p:spPr>
          <a:xfrm>
            <a:off x="2756520" y="2900520"/>
            <a:ext cx="30999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10"/>
          <p:cNvSpPr/>
          <p:nvPr/>
        </p:nvSpPr>
        <p:spPr>
          <a:xfrm>
            <a:off x="5856840" y="2900520"/>
            <a:ext cx="24703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11"/>
          <p:cNvSpPr/>
          <p:nvPr/>
        </p:nvSpPr>
        <p:spPr>
          <a:xfrm>
            <a:off x="8327520" y="2900520"/>
            <a:ext cx="32781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585720" y="3585600"/>
            <a:ext cx="217044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13"/>
          <p:cNvSpPr/>
          <p:nvPr/>
        </p:nvSpPr>
        <p:spPr>
          <a:xfrm>
            <a:off x="2756520" y="3585600"/>
            <a:ext cx="30999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14"/>
          <p:cNvSpPr/>
          <p:nvPr/>
        </p:nvSpPr>
        <p:spPr>
          <a:xfrm>
            <a:off x="5856840" y="3585600"/>
            <a:ext cx="24703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15"/>
          <p:cNvSpPr/>
          <p:nvPr/>
        </p:nvSpPr>
        <p:spPr>
          <a:xfrm>
            <a:off x="8327520" y="3585600"/>
            <a:ext cx="32781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16"/>
          <p:cNvSpPr/>
          <p:nvPr/>
        </p:nvSpPr>
        <p:spPr>
          <a:xfrm>
            <a:off x="585720" y="4270680"/>
            <a:ext cx="217044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7"/>
          <p:cNvSpPr/>
          <p:nvPr/>
        </p:nvSpPr>
        <p:spPr>
          <a:xfrm>
            <a:off x="2756520" y="4270680"/>
            <a:ext cx="30999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18"/>
          <p:cNvSpPr/>
          <p:nvPr/>
        </p:nvSpPr>
        <p:spPr>
          <a:xfrm>
            <a:off x="5856840" y="4270680"/>
            <a:ext cx="24703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19"/>
          <p:cNvSpPr/>
          <p:nvPr/>
        </p:nvSpPr>
        <p:spPr>
          <a:xfrm>
            <a:off x="8327520" y="4270680"/>
            <a:ext cx="32781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20"/>
          <p:cNvSpPr/>
          <p:nvPr/>
        </p:nvSpPr>
        <p:spPr>
          <a:xfrm>
            <a:off x="585720" y="4956120"/>
            <a:ext cx="217044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1"/>
          <p:cNvSpPr/>
          <p:nvPr/>
        </p:nvSpPr>
        <p:spPr>
          <a:xfrm>
            <a:off x="2756520" y="4956120"/>
            <a:ext cx="30999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2"/>
          <p:cNvSpPr/>
          <p:nvPr/>
        </p:nvSpPr>
        <p:spPr>
          <a:xfrm>
            <a:off x="5856840" y="4956120"/>
            <a:ext cx="24703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23"/>
          <p:cNvSpPr/>
          <p:nvPr/>
        </p:nvSpPr>
        <p:spPr>
          <a:xfrm>
            <a:off x="8327520" y="4956120"/>
            <a:ext cx="32781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4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Calidad de Servicio (QoS): Contratos de Tráfico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25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2" descr="image.png"/>
          <p:cNvPicPr/>
          <p:nvPr/>
        </p:nvPicPr>
        <p:blipFill>
          <a:blip r:embed="rId2"/>
          <a:stretch/>
        </p:blipFill>
        <p:spPr>
          <a:xfrm>
            <a:off x="581040" y="2286720"/>
            <a:ext cx="5347800" cy="306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3" descr="image.png"/>
          <p:cNvPicPr/>
          <p:nvPr/>
        </p:nvPicPr>
        <p:blipFill>
          <a:blip r:embed="rId3"/>
          <a:stretch/>
        </p:blipFill>
        <p:spPr>
          <a:xfrm>
            <a:off x="6262560" y="2286720"/>
            <a:ext cx="5347800" cy="30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4"/>
          <p:cNvSpPr/>
          <p:nvPr/>
        </p:nvSpPr>
        <p:spPr>
          <a:xfrm>
            <a:off x="876240" y="256284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Conexión Orientada a Circuitos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5"/>
          <p:cNvSpPr/>
          <p:nvPr/>
        </p:nvSpPr>
        <p:spPr>
          <a:xfrm>
            <a:off x="876240" y="2963160"/>
            <a:ext cx="47574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 diferencia del datagrama IP donde cada paquete se enruta de forma independiente, ATM requiere el establecimiento previo de una ruta lógica: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6"/>
          <p:cNvSpPr/>
          <p:nvPr/>
        </p:nvSpPr>
        <p:spPr>
          <a:xfrm>
            <a:off x="876240" y="3785760"/>
            <a:ext cx="4757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PVC (Permanent Virtual </a:t>
            </a: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Circuit):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Circuitos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estáticos aprovisionados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manualmente por los 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operadores de red.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7"/>
          <p:cNvSpPr/>
          <p:nvPr/>
        </p:nvSpPr>
        <p:spPr>
          <a:xfrm>
            <a:off x="876240" y="4372560"/>
            <a:ext cx="4757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SVC (Switched Virtual Circuit):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Circuitos dinámicos señalizados en milisegundos mediante el protocolo </a:t>
            </a:r>
            <a:r>
              <a:rPr lang="en-US" sz="120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Q.2931 / UNI Signaling</a:t>
            </a: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8"/>
          <p:cNvSpPr/>
          <p:nvPr/>
        </p:nvSpPr>
        <p:spPr>
          <a:xfrm>
            <a:off x="6558120" y="2562840"/>
            <a:ext cx="49953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Traducción de VPI / VCI en Switches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9"/>
          <p:cNvSpPr/>
          <p:nvPr/>
        </p:nvSpPr>
        <p:spPr>
          <a:xfrm>
            <a:off x="6558120" y="2963160"/>
            <a:ext cx="475740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Los conmutadores ATM no inspeccionan direcciones globales (como una IP de 32 bits). Poseen una tabla de reenvío indexada en hardware: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10" descr="image.png"/>
          <p:cNvPicPr/>
          <p:nvPr/>
        </p:nvPicPr>
        <p:blipFill>
          <a:blip r:embed="rId4"/>
          <a:stretch/>
        </p:blipFill>
        <p:spPr>
          <a:xfrm>
            <a:off x="6558120" y="3785760"/>
            <a:ext cx="4757400" cy="58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Box 11"/>
          <p:cNvSpPr/>
          <p:nvPr/>
        </p:nvSpPr>
        <p:spPr>
          <a:xfrm>
            <a:off x="6558120" y="4489200"/>
            <a:ext cx="475740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Esto permitía una conmutación en nanosegundos sin cuellos de botella algorítmicos.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2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Conmutación y Circuitos Virtuales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3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Box 2"/>
          <p:cNvSpPr/>
          <p:nvPr/>
        </p:nvSpPr>
        <p:spPr>
          <a:xfrm>
            <a:off x="485640" y="485640"/>
            <a:ext cx="6600960" cy="3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Despliegue e Implementación Real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485640" y="1009800"/>
            <a:ext cx="541944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457200" y="2065680"/>
            <a:ext cx="54194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Aunque los usuarios finales rara vez veían tarjetas ATM en sus PCs, ATM 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fue el </a:t>
            </a: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núcleo indispensable de las telecomunicaciones mundiales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durante 15 años: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1895760" y="3429000"/>
            <a:ext cx="541944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Acceso ADSL (PPPoA / RFC 2364):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Todos los primeros módems DSL encapsulaban datos IP en celdas ATM hasta el DSLAM de la central telefónica.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3953160" y="4557240"/>
            <a:ext cx="54194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Backbones de Telefonía Móvil (2G/3G):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Las estaciones base conectaban con el RNC (Radio Network Controller) a través de enlaces ATM AAL2/AAL5.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6172200" y="5486400"/>
            <a:ext cx="541944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16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Redes WAN Interurbanas:</a:t>
            </a:r>
            <a:r>
              <a:rPr lang="en-US" sz="116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Telcos globales como AT&amp;T, MCI, Telefónica y BT usaron ATM sobre SONET/SDH como red troncal multiservicio.</a:t>
            </a:r>
            <a:endParaRPr lang="en-US" sz="11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2" descr="image.png"/>
          <p:cNvPicPr/>
          <p:nvPr/>
        </p:nvPicPr>
        <p:blipFill>
          <a:blip r:embed="rId2"/>
          <a:stretch/>
        </p:blipFill>
        <p:spPr>
          <a:xfrm>
            <a:off x="581040" y="1266840"/>
            <a:ext cx="11029680" cy="51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Box 3"/>
          <p:cNvSpPr/>
          <p:nvPr/>
        </p:nvSpPr>
        <p:spPr>
          <a:xfrm>
            <a:off x="581040" y="4550040"/>
            <a:ext cx="1102968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860"/>
              </a:lnSpc>
            </a:pPr>
            <a:r>
              <a:rPr lang="en-US" sz="1200" b="1" i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El Fenómeno del "Cell Tax" (Impuesto de Celda):</a:t>
            </a:r>
            <a:r>
              <a:rPr lang="en-US" sz="120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Empaquetar un paquete TCP ACK de 40 bytes en dos celdas ATM de 53 bytes (106 bytes totales) representaba un desperdicio de más del 60% del ancho de banda.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El Declive: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"Cell Tax"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y 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Desperdici</a:t>
            </a: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o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Table 2"/>
          <p:cNvGraphicFramePr/>
          <p:nvPr/>
        </p:nvGraphicFramePr>
        <p:xfrm>
          <a:off x="581040" y="1965600"/>
          <a:ext cx="11018880" cy="3706200"/>
        </p:xfrm>
        <a:graphic>
          <a:graphicData uri="http://schemas.openxmlformats.org/drawingml/2006/table">
            <a:tbl>
              <a:tblPr/>
              <a:tblGrid>
                <a:gridCol w="1715760"/>
                <a:gridCol w="2739600"/>
                <a:gridCol w="3444120"/>
                <a:gridCol w="3119760"/>
              </a:tblGrid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Criterio Técnico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Asynchronous Transfer Mode (ATM)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IP + MPLS (Multiprotocol Label Switching)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38BDF8"/>
                          </a:solidFill>
                          <a:effectLst/>
                          <a:uFillTx/>
                          <a:latin typeface="Space Grotesk"/>
                        </a:rPr>
                        <a:t>Gigabit Ethernet (IEEE 802.3z)</a:t>
                      </a:r>
                      <a:endParaRPr lang="en-US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62035"/>
                    </a:solidFill>
                  </a:tcPr>
                </a:tc>
              </a:tr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Unidad de Datos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Celda fija de 53 bytes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Paquete variable etiquetado (Shim Header 4B)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Trama variable (64 a 1518 bytes)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Conmutación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Hardware estricto (VPI/VCI)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Hardware de etiquetas en router (FIB/ASIC)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Hardware de direcciones MAC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Costo / Complejidad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Muy alto (pila compleja, LANE, MPOA)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Moderado (aprovecha la infraestructura IP)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Extremadamente bajo (plug-and-play)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QoS Nativa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Determinista, garantizada por celda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Clases DiffServ + RSVP-TE con ingeniería de tráfico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Prioridades CoS (802.1p) / Best-effort</a:t>
                      </a:r>
                      <a:endParaRPr lang="en-US" sz="109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76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1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Veredicto Histórico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Confinado a legados y reemplazado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Estándar dominante en Carrier Core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090" b="0" u="none" strike="noStrike">
                          <a:solidFill>
                            <a:srgbClr val="CBD5E1"/>
                          </a:solidFill>
                          <a:effectLst/>
                          <a:uFillTx/>
                          <a:latin typeface="Plus Jakarta Sans"/>
                        </a:rPr>
                        <a:t>Estándar dominante en LAN y Metro Ethernet</a:t>
                      </a:r>
                      <a:endParaRPr lang="en-US" sz="109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9" name="Rectangle 3"/>
          <p:cNvSpPr/>
          <p:nvPr/>
        </p:nvSpPr>
        <p:spPr>
          <a:xfrm>
            <a:off x="585720" y="2661120"/>
            <a:ext cx="1715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4"/>
          <p:cNvSpPr/>
          <p:nvPr/>
        </p:nvSpPr>
        <p:spPr>
          <a:xfrm>
            <a:off x="2301840" y="2661120"/>
            <a:ext cx="273960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ectangle 5"/>
          <p:cNvSpPr/>
          <p:nvPr/>
        </p:nvSpPr>
        <p:spPr>
          <a:xfrm>
            <a:off x="5041800" y="2661120"/>
            <a:ext cx="34441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6"/>
          <p:cNvSpPr/>
          <p:nvPr/>
        </p:nvSpPr>
        <p:spPr>
          <a:xfrm>
            <a:off x="8486280" y="2661120"/>
            <a:ext cx="3119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7"/>
          <p:cNvSpPr/>
          <p:nvPr/>
        </p:nvSpPr>
        <p:spPr>
          <a:xfrm>
            <a:off x="585720" y="3132360"/>
            <a:ext cx="1715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8"/>
          <p:cNvSpPr/>
          <p:nvPr/>
        </p:nvSpPr>
        <p:spPr>
          <a:xfrm>
            <a:off x="2301840" y="3132360"/>
            <a:ext cx="273960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9"/>
          <p:cNvSpPr/>
          <p:nvPr/>
        </p:nvSpPr>
        <p:spPr>
          <a:xfrm>
            <a:off x="5041800" y="3132360"/>
            <a:ext cx="34441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0"/>
          <p:cNvSpPr/>
          <p:nvPr/>
        </p:nvSpPr>
        <p:spPr>
          <a:xfrm>
            <a:off x="8486280" y="3132360"/>
            <a:ext cx="3119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Rectangle 15"/>
          <p:cNvSpPr/>
          <p:nvPr/>
        </p:nvSpPr>
        <p:spPr>
          <a:xfrm>
            <a:off x="585720" y="4288680"/>
            <a:ext cx="1715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6"/>
          <p:cNvSpPr/>
          <p:nvPr/>
        </p:nvSpPr>
        <p:spPr>
          <a:xfrm>
            <a:off x="2301840" y="4288680"/>
            <a:ext cx="273960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17"/>
          <p:cNvSpPr/>
          <p:nvPr/>
        </p:nvSpPr>
        <p:spPr>
          <a:xfrm>
            <a:off x="5041800" y="4288680"/>
            <a:ext cx="34441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18"/>
          <p:cNvSpPr/>
          <p:nvPr/>
        </p:nvSpPr>
        <p:spPr>
          <a:xfrm>
            <a:off x="8486280" y="4288680"/>
            <a:ext cx="3119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19"/>
          <p:cNvSpPr/>
          <p:nvPr/>
        </p:nvSpPr>
        <p:spPr>
          <a:xfrm>
            <a:off x="585720" y="4973760"/>
            <a:ext cx="1715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Rectangle 20"/>
          <p:cNvSpPr/>
          <p:nvPr/>
        </p:nvSpPr>
        <p:spPr>
          <a:xfrm>
            <a:off x="2301840" y="4973760"/>
            <a:ext cx="273960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21"/>
          <p:cNvSpPr/>
          <p:nvPr/>
        </p:nvSpPr>
        <p:spPr>
          <a:xfrm>
            <a:off x="5041800" y="4973760"/>
            <a:ext cx="344412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22"/>
          <p:cNvSpPr/>
          <p:nvPr/>
        </p:nvSpPr>
        <p:spPr>
          <a:xfrm>
            <a:off x="8486280" y="4973760"/>
            <a:ext cx="3119760" cy="9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3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Batalla Tecnológica de los 90s y 2000s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24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2" descr="image.png"/>
          <p:cNvPicPr/>
          <p:nvPr/>
        </p:nvPicPr>
        <p:blipFill>
          <a:blip r:embed="rId2"/>
          <a:stretch/>
        </p:blipFill>
        <p:spPr>
          <a:xfrm>
            <a:off x="58104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3" descr="image.png"/>
          <p:cNvPicPr/>
          <p:nvPr/>
        </p:nvPicPr>
        <p:blipFill>
          <a:blip r:embed="rId3"/>
          <a:stretch/>
        </p:blipFill>
        <p:spPr>
          <a:xfrm>
            <a:off x="433692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4" descr="image.png"/>
          <p:cNvPicPr/>
          <p:nvPr/>
        </p:nvPicPr>
        <p:blipFill>
          <a:blip r:embed="rId4"/>
          <a:stretch/>
        </p:blipFill>
        <p:spPr>
          <a:xfrm>
            <a:off x="8092800" y="2630160"/>
            <a:ext cx="3517560" cy="237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Box 5"/>
          <p:cNvSpPr/>
          <p:nvPr/>
        </p:nvSpPr>
        <p:spPr>
          <a:xfrm>
            <a:off x="819000" y="3401640"/>
            <a:ext cx="319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Génesis de MPLS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6"/>
          <p:cNvSpPr/>
          <p:nvPr/>
        </p:nvSpPr>
        <p:spPr>
          <a:xfrm>
            <a:off x="819000" y="3735000"/>
            <a:ext cx="304128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Ipsilon Networks inventó "IP Switching" en switches ATM. La IETF tomó esta idea y creó MPLS: la conmutación rápida de etiquetas sin el impuesto de celdas de 53 bytes.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4575240" y="3401640"/>
            <a:ext cx="319320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Modelos de Calidad de Servicio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8"/>
          <p:cNvSpPr/>
          <p:nvPr/>
        </p:nvSpPr>
        <p:spPr>
          <a:xfrm>
            <a:off x="4575240" y="3735000"/>
            <a:ext cx="304128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Los conceptos de Traffic Shaping, Leaky Bucket, marcado de descarte y policing que hoy rigen en 4G/5G y DiffServ fueron concebidos y perfeccionados en el ATM Forum.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9"/>
          <p:cNvSpPr/>
          <p:nvPr/>
        </p:nvSpPr>
        <p:spPr>
          <a:xfrm>
            <a:off x="8331120" y="3401640"/>
            <a:ext cx="31935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30" b="1" u="none" strike="noStrike">
                <a:solidFill>
                  <a:srgbClr val="F8FAFC"/>
                </a:solidFill>
                <a:effectLst/>
                <a:uFillTx/>
                <a:latin typeface="Space Grotesk"/>
              </a:rPr>
              <a:t>Ingeniería de Tráfico &amp; SLAs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0"/>
          <p:cNvSpPr/>
          <p:nvPr/>
        </p:nvSpPr>
        <p:spPr>
          <a:xfrm>
            <a:off x="8331120" y="3735000"/>
            <a:ext cx="3041280" cy="82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30"/>
              </a:lnSpc>
            </a:pP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ATM enseñó a la industria a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definir Acuerdos de Nivel de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Servicio (SLAs) basados en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métricas matemáticas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estrictas de retardo,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fluctuación y tasa de pérdida </a:t>
            </a:r>
            <a:r>
              <a:rPr lang="en-US" sz="1090" b="0" u="none" strike="noStrike">
                <a:solidFill>
                  <a:srgbClr val="94A3B8"/>
                </a:solidFill>
                <a:effectLst/>
                <a:uFillTx/>
                <a:latin typeface="Plus Jakarta Sans"/>
              </a:rPr>
              <a:t>de paquetes.</a:t>
            </a:r>
            <a:endParaRPr lang="en-US" sz="10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Picture 11" descr="image.png"/>
          <p:cNvPicPr/>
          <p:nvPr/>
        </p:nvPicPr>
        <p:blipFill>
          <a:blip r:embed="rId5"/>
          <a:stretch/>
        </p:blipFill>
        <p:spPr>
          <a:xfrm>
            <a:off x="819000" y="2916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Picture 12" descr="image.png"/>
          <p:cNvPicPr/>
          <p:nvPr/>
        </p:nvPicPr>
        <p:blipFill>
          <a:blip r:embed="rId6"/>
          <a:stretch/>
        </p:blipFill>
        <p:spPr>
          <a:xfrm>
            <a:off x="4575240" y="2916000"/>
            <a:ext cx="34272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13" descr="image.png"/>
          <p:cNvPicPr/>
          <p:nvPr/>
        </p:nvPicPr>
        <p:blipFill>
          <a:blip r:embed="rId7"/>
          <a:stretch/>
        </p:blipFill>
        <p:spPr>
          <a:xfrm>
            <a:off x="8331120" y="2916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TextBox 14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El Legado Permanente de ATM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5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Box 2"/>
          <p:cNvSpPr/>
          <p:nvPr/>
        </p:nvSpPr>
        <p:spPr>
          <a:xfrm>
            <a:off x="923760" y="2663280"/>
            <a:ext cx="1068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[1] M. de Prycker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</a:t>
            </a:r>
            <a:r>
              <a:rPr lang="en-US" sz="113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Asynchronous Transfer Mode: Solution for Broadband ISDN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3rd ed. London, UK: Prentice Hall International, 1995.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923760" y="3037320"/>
            <a:ext cx="1068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[2] ITU-T Recommendation I.361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</a:t>
            </a:r>
            <a:r>
              <a:rPr lang="en-US" sz="113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"B-ISDN ATM Layer Specification,"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International Telecommunication Union, Geneva, Switzerland, 1999.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923760" y="3411000"/>
            <a:ext cx="106866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[3] H. J. Chao, C. H. Lam, and E. Oki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</a:t>
            </a:r>
            <a:r>
              <a:rPr lang="en-US" sz="113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Broadband Packet Switching Technologies: A Practical Approach to ATM Switches and IP/MPLS Routers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. New York, NY, USA: Wiley-Interscience, 2001.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5"/>
          <p:cNvSpPr/>
          <p:nvPr/>
        </p:nvSpPr>
        <p:spPr>
          <a:xfrm>
            <a:off x="923760" y="4006440"/>
            <a:ext cx="10686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[4] J. Heinanen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</a:t>
            </a:r>
            <a:r>
              <a:rPr lang="en-US" sz="113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"Multiprotocol Encapsulation over ATM Adaptation Layer 5,"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RFC 1483 / RFC 2684, Internet Engineering Task Force (IETF), 1993/1999.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6"/>
          <p:cNvSpPr/>
          <p:nvPr/>
        </p:nvSpPr>
        <p:spPr>
          <a:xfrm>
            <a:off x="923760" y="4380480"/>
            <a:ext cx="106866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43"/>
              </a:lnSpc>
            </a:pPr>
            <a:r>
              <a:rPr lang="en-US" sz="1130" b="1" u="none" strike="noStrike">
                <a:solidFill>
                  <a:srgbClr val="F1F5F9"/>
                </a:solidFill>
                <a:effectLst/>
                <a:uFillTx/>
                <a:latin typeface="Plus Jakarta Sans"/>
              </a:rPr>
              <a:t>[5] E. Ayanoglu and N. Akar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, </a:t>
            </a:r>
            <a:r>
              <a:rPr lang="en-US" sz="1130" b="0" i="1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"B-ISDN (Broadband Integrated Services Digital Network),"</a:t>
            </a:r>
            <a:r>
              <a:rPr lang="en-US" sz="113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 Wiley Encyclopedia of Telecommunications, J. G. Proakis, Ed. New York: John Wiley &amp; Sons, 2003.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Picture 7" descr="image.png"/>
          <p:cNvPicPr/>
          <p:nvPr/>
        </p:nvPicPr>
        <p:blipFill>
          <a:blip r:embed="rId2"/>
          <a:stretch/>
        </p:blipFill>
        <p:spPr>
          <a:xfrm>
            <a:off x="581040" y="2687400"/>
            <a:ext cx="15192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8" descr="image.png"/>
          <p:cNvPicPr/>
          <p:nvPr/>
        </p:nvPicPr>
        <p:blipFill>
          <a:blip r:embed="rId3"/>
          <a:stretch/>
        </p:blipFill>
        <p:spPr>
          <a:xfrm>
            <a:off x="581040" y="3061080"/>
            <a:ext cx="13284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9" descr="image.png"/>
          <p:cNvPicPr/>
          <p:nvPr/>
        </p:nvPicPr>
        <p:blipFill>
          <a:blip r:embed="rId4"/>
          <a:stretch/>
        </p:blipFill>
        <p:spPr>
          <a:xfrm>
            <a:off x="581040" y="343512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10" descr="image.png"/>
          <p:cNvPicPr/>
          <p:nvPr/>
        </p:nvPicPr>
        <p:blipFill>
          <a:blip r:embed="rId5"/>
          <a:stretch/>
        </p:blipFill>
        <p:spPr>
          <a:xfrm>
            <a:off x="581040" y="4030200"/>
            <a:ext cx="132840" cy="18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Picture 11" descr="image.png"/>
          <p:cNvPicPr/>
          <p:nvPr/>
        </p:nvPicPr>
        <p:blipFill>
          <a:blip r:embed="rId6"/>
          <a:stretch/>
        </p:blipFill>
        <p:spPr>
          <a:xfrm>
            <a:off x="581040" y="4404240"/>
            <a:ext cx="171000" cy="18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Box 12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Referencias Bibliográficas (IEEE)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13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2"/>
          <p:cNvSpPr/>
          <p:nvPr/>
        </p:nvSpPr>
        <p:spPr>
          <a:xfrm>
            <a:off x="305280" y="485640"/>
            <a:ext cx="115812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¿Preguntas y Discusión?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3000240" y="1409760"/>
            <a:ext cx="619092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324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La historia de ATM nos recuerda que la elegancia teórica de una arquitectura puede sucumbir ante la simplicidad pragmática y el costo del hardware.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Rectangle 2"/>
          <p:cNvSpPr/>
          <p:nvPr/>
        </p:nvSpPr>
        <p:spPr>
          <a:xfrm>
            <a:off x="581040" y="3052800"/>
            <a:ext cx="11029680" cy="771120"/>
          </a:xfrm>
          <a:prstGeom prst="rect">
            <a:avLst/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3"/>
          <p:cNvSpPr/>
          <p:nvPr/>
        </p:nvSpPr>
        <p:spPr>
          <a:xfrm>
            <a:off x="581040" y="3814920"/>
            <a:ext cx="1102968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4"/>
          <p:cNvSpPr/>
          <p:nvPr/>
        </p:nvSpPr>
        <p:spPr>
          <a:xfrm>
            <a:off x="581040" y="3814920"/>
            <a:ext cx="11029680" cy="9000"/>
          </a:xfrm>
          <a:prstGeom prst="rect">
            <a:avLst/>
          </a:prstGeom>
          <a:solidFill>
            <a:srgbClr val="75757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1" name="Picture 5" descr="image.png"/>
          <p:cNvPicPr/>
          <p:nvPr/>
        </p:nvPicPr>
        <p:blipFill>
          <a:blip r:embed="rId2"/>
          <a:stretch/>
        </p:blipFill>
        <p:spPr>
          <a:xfrm>
            <a:off x="581040" y="319572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Box 6"/>
          <p:cNvSpPr/>
          <p:nvPr/>
        </p:nvSpPr>
        <p:spPr>
          <a:xfrm>
            <a:off x="1676520" y="3196080"/>
            <a:ext cx="99342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11"/>
              </a:lnSpc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https://it.arizona.edu/sites/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default/files/styles/az_small/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public/2024-06/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IMG_5058_0.png.webp?</a:t>
            </a: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itok=6RDUjIZ4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7"/>
          <p:cNvSpPr/>
          <p:nvPr/>
        </p:nvSpPr>
        <p:spPr>
          <a:xfrm>
            <a:off x="1676520" y="3435480"/>
            <a:ext cx="99342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60"/>
              </a:lnSpc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Plus Jakarta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Plus Jakarta Sans"/>
              </a:rPr>
              <a:t>it.arizona.edu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1"/>
          <p:cNvSpPr/>
          <p:nvPr/>
        </p:nvSpPr>
        <p:spPr>
          <a:xfrm>
            <a:off x="581040" y="485640"/>
            <a:ext cx="115812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38BDF8"/>
                </a:solidFill>
                <a:effectLst/>
                <a:uFillTx/>
                <a:latin typeface="Space Grotesk"/>
              </a:rPr>
              <a:t>Image Sources</a:t>
            </a:r>
            <a:endParaRPr lang="en-US" sz="2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2"/>
          <p:cNvSpPr/>
          <p:nvPr/>
        </p:nvSpPr>
        <p:spPr>
          <a:xfrm>
            <a:off x="581040" y="1009800"/>
            <a:ext cx="11029680" cy="18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5920" rIns="90000" bIns="-259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2026-09-01T02:04:43Z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