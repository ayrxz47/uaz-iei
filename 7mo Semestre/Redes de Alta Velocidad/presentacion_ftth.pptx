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de presentación: Introducción a la arquitectura FTTH (Fiber To The Home) para la materia de redes de alta velocidad.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28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284C7"/>
                </a:solidFill>
                <a:latin typeface="Verdana"/>
              </a:defRPr>
            </a:pPr>
            <a:r>
              <a:t>TECNOLOGÍA DE ACCESO POR FIBRA ÓPTICA</a:t>
            </a:r>
          </a:p>
          <a:p>
            <a:pPr>
              <a:spcAft>
                <a:spcPts val="1600"/>
              </a:spcAft>
              <a:defRPr sz="3600" b="1">
                <a:solidFill>
                  <a:srgbClr val="FFFFFF"/>
                </a:solidFill>
                <a:latin typeface="Georgia"/>
              </a:defRPr>
            </a:pPr>
            <a:r>
              <a:t>FTTH: La Revolución de la Luz en el Hogar</a:t>
            </a:r>
          </a:p>
          <a:p>
            <a:pPr>
              <a:defRPr sz="1600">
                <a:solidFill>
                  <a:srgbClr val="CBD5E1"/>
                </a:solidFill>
                <a:latin typeface="Verdana"/>
              </a:defRPr>
            </a:pPr>
            <a:r>
              <a:t>Origen histórico, funcionamiento técnico, ruptura con el cobre y la siguiente evolución con FTTR y 50G-PON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303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97706"/>
                </a:solidFill>
                <a:latin typeface="Verdana"/>
              </a:defRPr>
            </a:pPr>
            <a:r>
              <a:t>Materia: Redes de Alta Velocidad  |  Exposición Académica (Nivel Preparatoria / Bachillerato)  |  Referencias IEEE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284C7"/>
                </a:solidFill>
                <a:latin typeface="Verdana"/>
              </a:defRPr>
            </a:pPr>
            <a:r>
              <a:t>REDES DE ALTA VELOCIDAD | HISTORIA Y EVOLUCIÓN</a:t>
            </a:r>
          </a:p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Sir Charles Kao Demostró que la Luz Podía Viajar en Vidrio Puro en 1966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852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Verdana"/>
              </a:defRPr>
            </a:pPr>
            <a:r>
              <a:t>El Problema del Vidrio Común (Pre-1966):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Verdana"/>
              </a:defRPr>
            </a:pPr>
            <a:r>
              <a:t>A mediados del siglo XX, la luz en filamentos de vidrio se extinguía en pocos metros debido a pérdidas superiores a 1,000 dB/km.</a:t>
            </a:r>
          </a:p>
          <a:p>
            <a:pPr>
              <a:defRPr sz="1300" b="1">
                <a:solidFill>
                  <a:srgbClr val="0284C7"/>
                </a:solidFill>
                <a:latin typeface="Verdana"/>
              </a:defRPr>
            </a:pPr>
            <a:r>
              <a:t>El Descubrimiento de Kao y Hockham: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Verdana"/>
              </a:defRPr>
            </a:pPr>
            <a:r>
              <a:t>En 1966, Charles K. Kao demostró que la atenuación no era una falla física del vidrio, sino el efecto de impurezas de hierro y agua (grupos OH).</a:t>
            </a:r>
          </a:p>
          <a:p>
            <a:pPr>
              <a:defRPr sz="1300" b="1">
                <a:solidFill>
                  <a:srgbClr val="0284C7"/>
                </a:solidFill>
                <a:latin typeface="Verdana"/>
              </a:defRPr>
            </a:pPr>
            <a:r>
              <a:t>El Umbral de los 20 dB/km: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Verdana"/>
              </a:defRPr>
            </a:pPr>
            <a:r>
              <a:t>Postuló que con sílice fundida ultrapura (SiO₂), la atenuación caería por debajo de 20 dB/km, permitiendo transmitir datos a largas distancias.</a:t>
            </a:r>
          </a:p>
          <a:p>
            <a:pPr>
              <a:defRPr sz="1300" b="1">
                <a:solidFill>
                  <a:srgbClr val="0284C7"/>
                </a:solidFill>
                <a:latin typeface="Verdana"/>
              </a:defRPr>
            </a:pPr>
            <a:r>
              <a:t>Premio Nobel de Física 2009: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Verdana"/>
              </a:defRPr>
            </a:pPr>
            <a:r>
              <a:t>Por este hallazgo visionario, Kao fue galardonado con el Premio Nobel y nombrado el 'Padre de la Fibra Óptica'.</a:t>
            </a:r>
          </a:p>
        </p:txBody>
      </p:sp>
      <p:pic>
        <p:nvPicPr>
          <p:cNvPr id="4" name="Picture 3" descr="foto_charles_kao_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463040"/>
            <a:ext cx="502920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5925312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i="1">
                <a:solidFill>
                  <a:srgbClr val="64748B"/>
                </a:solidFill>
                <a:latin typeface="Verdana"/>
              </a:defRPr>
            </a:pPr>
            <a:r>
              <a:t>Figura 1. Sir Charles K. Kao en Standard Telecommunication Laboratories (1966) evaluando la propagación de luz en fibra.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284C7"/>
                </a:solidFill>
                <a:latin typeface="Verdana"/>
              </a:defRPr>
            </a:pPr>
            <a:r>
              <a:t>REDES DE ALTA VELOCIDAD | HISTORIA Y EVOLUCIÓN</a:t>
            </a:r>
          </a:p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De los Búnkeres Nucleares del NORAD al Colapso Financiero 'Dot-Com'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852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Verdana"/>
              </a:defRPr>
            </a:pPr>
            <a:r>
              <a:t>Defensa Militar en la Guerra Fría (1975):</a:t>
            </a:r>
          </a:p>
          <a:p>
            <a:pPr>
              <a:spcAft>
                <a:spcPts val="1200"/>
              </a:spcAft>
              <a:defRPr sz="1200">
                <a:solidFill>
                  <a:srgbClr val="334155"/>
                </a:solidFill>
                <a:latin typeface="Verdana"/>
              </a:defRPr>
            </a:pPr>
            <a:r>
              <a:t>El búnker subterráneo de Cheyenne Mountain (NORAD) usó fibra óptica para proteger sus comunicaciones informáticas contra pulsos electromagnéticos (EMP) de explosiones nucleares.</a:t>
            </a:r>
          </a:p>
          <a:p>
            <a:pPr>
              <a:defRPr sz="1300" b="1">
                <a:solidFill>
                  <a:srgbClr val="0284C7"/>
                </a:solidFill>
                <a:latin typeface="Verdana"/>
              </a:defRPr>
            </a:pPr>
            <a:r>
              <a:t>La Burbuja 'Dot-Com' y la Fibra Oscura (1995-2001):</a:t>
            </a:r>
          </a:p>
          <a:p>
            <a:pPr>
              <a:spcAft>
                <a:spcPts val="1200"/>
              </a:spcAft>
              <a:defRPr sz="1200">
                <a:solidFill>
                  <a:srgbClr val="334155"/>
                </a:solidFill>
                <a:latin typeface="Verdana"/>
              </a:defRPr>
            </a:pPr>
            <a:r>
              <a:t>Se invirtieron billones en excavar ciudades y tender cableado. Tras el colapso financiero de 2001, quedó una red masiva de 'fibra oscura' (no iluminada) que luego abarató el FTTH residencial.</a:t>
            </a:r>
          </a:p>
          <a:p>
            <a:pPr>
              <a:defRPr sz="1300" b="1">
                <a:solidFill>
                  <a:srgbClr val="0284C7"/>
                </a:solidFill>
                <a:latin typeface="Verdana"/>
              </a:defRPr>
            </a:pPr>
            <a:r>
              <a:t>El Despliegue de Verizon FiOS (2004):</a:t>
            </a:r>
          </a:p>
          <a:p>
            <a:pPr>
              <a:spcAft>
                <a:spcPts val="1200"/>
              </a:spcAft>
              <a:defRPr sz="1200">
                <a:solidFill>
                  <a:srgbClr val="334155"/>
                </a:solidFill>
                <a:latin typeface="Verdana"/>
              </a:defRPr>
            </a:pPr>
            <a:r>
              <a:t>Verizon lanzó el primer servicio masivo en Keller, Texas. La competencia de cable reaccionó bajando tarifas entre un 28% y 43% donde había cobertura de fibra.</a:t>
            </a:r>
          </a:p>
        </p:txBody>
      </p:sp>
      <p:pic>
        <p:nvPicPr>
          <p:cNvPr id="4" name="Picture 3" descr="foto_despliegue_subterran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463040"/>
            <a:ext cx="502920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5925312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i="1">
                <a:solidFill>
                  <a:srgbClr val="64748B"/>
                </a:solidFill>
                <a:latin typeface="Verdana"/>
              </a:defRPr>
            </a:pPr>
            <a:r>
              <a:t>Figura 2. Despliegue masivo de infraestructura subterránea de fibra óptica en calles urbanas durante la expansión de Internet.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284C7"/>
                </a:solidFill>
                <a:latin typeface="Verdana"/>
              </a:defRPr>
            </a:pPr>
            <a:r>
              <a:t>REDES DE ALTA VELOCIDAD | HISTORIA Y EVOLUCIÓN</a:t>
            </a:r>
          </a:p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British Telecom Eliminó la Electricidad en las Calles Creando la Red PON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852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Verdana"/>
              </a:defRPr>
            </a:pPr>
            <a:r>
              <a:t>El Abismo Económico Comercial: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Verdana"/>
              </a:defRPr>
            </a:pPr>
            <a:r>
              <a:t>Poner un láser dedicado en la central telefónica para cada casa individual resultaba económicamente inviable a finales del siglo XX.</a:t>
            </a:r>
          </a:p>
          <a:p>
            <a:pPr>
              <a:defRPr sz="1300" b="1">
                <a:solidFill>
                  <a:srgbClr val="0284C7"/>
                </a:solidFill>
                <a:latin typeface="Verdana"/>
              </a:defRPr>
            </a:pPr>
            <a:r>
              <a:t>El Invento de J.R. Stern (BTRL, 1987):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Verdana"/>
              </a:defRPr>
            </a:pPr>
            <a:r>
              <a:t>J. R. Stern y su equipo en British Telecom concibieron la arquitectura TPON (Telephony on Passive Optical Network) utilizando divisores de luz (splitters pasivos).</a:t>
            </a:r>
          </a:p>
          <a:p>
            <a:pPr>
              <a:defRPr sz="1300" b="1">
                <a:solidFill>
                  <a:srgbClr val="0284C7"/>
                </a:solidFill>
                <a:latin typeface="Verdana"/>
              </a:defRPr>
            </a:pPr>
            <a:r>
              <a:t>¿Por qué se llama PASIVA (PON)?: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Verdana"/>
              </a:defRPr>
            </a:pPr>
            <a:r>
              <a:t>Porque los divisores en las calles son primas de cristal fusionado que dividen la luz en 32 o 64 hilos **sin consumir electricidad** ni requerir chips activos en la vía pública.</a:t>
            </a:r>
          </a:p>
          <a:p>
            <a:pPr>
              <a:defRPr sz="1300" b="1">
                <a:solidFill>
                  <a:srgbClr val="0284C7"/>
                </a:solidFill>
                <a:latin typeface="Verdana"/>
              </a:defRPr>
            </a:pPr>
            <a:r>
              <a:t>Impacto en Mantenimiento: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  <a:latin typeface="Verdana"/>
              </a:defRPr>
            </a:pPr>
            <a:r>
              <a:t>Eliminó fallas por cortes eléctricos en la calle y redujo los costos de operación en un 60%.</a:t>
            </a:r>
          </a:p>
        </p:txBody>
      </p:sp>
      <p:pic>
        <p:nvPicPr>
          <p:cNvPr id="4" name="Picture 3" descr="foto_equipo_olt_cent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463040"/>
            <a:ext cx="502920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5925312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i="1">
                <a:solidFill>
                  <a:srgbClr val="64748B"/>
                </a:solidFill>
                <a:latin typeface="Verdana"/>
              </a:defRPr>
            </a:pPr>
            <a:r>
              <a:t>Figura 3. Terminal de Línea Óptica (OLT) activa de alta densidad instalada en el bastidor de una central telefónica.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284C7"/>
                </a:solidFill>
                <a:latin typeface="Verdana"/>
              </a:defRPr>
            </a:pPr>
            <a:r>
              <a:t>REDES DE ALTA VELOCIDAD | HISTORIA Y EVOLUCIÓN</a:t>
            </a:r>
          </a:p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Un Solo Hilo de Vidrio Transporta Datos Bidireccionales Usando Colores de Luz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347472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200"/>
              </a:spcAft>
              <a:defRPr sz="1300" b="1">
                <a:solidFill>
                  <a:srgbClr val="0284C7"/>
                </a:solidFill>
                <a:latin typeface="Verdana"/>
              </a:defRPr>
            </a:pPr>
            <a:r>
              <a:t>1. Principio Físico y Hilo Único</a:t>
            </a:r>
          </a:p>
          <a:p>
            <a:pPr>
              <a:defRPr sz="1100">
                <a:solidFill>
                  <a:srgbClr val="334155"/>
                </a:solidFill>
                <a:latin typeface="Verdana"/>
              </a:defRPr>
            </a:pPr>
            <a:r>
              <a:t>• Reflexión Interna Total: La luz viaja rebotando en el núcleo de sílice ultrapura (9 µm) sin escapar por la cubierta.</a:t>
            </a:r>
            <a:br/>
            <a:br/>
            <a:r>
              <a:t>• Fibra Monomodo (SMF): La norma ITU-T G.652.D permite llevar señales a 20 km sin deformar los pulsos láser.</a:t>
            </a:r>
            <a:br/>
            <a:br/>
            <a:r>
              <a:t>• Un Solo Hilo: Toda la comunicación de bajada y subida ocurre sobre la misma fibra usando WDM.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463040"/>
            <a:ext cx="347472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200"/>
              </a:spcAft>
              <a:defRPr sz="1300" b="1">
                <a:solidFill>
                  <a:srgbClr val="0284C7"/>
                </a:solidFill>
                <a:latin typeface="Verdana"/>
              </a:defRPr>
            </a:pPr>
            <a:r>
              <a:t>2. Componentes Clave de la Red</a:t>
            </a:r>
          </a:p>
          <a:p>
            <a:pPr>
              <a:defRPr sz="1100">
                <a:solidFill>
                  <a:srgbClr val="334155"/>
                </a:solidFill>
                <a:latin typeface="Verdana"/>
              </a:defRPr>
            </a:pPr>
            <a:r>
              <a:t>• OLT (Central): Equipo activo con tarjetas láser que convierte la red IP global en tramas ópticas.</a:t>
            </a:r>
            <a:br/>
            <a:br/>
            <a:r>
              <a:t>• ODN (Red Pasiva): Cables, cajas de empalme y splitters que dividen la luz sin usar energía eléctrica.</a:t>
            </a:r>
            <a:br/>
            <a:br/>
            <a:r>
              <a:t>• ONT / ONU (Hogar): Dispositivo activo que recibe la luz y la convierte en puertos Ethernet RJ-45 y Wi-Fi.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63040"/>
            <a:ext cx="347472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200"/>
              </a:spcAft>
              <a:defRPr sz="1300" b="1">
                <a:solidFill>
                  <a:srgbClr val="0284C7"/>
                </a:solidFill>
                <a:latin typeface="Verdana"/>
              </a:defRPr>
            </a:pPr>
            <a:r>
              <a:t>3. Tráfico Bidireccional (WDM/TDMA)</a:t>
            </a:r>
          </a:p>
          <a:p>
            <a:pPr>
              <a:defRPr sz="1100">
                <a:solidFill>
                  <a:srgbClr val="334155"/>
                </a:solidFill>
                <a:latin typeface="Verdana"/>
              </a:defRPr>
            </a:pPr>
            <a:r>
              <a:t>• Downstream (1490 nm): La central emite en difusión (broadcast). Cada ONT descifra solo sus tramas asignadas.</a:t>
            </a:r>
            <a:br/>
            <a:br/>
            <a:r>
              <a:t>• Upstream (1310 nm): Múltiples hogares envían datos por el mismo hilo. La OLT usa TDMA / DBA coordinando turnos en microsegundos para evitar colisiones.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284C7"/>
                </a:solidFill>
                <a:latin typeface="Verdana"/>
              </a:defRPr>
            </a:pPr>
            <a:r>
              <a:t>REDES DE ALTA VELOCIDAD | HISTORIA Y EVOLUCIÓN</a:t>
            </a:r>
          </a:p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La Fibra Eliminó el Ruido Electromagnético y Extendió la Cobertura a 20 Kilómetros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852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Verdana"/>
              </a:defRPr>
            </a:pPr>
            <a:r>
              <a:t>1. Ruptura con la Atenuación por Distancia:</a:t>
            </a:r>
          </a:p>
          <a:p>
            <a:pPr>
              <a:spcAft>
                <a:spcPts val="1200"/>
              </a:spcAft>
              <a:defRPr sz="1200">
                <a:solidFill>
                  <a:srgbClr val="334155"/>
                </a:solidFill>
                <a:latin typeface="Verdana"/>
              </a:defRPr>
            </a:pPr>
            <a:r>
              <a:t>En el par de cobre (ADSL2+), la velocidad caía de 24 Mbps a menos de 2 Mbps a solo 3 km de la central. En fibra monomodo, la pérdida es de solo 0.20 dB/km, permitiendo 20 km sin perder velocidad.</a:t>
            </a:r>
          </a:p>
          <a:p>
            <a:pPr>
              <a:defRPr sz="1300" b="1">
                <a:solidFill>
                  <a:srgbClr val="0284C7"/>
                </a:solidFill>
                <a:latin typeface="Verdana"/>
              </a:defRPr>
            </a:pPr>
            <a:r>
              <a:t>2. Inmunidad Total a la Diafonía (Crosstalk):</a:t>
            </a:r>
          </a:p>
          <a:p>
            <a:pPr>
              <a:spcAft>
                <a:spcPts val="1200"/>
              </a:spcAft>
              <a:defRPr sz="1200">
                <a:solidFill>
                  <a:srgbClr val="334155"/>
                </a:solidFill>
                <a:latin typeface="Verdana"/>
              </a:defRPr>
            </a:pPr>
            <a:r>
              <a:t>Los cables de cobre entrelazados sufren interferencia magnética mutua (NEXT/FEXT) destruyendo la señal. La fibra transporta fotones en sílice inerte: es 100% inmune al ruido electromagnético.</a:t>
            </a:r>
          </a:p>
          <a:p>
            <a:pPr>
              <a:defRPr sz="1300" b="1">
                <a:solidFill>
                  <a:srgbClr val="0284C7"/>
                </a:solidFill>
                <a:latin typeface="Verdana"/>
              </a:defRPr>
            </a:pPr>
            <a:r>
              <a:t>3. Eliminación de Amplificadores Electrificados:</a:t>
            </a:r>
          </a:p>
          <a:p>
            <a:pPr>
              <a:spcAft>
                <a:spcPts val="1200"/>
              </a:spcAft>
              <a:defRPr sz="1200">
                <a:solidFill>
                  <a:srgbClr val="334155"/>
                </a:solidFill>
                <a:latin typeface="Verdana"/>
              </a:defRPr>
            </a:pPr>
            <a:r>
              <a:t>El cable coaxial (HFC) requiere amplificadores de radiofrecuencia con electricidad cada pocos cientos de metros. La red FTTH-PON no requiere ningún componente energizado en la calle.</a:t>
            </a:r>
          </a:p>
        </p:txBody>
      </p:sp>
      <p:pic>
        <p:nvPicPr>
          <p:cNvPr id="4" name="Picture 3" descr="foto_comparativa_cobre_fib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463040"/>
            <a:ext cx="502920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5925312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i="1">
                <a:solidFill>
                  <a:srgbClr val="64748B"/>
                </a:solidFill>
                <a:latin typeface="Verdana"/>
              </a:defRPr>
            </a:pPr>
            <a:r>
              <a:t>Figura 4. Manguera tradicional de pares de cobre telefónico comparada con un cable compacto de fibra óptica.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284C7"/>
                </a:solidFill>
                <a:latin typeface="Verdana"/>
              </a:defRPr>
            </a:pPr>
            <a:r>
              <a:t>REDES DE ALTA VELOCIDAD | HISTORIA Y EVOLUCIÓN</a:t>
            </a:r>
          </a:p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España Apagó 5,000 Centrales Telefónicas Liderando la Transición Mundial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852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Verdana"/>
              </a:defRPr>
            </a:pPr>
            <a:r>
              <a:t>Fin a 101 Años de Cobre Telefónico (2022-2025):</a:t>
            </a:r>
          </a:p>
          <a:p>
            <a:pPr>
              <a:spcAft>
                <a:spcPts val="1400"/>
              </a:spcAft>
              <a:defRPr sz="1200">
                <a:solidFill>
                  <a:srgbClr val="334155"/>
                </a:solidFill>
                <a:latin typeface="Verdana"/>
              </a:defRPr>
            </a:pPr>
            <a:r>
              <a:t>Telefónica en España completó el apagado masivo de cerca de 5,000 centrales de cobre, retirando el ADSL tras más de un siglo de telefonía fija tradicional.</a:t>
            </a:r>
          </a:p>
          <a:p>
            <a:pPr>
              <a:defRPr sz="1300" b="1">
                <a:solidFill>
                  <a:srgbClr val="0284C7"/>
                </a:solidFill>
                <a:latin typeface="Verdana"/>
              </a:defRPr>
            </a:pPr>
            <a:r>
              <a:t>Ahorro Masivo de Espacio y Energía:</a:t>
            </a:r>
          </a:p>
          <a:p>
            <a:pPr>
              <a:spcAft>
                <a:spcPts val="1400"/>
              </a:spcAft>
              <a:defRPr sz="1200">
                <a:solidFill>
                  <a:srgbClr val="334155"/>
                </a:solidFill>
                <a:latin typeface="Verdana"/>
              </a:defRPr>
            </a:pPr>
            <a:r>
              <a:t>El equipamiento para FTTH requiere solo el 10% del espacio del ADSL en la central y consume significativamente menos energía eléctrica por Gigabyte transmitido.</a:t>
            </a:r>
          </a:p>
          <a:p>
            <a:pPr>
              <a:defRPr sz="1300" b="1">
                <a:solidFill>
                  <a:srgbClr val="0284C7"/>
                </a:solidFill>
                <a:latin typeface="Verdana"/>
              </a:defRPr>
            </a:pPr>
            <a:r>
              <a:t>Recuperación Urbana e Inmuebles:</a:t>
            </a:r>
          </a:p>
          <a:p>
            <a:pPr>
              <a:spcAft>
                <a:spcPts val="1400"/>
              </a:spcAft>
              <a:defRPr sz="1200">
                <a:solidFill>
                  <a:srgbClr val="334155"/>
                </a:solidFill>
                <a:latin typeface="Verdana"/>
              </a:defRPr>
            </a:pPr>
            <a:r>
              <a:t>Decenas de edificios de centrales telefónicas históricas fueron clausurados, reciclando miles de toneladas de cableado de cobre y modernizando la red a fibra y 5G.</a:t>
            </a:r>
          </a:p>
        </p:txBody>
      </p:sp>
      <p:pic>
        <p:nvPicPr>
          <p:cNvPr id="4" name="Picture 3" descr="foto_desmantelamiento_cob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463040"/>
            <a:ext cx="502920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5925312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i="1">
                <a:solidFill>
                  <a:srgbClr val="64748B"/>
                </a:solidFill>
                <a:latin typeface="Verdana"/>
              </a:defRPr>
            </a:pPr>
            <a:r>
              <a:t>Figura 5. Proceso de desmantelamiento de repartidores de cobre en una central telefónica durante la migración masiva a FTTH.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284C7"/>
                </a:solidFill>
                <a:latin typeface="Verdana"/>
              </a:defRPr>
            </a:pPr>
            <a:r>
              <a:t>REDES DE ALTA VELOCIDAD | HISTORIA Y EVOLUCIÓN</a:t>
            </a:r>
          </a:p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Comparativa de Tecnologías: De las Limitaciones del Cobre a las Redes Gigabíticas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944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295"/>
                <a:gridCol w="1645920"/>
                <a:gridCol w="1645920"/>
                <a:gridCol w="1828800"/>
                <a:gridCol w="1920240"/>
                <a:gridCol w="1920240"/>
              </a:tblGrid>
              <a:tr h="679268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Verdana"/>
                        </a:rPr>
                        <a:t>Parámetro Técnico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Verdana"/>
                        </a:rPr>
                        <a:t>ADSL2+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Verdana"/>
                        </a:rPr>
                        <a:t>VDSL2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Verdana"/>
                        </a:rPr>
                        <a:t>HFC (DOCSIS 3.1)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Verdana"/>
                        </a:rPr>
                        <a:t>FTTH (GPON)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Verdana"/>
                        </a:rPr>
                        <a:t>FTTH (XGS-PON)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34155"/>
                          </a:solidFill>
                          <a:latin typeface="Verdana"/>
                        </a:rPr>
                        <a:t>Medio Físico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4155"/>
                          </a:solidFill>
                          <a:latin typeface="Verdana"/>
                        </a:rPr>
                        <a:t>Par de Cobre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4155"/>
                          </a:solidFill>
                          <a:latin typeface="Verdana"/>
                        </a:rPr>
                        <a:t>Par de Cobre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4155"/>
                          </a:solidFill>
                          <a:latin typeface="Verdana"/>
                        </a:rPr>
                        <a:t>Coaxial / Fibra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284C7"/>
                          </a:solidFill>
                          <a:latin typeface="Verdana"/>
                        </a:rPr>
                        <a:t>Fibra Monomodo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284C7"/>
                          </a:solidFill>
                          <a:latin typeface="Verdana"/>
                        </a:rPr>
                        <a:t>Fibra Monomodo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34155"/>
                          </a:solidFill>
                          <a:latin typeface="Verdana"/>
                        </a:rPr>
                        <a:t>Velocidad Bajada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4155"/>
                          </a:solidFill>
                          <a:latin typeface="Verdana"/>
                        </a:rPr>
                        <a:t>24 Mbps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4155"/>
                          </a:solidFill>
                          <a:latin typeface="Verdana"/>
                        </a:rPr>
                        <a:t>100 Mbps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4155"/>
                          </a:solidFill>
                          <a:latin typeface="Verdana"/>
                        </a:rPr>
                        <a:t>1,000 Mbps (1G)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284C7"/>
                          </a:solidFill>
                          <a:latin typeface="Verdana"/>
                        </a:rPr>
                        <a:t>2,500 Mbps (2.5G)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284C7"/>
                          </a:solidFill>
                          <a:latin typeface="Verdana"/>
                        </a:rPr>
                        <a:t>10,000 Mbps (10G)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34155"/>
                          </a:solidFill>
                          <a:latin typeface="Verdana"/>
                        </a:rPr>
                        <a:t>Velocidad Subida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4155"/>
                          </a:solidFill>
                          <a:latin typeface="Verdana"/>
                        </a:rPr>
                        <a:t>1 Mbps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4155"/>
                          </a:solidFill>
                          <a:latin typeface="Verdana"/>
                        </a:rPr>
                        <a:t>20 Mbps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4155"/>
                          </a:solidFill>
                          <a:latin typeface="Verdana"/>
                        </a:rPr>
                        <a:t>100-200 Mbps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284C7"/>
                          </a:solidFill>
                          <a:latin typeface="Verdana"/>
                        </a:rPr>
                        <a:t>1,250 Mbps (1.25G)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284C7"/>
                          </a:solidFill>
                          <a:latin typeface="Verdana"/>
                        </a:rPr>
                        <a:t>10,000 Mbps (10G)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34155"/>
                          </a:solidFill>
                          <a:latin typeface="Verdana"/>
                        </a:rPr>
                        <a:t>Alcance Operativo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4155"/>
                          </a:solidFill>
                          <a:latin typeface="Verdana"/>
                        </a:rPr>
                        <a:t>~3.5 km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4155"/>
                          </a:solidFill>
                          <a:latin typeface="Verdana"/>
                        </a:rPr>
                        <a:t>~1 km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4155"/>
                          </a:solidFill>
                          <a:latin typeface="Verdana"/>
                        </a:rPr>
                        <a:t>~1.5 km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284C7"/>
                          </a:solidFill>
                          <a:latin typeface="Verdana"/>
                        </a:rPr>
                        <a:t>20 km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284C7"/>
                          </a:solidFill>
                          <a:latin typeface="Verdana"/>
                        </a:rPr>
                        <a:t>20 km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34155"/>
                          </a:solidFill>
                          <a:latin typeface="Verdana"/>
                        </a:rPr>
                        <a:t>Diafonía (NEXT/FEXT)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4155"/>
                          </a:solidFill>
                          <a:latin typeface="Verdana"/>
                        </a:rPr>
                        <a:t>Crítica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4155"/>
                          </a:solidFill>
                          <a:latin typeface="Verdana"/>
                        </a:rPr>
                        <a:t>Elevada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4155"/>
                          </a:solidFill>
                          <a:latin typeface="Verdana"/>
                        </a:rPr>
                        <a:t>Moderada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284C7"/>
                          </a:solidFill>
                          <a:latin typeface="Verdana"/>
                        </a:rPr>
                        <a:t>Inmune (0%)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284C7"/>
                          </a:solidFill>
                          <a:latin typeface="Verdana"/>
                        </a:rPr>
                        <a:t>Inmune (0%)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34155"/>
                          </a:solidFill>
                          <a:latin typeface="Verdana"/>
                        </a:rPr>
                        <a:t>Latencia Promedio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4155"/>
                          </a:solidFill>
                          <a:latin typeface="Verdana"/>
                        </a:rPr>
                        <a:t>25 - 45 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4155"/>
                          </a:solidFill>
                          <a:latin typeface="Verdana"/>
                        </a:rPr>
                        <a:t>15 - 25 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4155"/>
                          </a:solidFill>
                          <a:latin typeface="Verdana"/>
                        </a:rPr>
                        <a:t>10 - 20 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284C7"/>
                          </a:solidFill>
                          <a:latin typeface="Verdana"/>
                        </a:rPr>
                        <a:t>2 - 5 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284C7"/>
                          </a:solidFill>
                          <a:latin typeface="Verdana"/>
                        </a:rPr>
                        <a:t>&lt; 1.5 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284C7"/>
                </a:solidFill>
                <a:latin typeface="Verdana"/>
              </a:defRPr>
            </a:pPr>
            <a:r>
              <a:t>REDES DE ALTA VELOCIDAD | HISTORIA Y EVOLUCIÓN</a:t>
            </a:r>
          </a:p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FTTR Resuelve la Degradación Doméstica del Wi-Fi Llevando Microfibra a Cada Habitación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852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Verdana"/>
              </a:defRPr>
            </a:pPr>
            <a:r>
              <a:t>El Muro del Wi-Fi Doméstico:</a:t>
            </a:r>
          </a:p>
          <a:p>
            <a:pPr>
              <a:spcAft>
                <a:spcPts val="1400"/>
              </a:spcAft>
              <a:defRPr sz="1200">
                <a:solidFill>
                  <a:srgbClr val="334155"/>
                </a:solidFill>
                <a:latin typeface="Verdana"/>
              </a:defRPr>
            </a:pPr>
            <a:r>
              <a:t>FTTH entrega 1,000 Mbps en la entrada de la casa. Sin embargo, las ondas Wi-Fi (5/6 GHz) sufren atenuaciones drásticas al atravesar muros de hormigón, perdiendo &gt;80% de velocidad en dormitorios lejanos.</a:t>
            </a:r>
          </a:p>
          <a:p>
            <a:pPr>
              <a:defRPr sz="1300" b="1">
                <a:solidFill>
                  <a:srgbClr val="0284C7"/>
                </a:solidFill>
                <a:latin typeface="Verdana"/>
              </a:defRPr>
            </a:pPr>
            <a:r>
              <a:t>Solución FTTR (Fiber To The Room):</a:t>
            </a:r>
          </a:p>
          <a:p>
            <a:pPr>
              <a:spcAft>
                <a:spcPts val="1400"/>
              </a:spcAft>
              <a:defRPr sz="1200">
                <a:solidFill>
                  <a:srgbClr val="334155"/>
                </a:solidFill>
                <a:latin typeface="Verdana"/>
              </a:defRPr>
            </a:pPr>
            <a:r>
              <a:t>Extiende una micro-red de fibra dentro de la casa usando cable transparente invisible (norma G.657.A2) pegado al rodapié sin alterar la estética.</a:t>
            </a:r>
          </a:p>
          <a:p>
            <a:pPr>
              <a:defRPr sz="1300" b="1">
                <a:solidFill>
                  <a:srgbClr val="0284C7"/>
                </a:solidFill>
                <a:latin typeface="Verdana"/>
              </a:defRPr>
            </a:pPr>
            <a:r>
              <a:t>Arquitectura Maestro-Sub ONT:</a:t>
            </a:r>
          </a:p>
          <a:p>
            <a:pPr>
              <a:spcAft>
                <a:spcPts val="1400"/>
              </a:spcAft>
              <a:defRPr sz="1200">
                <a:solidFill>
                  <a:srgbClr val="334155"/>
                </a:solidFill>
                <a:latin typeface="Verdana"/>
              </a:defRPr>
            </a:pPr>
            <a:r>
              <a:t>Una ONT Maestra conecta mediante mini-splitters a ONTs de borde en cada habitación, garantizando latencias &lt;1 ms y velocidad simétrica real de más de 1 Gbps en cualquier rincón.</a:t>
            </a:r>
          </a:p>
        </p:txBody>
      </p:sp>
      <p:pic>
        <p:nvPicPr>
          <p:cNvPr id="4" name="Picture 3" descr="foto_instalacion_ft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463040"/>
            <a:ext cx="502920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5925312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i="1">
                <a:solidFill>
                  <a:srgbClr val="64748B"/>
                </a:solidFill>
                <a:latin typeface="Verdana"/>
              </a:defRPr>
            </a:pPr>
            <a:r>
              <a:t>Figura 6. Instalación de hilo de fibra óptica micro-transparente invisible sobre el rodapié para la arquitectura FTTR.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284C7"/>
                </a:solidFill>
                <a:latin typeface="Verdana"/>
              </a:defRPr>
            </a:pPr>
            <a:r>
              <a:t>REDES DE ALTA VELOCIDAD | HISTORIA Y EVOLUCIÓN</a:t>
            </a:r>
          </a:p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XGS-PON y 50G-PON Multiplican la Velocidad Reutilizando los Cables Enterrados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852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Verdana"/>
              </a:defRPr>
            </a:pPr>
            <a:r>
              <a:t>Saturación de GPON Tradicional:</a:t>
            </a:r>
          </a:p>
          <a:p>
            <a:pPr>
              <a:spcAft>
                <a:spcPts val="1400"/>
              </a:spcAft>
              <a:defRPr sz="1200">
                <a:solidFill>
                  <a:srgbClr val="334155"/>
                </a:solidFill>
                <a:latin typeface="Verdana"/>
              </a:defRPr>
            </a:pPr>
            <a:r>
              <a:t>Los 2.5 Gbps compartidos de GPON se quedan cortos con video 8K, trabajo remoto intensivo e Inteligencia Artificial.</a:t>
            </a:r>
          </a:p>
          <a:p>
            <a:pPr>
              <a:defRPr sz="1300" b="1">
                <a:solidFill>
                  <a:srgbClr val="0284C7"/>
                </a:solidFill>
                <a:latin typeface="Verdana"/>
              </a:defRPr>
            </a:pPr>
            <a:r>
              <a:t>Evolución a XGS-PON y 50G-PON:</a:t>
            </a:r>
          </a:p>
          <a:p>
            <a:pPr>
              <a:spcAft>
                <a:spcPts val="1400"/>
              </a:spcAft>
              <a:defRPr sz="1200">
                <a:solidFill>
                  <a:srgbClr val="334155"/>
                </a:solidFill>
                <a:latin typeface="Verdana"/>
              </a:defRPr>
            </a:pPr>
            <a:r>
              <a:t>XGS-PON (ITU-T G.9807) ofrece 10 Gbps simétricos. La nueva norma 50G-PON (ITU-T G.9804.3) eleva la velocidad a 50 Gbps con latencia sub-milisegundo.</a:t>
            </a:r>
          </a:p>
          <a:p>
            <a:pPr>
              <a:defRPr sz="1300" b="1">
                <a:solidFill>
                  <a:srgbClr val="0284C7"/>
                </a:solidFill>
                <a:latin typeface="Verdana"/>
              </a:defRPr>
            </a:pPr>
            <a:r>
              <a:t>Coexistencia Espectral WDM (Sin Cambiar Cables):</a:t>
            </a:r>
          </a:p>
          <a:p>
            <a:pPr>
              <a:spcAft>
                <a:spcPts val="1400"/>
              </a:spcAft>
              <a:defRPr sz="1200">
                <a:solidFill>
                  <a:srgbClr val="334155"/>
                </a:solidFill>
                <a:latin typeface="Verdana"/>
              </a:defRPr>
            </a:pPr>
            <a:r>
              <a:t>Las operadoras NO necesitan desenterrar las fibras de las calles. Mediante Módulos de Coexistencia (CEx), GPON, XGS-PON y 50G-PON viajan juntas en el mismo cristal usando diferentes colores de luz.</a:t>
            </a:r>
          </a:p>
        </p:txBody>
      </p:sp>
      <p:pic>
        <p:nvPicPr>
          <p:cNvPr id="4" name="Picture 3" descr="foto_empalmadora_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463040"/>
            <a:ext cx="502920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5925312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i="1">
                <a:solidFill>
                  <a:srgbClr val="64748B"/>
                </a:solidFill>
                <a:latin typeface="Verdana"/>
              </a:defRPr>
            </a:pPr>
            <a:r>
              <a:t>Figura 7. Máquina empalmadora por fusión alineando y uniendo dos núcleos de fibra óptica monomodo.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284C7"/>
                </a:solidFill>
                <a:latin typeface="Verdana"/>
              </a:defRPr>
            </a:pPr>
            <a:r>
              <a:t>REDES DE ALTA VELOCIDAD | HISTORIA Y EVOLUCIÓN</a:t>
            </a:r>
          </a:p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Herramientas de Campo: Cajas CTO, Reflectómetros OTDR y Mediciones de Potencia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852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Verdana"/>
              </a:defRPr>
            </a:pPr>
            <a:r>
              <a:t>Caja de Terminal Óptico (CTO):</a:t>
            </a:r>
          </a:p>
          <a:p>
            <a:pPr>
              <a:spcAft>
                <a:spcPts val="1400"/>
              </a:spcAft>
              <a:defRPr sz="1200">
                <a:solidFill>
                  <a:srgbClr val="334155"/>
                </a:solidFill>
                <a:latin typeface="Verdana"/>
              </a:defRPr>
            </a:pPr>
            <a:r>
              <a:t>Caja pasiva instalada en postes o fachadas. Contiene splitters secundarios y conectores SC/APC para derivar la acometida exterior hacia cada domicilio.</a:t>
            </a:r>
          </a:p>
          <a:p>
            <a:pPr>
              <a:defRPr sz="1300" b="1">
                <a:solidFill>
                  <a:srgbClr val="0284C7"/>
                </a:solidFill>
                <a:latin typeface="Verdana"/>
              </a:defRPr>
            </a:pPr>
            <a:r>
              <a:t>Reflectómetro Óptico (OTDR):</a:t>
            </a:r>
          </a:p>
          <a:p>
            <a:pPr>
              <a:spcAft>
                <a:spcPts val="1400"/>
              </a:spcAft>
              <a:defRPr sz="1200">
                <a:solidFill>
                  <a:srgbClr val="334155"/>
                </a:solidFill>
                <a:latin typeface="Verdana"/>
              </a:defRPr>
            </a:pPr>
            <a:r>
              <a:t>Instrumento de diagnóstico que emite pulsos de luz para medir la atenuación del tramo y localizar atenuaciones o cortes exactos en metros.</a:t>
            </a:r>
          </a:p>
          <a:p>
            <a:pPr>
              <a:defRPr sz="1300" b="1">
                <a:solidFill>
                  <a:srgbClr val="0284C7"/>
                </a:solidFill>
                <a:latin typeface="Verdana"/>
              </a:defRPr>
            </a:pPr>
            <a:r>
              <a:t>Medición de Potencia Óptica (Power Meter):</a:t>
            </a:r>
          </a:p>
          <a:p>
            <a:pPr>
              <a:spcAft>
                <a:spcPts val="1400"/>
              </a:spcAft>
              <a:defRPr sz="1200">
                <a:solidFill>
                  <a:srgbClr val="334155"/>
                </a:solidFill>
                <a:latin typeface="Verdana"/>
              </a:defRPr>
            </a:pPr>
            <a:r>
              <a:t>El técnico verifica que la señal en el hogar se ubique dentro de los márgenes normativos (ej. -18 a -25 dBm) antes de dar de alta el servicio con la ONT.</a:t>
            </a:r>
          </a:p>
        </p:txBody>
      </p:sp>
      <p:pic>
        <p:nvPicPr>
          <p:cNvPr id="4" name="Picture 3" descr="foto_tecnico_cto_pos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463040"/>
            <a:ext cx="502920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5925312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i="1">
                <a:solidFill>
                  <a:srgbClr val="64748B"/>
                </a:solidFill>
                <a:latin typeface="Verdana"/>
              </a:defRPr>
            </a:pPr>
            <a:r>
              <a:t>Figura 8. Técnico de campo realizando mediciones y empalmes en una Caja de Terminal Óptico (CTO) sobre poste.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SÍNTESIS Y FUENTES FORMALES</a:t>
            </a:r>
          </a:p>
          <a:p>
            <a:pPr>
              <a:defRPr sz="2200" b="1">
                <a:solidFill>
                  <a:srgbClr val="FFFFFF"/>
                </a:solidFill>
                <a:latin typeface="Georgia"/>
              </a:defRPr>
            </a:pPr>
            <a:r>
              <a:t>Conclusiones y Referencias en Formato Estándar IEEE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97706"/>
                </a:solidFill>
                <a:latin typeface="Verdana"/>
              </a:defRPr>
            </a:pPr>
            <a:r>
              <a:t>Conclusiones Principales:</a:t>
            </a:r>
          </a:p>
          <a:p>
            <a:pPr>
              <a:spcAft>
                <a:spcPts val="1200"/>
              </a:spcAft>
              <a:defRPr sz="1150">
                <a:solidFill>
                  <a:srgbClr val="E2E8F0"/>
                </a:solidFill>
                <a:latin typeface="Verdana"/>
              </a:defRPr>
            </a:pPr>
            <a:r>
              <a:t>1. La sílice purificada y la arquitectura PON transformaron la comunicación humana sustituyendo electrones en cobre por fotones en vidrio.</a:t>
            </a:r>
          </a:p>
          <a:p>
            <a:pPr>
              <a:spcAft>
                <a:spcPts val="1200"/>
              </a:spcAft>
              <a:defRPr sz="1150">
                <a:solidFill>
                  <a:srgbClr val="E2E8F0"/>
                </a:solidFill>
                <a:latin typeface="Verdana"/>
              </a:defRPr>
            </a:pPr>
            <a:r>
              <a:t>2. FTTH resolvió de forma definitiva la atenuación por distancia, la diafonía y la fragilidad del ADSL y HFC.</a:t>
            </a:r>
          </a:p>
          <a:p>
            <a:pPr>
              <a:spcAft>
                <a:spcPts val="1200"/>
              </a:spcAft>
              <a:defRPr sz="1150">
                <a:solidFill>
                  <a:srgbClr val="E2E8F0"/>
                </a:solidFill>
                <a:latin typeface="Verdana"/>
              </a:defRPr>
            </a:pPr>
            <a:r>
              <a:t>3. La red pasiva enterrada se mantiene vigente, evolucionando mediante FTTR (cobertura interna) y 50G-PON (velocidad masiva) sin cambiar los cables.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3716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284C7"/>
                </a:solidFill>
                <a:latin typeface="Verdana"/>
              </a:defRPr>
            </a:pPr>
            <a:r>
              <a:t>Referencias Bibliográficas (Formato IEEE):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  <a:latin typeface="Verdana"/>
              </a:defRPr>
            </a:pPr>
            <a:r>
              <a:t>[1] C. K. Kao and G. A. Hockham, "Dielectric-fibre surface waveguides for optical frequencies," Proc. IEE, vol. 113, no. 7, pp. 1151–1158, Jul. 1966.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  <a:latin typeface="Verdana"/>
              </a:defRPr>
            </a:pPr>
            <a:r>
              <a:t>[2] J. R. Stern et al., "TPON - a passive optical network for telephony," Proc. ECOC, pp. 203–206, 1987.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  <a:latin typeface="Verdana"/>
              </a:defRPr>
            </a:pPr>
            <a:r>
              <a:t>[3] ITU-T, Gigabit-capable Passive Optical Networks (GPON), ITU-T Recommendation G.984 Series, 2008.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  <a:latin typeface="Verdana"/>
              </a:defRPr>
            </a:pPr>
            <a:r>
              <a:t>[4] ITU-T, 10-Gigabit-capable symmetric passive optical networks (XGS-PON), ITU-T Recommendation G.9807.1, 2016.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  <a:latin typeface="Verdana"/>
              </a:defRPr>
            </a:pPr>
            <a:r>
              <a:t>[5] ITU-T, Higher speed passive optical networks - 50G-PON, ITU-T Recommendation G.9804.3, 2021.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  <a:latin typeface="Verdana"/>
              </a:defRPr>
            </a:pPr>
            <a:r>
              <a:t>[6] ETSI, Fifth Generation Fixed Network (F5G); F5G technology landscape, ETSI GS F5G 013, 2023.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