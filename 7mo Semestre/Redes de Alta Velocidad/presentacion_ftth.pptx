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EC48359-D130-4325-B64B-2CA5402512C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 presentación: Introducción a la arquitectura FTTH (Fiber To The Home) para la materia de redes de alta velocidad.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F9A32E-5BEA-4D0C-83CF-7EBCC09CF61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2E060F-AC42-4B06-8109-E969142D2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E35DFC-F0F3-44D4-983A-1DC8E1E6F7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88B255-4195-467C-87CD-1D26B428B8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A60F47-EF9E-4BA8-921E-4B7E041471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454F54-2DFA-4415-8F13-1ADA790348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8D1D1C-8E3D-43BE-AC6F-BC28A38E69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EF3F63-54C9-4F29-A1DB-EF1D0D87FC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E2A44D-9942-43C7-8062-72693F9691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343ECB-B7B8-442D-B617-DBD3BA1DC4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7381603-E465-4E51-B631-73287186AD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720084-3ADA-43FD-9134-F6BB88CFD3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914400" y="1645920"/>
            <a:ext cx="1036260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TECNOLOGÍA DE ACCESO POR FIBRA ÓPTICA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</a:rPr>
              <a:t>FTTH: La Revolución de la Luz en el Hogar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Verdana"/>
              </a:rPr>
              <a:t>Origen histórico, funcionamiento técnico, ruptura con el cobre y la siguiente evolución con FTTR y 50G-PON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914400" y="5303520"/>
            <a:ext cx="2690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97706"/>
                </a:solidFill>
                <a:effectLst/>
                <a:uFillTx/>
                <a:latin typeface="Verdana"/>
              </a:rPr>
              <a:t>Materia: Redes de Alta Velocidad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Sir Charles Kao Demostró que la Luz Podía Viajar en Vidrio Puro en 1966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Problema del Vidrio Común (Pre-1966):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A mediados del siglo XX, la luz en filamentos de vidrio se extinguía en pocos metros debido a pérdidas superiores a 1,000 dB/km.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Descubrimiento de Kao y Hockham: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En 1966, Charles K. Kao demostró que la atenuación no era una falla física del vidrio, sino el efecto de impurezas de hierro y agua (grupos OH).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Umbral de los 20 dB/km: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Postuló que con sílice fundida ultrapura (SiO₂), la atenuación caería por debajo de 20 dB/km, permitiendo transmitir datos a largas distancias.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Premio Nobel de Física 2009: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Por este hallazgo visionario, Kao fue galardonado con el Premio Nobel y nombrado el 'Padre de la Fibra Óptica'.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3" descr="foto_charles_kao_lab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1. Sir Charles K. Kao en Standard Telecommunication Laboratories (1966) evaluando la propagación de luz en fibra.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601E519-4543-4CB3-9BA6-5B18EB76FCF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De los Búnkeres Nucleares del NORAD al Colapso Financiero 'Dot-Com'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548640" y="1463040"/>
            <a:ext cx="5851800" cy="26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Defensa Militar en la Guerra Fría (1975):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El búnker subterráneo de Cheyenne Mountain (NORAD) usó fibra óptica para proteger sus comunicaciones informáticas contra pulsos electromagnéticos (EMP) de explosiones nucleares.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La Burbuja 'Dot-Com' y la Fibra Oscura (1995-2001):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Se invirtieron billones en excavar ciudades y tender cableado. Tras el colapso financiero de 2001, quedó una red masiva de 'fibra oscura' (no iluminada) que luego abarató el FTTH residencial.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Despliegue de Verizon FiOS (2004):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Verizon lanzó el primer servicio masivo en Keller, Texas. La competencia de cable reaccionó bajando tarifas entre un 28% y 43% donde había cobertura de fibra.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3" descr="foto_despliegue_subterraneo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2. Despliegue masivo de infraestructura subterránea de fibra óptica en calles urbanas durante la expansión de Internet.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282CD86-A184-4DA8-AE40-6CAC4DADB41E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British Telecom Eliminó la Electricidad en las Calles Creando la Red PON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Abismo Económico Comercial: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Poner un láser dedicado en la central telefónica para cada casa individual resultaba económicamente inviable a finales del siglo XX.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Invento de J.R. Stern (BTRL, 1987):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J. R. Stern y su equipo en British Telecom concibieron la arquitectura TPON (Telephony on Passive Optical Network) utilizando divisores de luz (splitters pasivos).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¿Por qué se llama PASIVA (PON)?: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Porque los divisores en las calles son primas de cristal fusionado que dividen la luz en 32 o 64 hilos **sin consumir electricidad** ni requerir chips activos en la vía pública.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Impacto en Mantenimiento: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Eliminó fallas por cortes eléctricos en la calle y redujo los costos de operación en un 60%.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3" descr="foto_equipo_olt_central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3. Terminal de Línea Óptica (OLT) activa de alta densidad instalada en el bastidor de una central telefónica.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2399CF7-FEF4-4934-8A9E-169D3A60591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Un Solo Hilo de Vidrio Transporta Datos Bidireccionales Usando Colores de Luz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2"/>
          <p:cNvSpPr/>
          <p:nvPr/>
        </p:nvSpPr>
        <p:spPr>
          <a:xfrm>
            <a:off x="548640" y="1463040"/>
            <a:ext cx="3474360" cy="457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1. Principio Físico y Hilo Único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Reflexión Interna Total: La luz viaja rebotando en el núcleo de sílice ultrapura (9 µm) sin escapar por la cubierta.</a:t>
            </a:r>
            <a:br>
              <a:rPr sz="1100"/>
            </a:br>
            <a:br>
              <a:rPr sz="1100"/>
            </a:b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Fibra Monomodo (SMF): La norma ITU-T G.652.D permite llevar señales a 20 km sin deformar los pulsos láser.</a:t>
            </a:r>
            <a:br>
              <a:rPr sz="1100"/>
            </a:br>
            <a:br>
              <a:rPr sz="1100"/>
            </a:b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Un Solo Hilo: Toda la comunicación de bajada y subida ocurre sobre la misma fibra usando WDM.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3"/>
          <p:cNvSpPr/>
          <p:nvPr/>
        </p:nvSpPr>
        <p:spPr>
          <a:xfrm>
            <a:off x="4297680" y="1463040"/>
            <a:ext cx="3474360" cy="457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2. Componentes Clave de la 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OLT (Central): Equipo activo con tarjetas láser que convierte la red IP global en tramas ópticas.</a:t>
            </a:r>
            <a:br>
              <a:rPr sz="1100"/>
            </a:br>
            <a:br>
              <a:rPr sz="1100"/>
            </a:b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ODN (Red Pasiva): Cables, cajas de empalme y splitters que dividen la luz sin usar energía eléctrica.</a:t>
            </a:r>
            <a:br>
              <a:rPr sz="1100"/>
            </a:br>
            <a:br>
              <a:rPr sz="1100"/>
            </a:b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ONT / ONU (Hogar): Dispositivo activo que recibe la luz y la convierte en puertos Ethernet RJ-45 y Wi-Fi.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4"/>
          <p:cNvSpPr/>
          <p:nvPr/>
        </p:nvSpPr>
        <p:spPr>
          <a:xfrm>
            <a:off x="8046720" y="1463040"/>
            <a:ext cx="3474360" cy="457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1199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3. Tráfico Bidireccional (WDM/TDMA)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Downstream (1490 nm): La central emite en difusión (broadcast). Cada ONT descifra solo sus tramas asignadas.</a:t>
            </a:r>
            <a:br>
              <a:rPr sz="1100"/>
            </a:br>
            <a:br>
              <a:rPr sz="1100"/>
            </a:b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• Upstream (1310 nm): Múltiples hogares envían datos por el mismo hilo. La OLT usa TDMA / DBA coordinando turnos en microsegundos para evitar colisiones.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34566C6-2DE7-4616-B709-59715646843B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Fibra Eliminó el Ruido Electromagnético y Extendió la Cobertura a 20 Kilómetros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1. Ruptura con la Atenuación por Distancia: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En el par de cobre (ADSL2+), la velocidad caía de 24 Mbps a menos de 2 Mbps a solo 3 km de la central. En fibra monomodo, la pérdida es de solo 0.20 dB/km, permitiendo 20 km sin perder velocidad.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2. Inmunidad Total a la Diafonía (Crosstalk):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Los cables de cobre entrelazados sufren interferencia magnética mutua (NEXT/FEXT) destruyendo la señal. La fibra transporta fotones en sílice inerte: es 100% inmune al ruido electromagnético.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3. Eliminación de Amplificadores Electrificados: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El cable coaxial (HFC) requiere amplificadores de radiofrecuencia con electricidad cada pocos cientos de metros. La red FTTH-PON no requiere ningún componente energizado en la calle.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3" descr="foto_comparativa_cobre_fibra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4. Manguera tradicional de pares de cobre telefónico comparada con un cable compacto de fibra óptica.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8EA6040-ABE3-4F64-88A9-41A02E0A234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España Apagó 5,000 Centrales Telefónicas Liderando la Transición Mundial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Fin a 101 Años de Cobre Telefónico (2022-2025):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Telefónica en España completó el apagado masivo de cerca de 5,000 centrales de cobre, retirando el ADSL tras más de un siglo de telefonía fija tradicional.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Ahorro Masivo de Espacio y Energía: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El equipamiento para FTTH requiere solo el 10% del espacio del ADSL en la central y consume significativamente menos energía eléctrica por Gigabyte transmitido.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Recuperación Urbana e Inmuebles: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Decenas de edificios de centrales telefónicas históricas fueron clausurados, reciclando miles de toneladas de cableado de cobre y modernizando la red a fibra y 5G.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Picture 3" descr="foto_desmantelamiento_cobre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5. Proceso de desmantelamiento de repartidores de cobre en una central telefónica durante la migración masiva a FTTH.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6BD0E41-FD8F-4CCD-A269-DD861C6DBC9F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Comparativa de Tecnologías: De las Limitaciones del Cobre a las Redes Gigabíticas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Table 2"/>
          <p:cNvGraphicFramePr/>
          <p:nvPr/>
        </p:nvGraphicFramePr>
        <p:xfrm>
          <a:off x="548640" y="1463040"/>
          <a:ext cx="11094120" cy="4754520"/>
        </p:xfrm>
        <a:graphic>
          <a:graphicData uri="http://schemas.openxmlformats.org/drawingml/2006/table">
            <a:tbl>
              <a:tblPr/>
              <a:tblGrid>
                <a:gridCol w="2133000"/>
                <a:gridCol w="1645920"/>
                <a:gridCol w="1645920"/>
                <a:gridCol w="1828800"/>
                <a:gridCol w="1920240"/>
                <a:gridCol w="1920240"/>
              </a:tblGrid>
              <a:tr h="6789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Parámetro Técnico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ADSL2+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VDSL2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HFC (DOCSIS 3.1)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FTTH (GPON)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Verdana"/>
                        </a:rPr>
                        <a:t>FTTH (XGS-PON)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Medio Físico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Par de Cobre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Par de Cobre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Coaxial / Fibra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Fibra Monomodo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Fibra Monomodo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Velocidad Bajada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24 Mbps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100 Mbps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1,000 Mbps (1G)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2,500 Mbps (2.5G)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10,000 Mbps (10G)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Velocidad Subida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 Mbps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20 Mbps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100-200 Mbps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1,250 Mbps (1.25G)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10,000 Mbps (10G)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Alcance Operativo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~3.5 km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~1 km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~1.5 km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20 km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20 km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Diafonía (NEXT/FEXT)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Crítica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Elevada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Moderada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Inmune (0%)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Inmune (0%)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Latencia Promedio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25 - 45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15 - 25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Verdana"/>
                        </a:rPr>
                        <a:t>10 - 20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2 - 5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284C7"/>
                          </a:solidFill>
                          <a:effectLst/>
                          <a:uFillTx/>
                          <a:latin typeface="Verdana"/>
                        </a:rPr>
                        <a:t>&lt; 1.5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95A29CE-13C9-4DCC-BE39-224ED21FDBDE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FTTR Resuelve la Degradación Doméstica del Wi-Fi Llevando Microfibra a Cada Habitación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El Muro del Wi-Fi Doméstico: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FTTH entrega 1,000 Mbps en la entrada de la casa. Sin embargo, las ondas Wi-Fi (5/6 GHz) sufren atenuaciones drásticas al atravesar muros de hormigón, perdiendo &gt;80% de velocidad en dormitorios lejanos.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Solución FTTR (Fiber To The Room):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Extiende una micro-red de fibra dentro de la casa usando cable transparente invisible (norma G.657.A2) pegado al rodapié sin alterar la estética.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Arquitectura Maestro-Sub ONT: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Una ONT Maestra conecta mediante mini-splitters a ONTs de borde en cada habitación, garantizando latencias &lt;1 ms y velocidad simétrica real de más de 1 Gbps en cualquier rincón.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3" descr="foto_instalacion_fttr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6. Instalación de hilo de fibra óptica micro-transparente invisible sobre el rodapié para la arquitectura FTTR.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B373FCC-AD60-491F-B612-B83AF9E39571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XGS-PON y 50G-PON Multiplican la Velocidad Reutilizando los Cables Enterrados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Saturación de GPON Tradicional: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Los 2.5 Gbps compartidos de GPON se quedan cortos con video 8K, trabajo remoto intensivo e Inteligencia Artificial.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Evolución a XGS-PON y 50G-PON: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XGS-PON (ITU-T G.9807) ofrece 10 Gbps simétricos. La nueva norma 50G-PON (ITU-T G.9804.3) eleva la velocidad a 50 Gbps con latencia sub-milisegundo.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Coexistencia Espectral WDM (Sin Cambiar Cables):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Las operadoras NO necesitan desenterrar las fibras de las calles. Mediante Módulos de Coexistencia (CEx), GPON, XGS-PON y 50G-PON viajan juntas en el mismo cristal usando diferentes colores de luz.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Picture 3" descr="foto_empalmadora_fusion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7. Máquina empalmadora por fusión alineando y uniendo dos núcleos de fibra óptica monomodo.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6FB0024-87FC-4B87-9795-EE80A6E9BB4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548640" y="365760"/>
            <a:ext cx="11094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REDES DE ALTA VELOCIDAD | HISTORIA Y EVOLUCIÓN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Herramientas de Campo: Cajas CTO, Reflectómetros OTDR y Mediciones de Potencia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548640" y="1463040"/>
            <a:ext cx="58518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Caja de Terminal Óptico (CTO):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Caja pasiva instalada en postes o fachadas. Contiene splitters secundarios y conectores SC/APC para derivar la acometida exterior hacia cada domicilio.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Reflectómetro Óptico (OTDR):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Instrumento de diagnóstico que emite pulsos de luz para medir la atenuación del tramo y localizar atenuaciones o cortes exactos en metros.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Medición de Potencia Óptica (Power Meter):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Verdana"/>
              </a:rPr>
              <a:t>El técnico verifica que la señal en el hogar se ubique dentro de los márgenes normativos (ej. -18 a -25 dBm) antes de dar de alta el servicio con la ONT.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Picture 3" descr="foto_tecnico_cto_poste.png"/>
          <p:cNvPicPr/>
          <p:nvPr/>
        </p:nvPicPr>
        <p:blipFill>
          <a:blip r:embed="rId1"/>
          <a:stretch/>
        </p:blipFill>
        <p:spPr>
          <a:xfrm>
            <a:off x="6583680" y="1463040"/>
            <a:ext cx="5028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6583680" y="592524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0" i="1" u="none" strike="noStrike">
                <a:solidFill>
                  <a:srgbClr val="64748B"/>
                </a:solidFill>
                <a:effectLst/>
                <a:uFillTx/>
                <a:latin typeface="Verdana"/>
              </a:rPr>
              <a:t>Figura 8. Técnico de campo realizando mediciones y empalmes en una Caja de Terminal Óptico (CTO) sobre poste.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148FF14-1501-4C24-8C4D-D2E395458523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548640" y="365760"/>
            <a:ext cx="110941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SÍNTESIS Y FUENTES FORMALES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</a:rPr>
              <a:t>Conclusiones y Referencias en Formato Estándar IEEE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548640" y="1371600"/>
            <a:ext cx="5303160" cy="49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D97706"/>
                </a:solidFill>
                <a:effectLst/>
                <a:uFillTx/>
                <a:latin typeface="Verdana"/>
              </a:rPr>
              <a:t>Conclusiones Principales: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150" b="0" u="none" strike="noStrike">
                <a:solidFill>
                  <a:srgbClr val="E2E8F0"/>
                </a:solidFill>
                <a:effectLst/>
                <a:uFillTx/>
                <a:latin typeface="Verdana"/>
              </a:rPr>
              <a:t>1. La sílice purificada y la arquitectura PON transformaron la comunicación humana sustituyendo electrones en cobre por fotones en vidrio.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150" b="0" u="none" strike="noStrike">
                <a:solidFill>
                  <a:srgbClr val="E2E8F0"/>
                </a:solidFill>
                <a:effectLst/>
                <a:uFillTx/>
                <a:latin typeface="Verdana"/>
              </a:rPr>
              <a:t>2. FTTH resolvió de forma definitiva la atenuación por distancia, la diafonía y la fragilidad del ADSL y HFC.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150" b="0" u="none" strike="noStrike">
                <a:solidFill>
                  <a:srgbClr val="E2E8F0"/>
                </a:solidFill>
                <a:effectLst/>
                <a:uFillTx/>
                <a:latin typeface="Verdana"/>
              </a:rPr>
              <a:t>3. La red pasiva enterrada se mantiene vigente, evolucionando mediante FTTR (cobertura interna) y 50G-PON (velocidad masiva) sin cambiar los cables.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6126480" y="1371600"/>
            <a:ext cx="5486040" cy="49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284C7"/>
                </a:solidFill>
                <a:effectLst/>
                <a:uFillTx/>
                <a:latin typeface="Verdana"/>
              </a:rPr>
              <a:t>Referencias Bibliográficas (Formato IEEE):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[1] C. K. Kao and G. A. Hockham, "Dielectric-fibre surface waveguides for optical frequencies," Proc. IEE, vol. 113, no. 7, pp. 1151–1158, Jul. 1966.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[2] J. R. Stern et al., "TPON - a passive optical network for telephony," Proc. ECOC, pp. 203–206, 1987.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[3] ITU-T, Gigabit-capable Passive Optical Networks (GPON), ITU-T Recommendation G.984 Series, 2008.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[4] ITU-T, 10-Gigabit-capable symmetric passive optical networks (XGS-PON), ITU-T Recommendation G.9807.1, 2016.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[5] ITU-T, Higher speed passive optical networks - 50G-PON, ITU-T Recommendation G.9804.3, 2021.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Verdana"/>
              </a:rPr>
              <a:t>[6] ETSI, Fifth Generation Fixed Network (F5G); F5G technology landscape, ETSI GS F5G 013, 2023.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B43C559-A8D6-4690-95B3-FDACF133EDC4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2026-10-06T00:24:21Z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