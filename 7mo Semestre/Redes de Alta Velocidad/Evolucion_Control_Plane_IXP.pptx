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D8E9B62-3632-4CF0-9542-29FBB9A4209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 del Orador: Esta presentación analiza la génesis, arquitectura técnica y evolución del plano de control en los IXPs. Se aborda desde las restricciones de la AUP en la NSFNET (1989-1995), el surgimiento de MAE-East, la transición desde NAPs hacia conmutación L2, y la evolución actual hacia Peering LAN 2.0 (EVPN-VXLAN) y Software-Defined Exchanges (SDX). Referencias IEEE incluidas al final del documento.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C041E5-20A0-424D-8A7D-649FADE6246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 del Orador: El contexto histórico combina el fin de la Guerra Fría con la privatización de la red dorsal NSFNET. La AUP de la NSFNET impedía tráfico comercial. Scott Yeager y Rick Adams idearon MAE-East en un bar en Virginia en 1992. Steven Feldman implementó la red en un cuarto de bloques en el nivel P1 de un estacionamiento en Vienna, VA, conectando UUNET/AlterNet, PSINet y Sprint ICM a 10 Mbps FOIRL.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9A282B-9A01-46EA-B41C-0F7145A4FF7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 del Orador: Se comparan FIX, NSFNET Backbone y los NAPs de 1993. El modelo ATM con PVCs requería N*(N-1)/2 circuitos, colapsando los procesadores de los routers e induciendo afligimiento en BGP (route flapping). El fenómeno del 'tromboning' forzaba al tráfico a dar rodeos continentales.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106DA0-1F85-4D78-AC38-4A8DFCC4CCE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 del Orador: Explica por qué el IXP clásico (Peering LAN 1.0) llegó a su límite. El ruido BUM consumía CPU en los routers de los clientes. El Proxy ARP involuntario atraía tráfico no deseado y provocaba caídas de 10 a 20 minutos hasta detectar y apagar el puerto del cliente.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1CB9B1-0C4A-4C56-99A6-BF267B13634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 del Orador: Explica la solución Peering LAN 2.0 basada en EVPN-VXLAN y estandarizada en RFC 9161 con apoyo de Nokia y DE-CIX. Snoopea las peticiones ARP/ND y responde desde el conmutador. Logra reducir 25% la CPU de los routers interconectados.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06B607-14E6-42A3-A626-A62E94454FD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 del Orador: Explica la evolución hacia SDX (Software-Defined Exchange), proyectos iSDX, ENDEAVOUR y Dynam-IX. Resuelve las limitaciones de BGP permitiendo decisiones de enrutamiento por aplicación, mitigación de DDoS en el conmutador y peering para 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E6AC18-323D-408D-BE56-135E75F2D10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 del Orador: Lista completa de referencias bibliográficas en formato IEEE que respaldan cada afirmación, dato histórico, parámetro técnico y arquitectura expuesta en la presentación.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7DEE69-3DAA-4BA8-9CDA-F8B28F0889E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AF97F1-5C17-4E45-B131-447F6C0998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3CCF6A-D4E4-4B4D-A451-FD43C5872A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C4C9B9-8CCD-4DBF-BD61-F77292F5B0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DC819C-BD8A-4798-86AE-F00E6E7FDB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1B13CD-CFEF-4D73-AE2A-2CD2A1FCB8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B908DF-902E-432E-92DF-B6E871D43F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EB2EBA-BE8A-4F90-9DB6-164D539B86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9C60D3-6EDF-4B09-99A9-5BB5975E09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FB0267-BB54-4D24-B570-861E0D8DD2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11C2E8-0715-4035-B17E-8AEB27703F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251AE6-0CB6-4C36-9EE5-E25E570CCB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1"/>
          <p:cNvSpPr/>
          <p:nvPr/>
        </p:nvSpPr>
        <p:spPr>
          <a:xfrm>
            <a:off x="731520" y="731520"/>
            <a:ext cx="10728360" cy="5394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097280" y="1188720"/>
            <a:ext cx="9966600" cy="31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Georgia"/>
              </a:rPr>
              <a:t>Evolución del Plano de Control y Arquitectura en los Puntos de Intercambio de Internet (IXP)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1800" b="0" u="none" strike="noStrike">
                <a:solidFill>
                  <a:srgbClr val="0284C7"/>
                </a:solidFill>
                <a:effectLst/>
                <a:uFillTx/>
                <a:latin typeface="Arial"/>
              </a:rPr>
              <a:t>Génesis Histórica, Privatización de la Red Dorsal, Transición desde NAPs / AUP hacia Peering LAN 2.0 (EVPN-VXLAN) y SDX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284C7"/>
                </a:solidFill>
                <a:effectLst/>
                <a:uFillTx/>
                <a:latin typeface="Arial"/>
              </a:rPr>
              <a:t>REDES DE ALTA VELOCIDAD | IX / IXP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731520" y="640080"/>
            <a:ext cx="1072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Georgia"/>
              </a:rPr>
              <a:t>La prohibición del tráfico comercial en la NSFNET desencadenó la invención de los IXP en una cerveza informal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731520" y="1444680"/>
            <a:ext cx="10728360" cy="252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73152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914400" y="1783080"/>
            <a:ext cx="48459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Georgia"/>
              </a:rPr>
              <a:t>Contexto Geopolítico y Tecnológico (1989–1995)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Fin de la Guerra Fría y Reasignación de Fondos: </a:t>
            </a: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Redireccionamiento de capitales de defensa hacia fibra óptica urbana civil.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Nacimiento de la WWW (1989) y Mosaic (1993): </a:t>
            </a: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Crecimiento exponencial de datos no académicos en la red dorsal.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El Bloqueo Regulatorio de la AUP (Acceptable Use Policy): </a:t>
            </a: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La NSFNET pública prohibía estrictamente tráfico comercial o lucrativo. Dos ISPs comerciales (UUNET, PSINet, AlterNet) no podían intercambiar paquetes por la dorsal pública sin violar leyes federales.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La Necesidad Humana: </a:t>
            </a: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Interconectar a millones de usuarios comerciales sin depender de infraestructura estatal subvencionada.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6"/>
          <p:cNvSpPr/>
          <p:nvPr/>
        </p:nvSpPr>
        <p:spPr>
          <a:xfrm>
            <a:off x="624816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6431040" y="1783080"/>
            <a:ext cx="48459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D97706"/>
                </a:solidFill>
                <a:effectLst/>
                <a:uFillTx/>
                <a:latin typeface="Georgia"/>
              </a:rPr>
              <a:t>El 'Chisme' de la Industria: Nacimiento de MAE-East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• Una Cerveza Informal en Virginia (1992): </a:t>
            </a: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Scott Yeager (ejecutivo de MFS) y Rick Adams (fundador de UUNET) se reunieron en un bar de Virginia. Reconocieron lo absurdo de enviar tráfico local dando rodeos lejanos para evitar violar la AUP de NSFNET.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• Diseño en un Sótano de Estacionamiento: </a:t>
            </a: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Steven Feldman (MFS) diseñó el primer IXP no gubernamental. Comenzó a operar en 1993 en un pequeño cuarto de bloques de hormigón en el estacionamiento P1 del 1919 Gallows Road en Vienna, Virginia.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• Infraestructura Inicial MFS: </a:t>
            </a: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Ethernet compartida de 10 Mbps sobre FOIRL (Fiber Optic Inter-Repeater Link), conectando AlterNet, PSINet y Sprint ICM.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• Evolución Inmediata: </a:t>
            </a: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En 1994 migró a conmutadores DEC GigaSwitch con FDDI (100 Mbps) ante el colapso del tráfico mundial.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284C7"/>
                </a:solidFill>
                <a:effectLst/>
                <a:uFillTx/>
                <a:latin typeface="Arial"/>
              </a:rPr>
              <a:t>REDES DE ALTA VELOCIDAD | IX / IXP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640080"/>
            <a:ext cx="1072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Georgia"/>
              </a:rPr>
              <a:t>La arquitectura jerárquica y los NAPs basados en ATM/FDDI colapsaron por costo, tromboning y complejidad O(N²)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731520" y="1444680"/>
            <a:ext cx="10728360" cy="252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731520" y="1645920"/>
            <a:ext cx="338292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868680" y="173736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0284C7"/>
                </a:solidFill>
                <a:effectLst/>
                <a:uFillTx/>
                <a:latin typeface="Georgia"/>
              </a:rPr>
              <a:t>Federal Internet Exchanges (FIX)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Puntos de intercambio gubernamentales (FIX-East/West en NASA Ames y U. Maryland). Estrictamente vedados al tráfico comercial civil.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6"/>
          <p:cNvSpPr/>
          <p:nvPr/>
        </p:nvSpPr>
        <p:spPr>
          <a:xfrm>
            <a:off x="4389120" y="1645920"/>
            <a:ext cx="338292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4526280" y="173736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0D9488"/>
                </a:solidFill>
                <a:effectLst/>
                <a:uFillTx/>
                <a:latin typeface="Georgia"/>
              </a:rPr>
              <a:t>NSFNET Backbone (T1/T3)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Red dorsal jerárquica basada en routers LSI-11 (fuzzballs) e IBM RS/6000. Paso obligatorio que generaba latencias masivas por desvío lejano.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8"/>
          <p:cNvSpPr/>
          <p:nvPr/>
        </p:nvSpPr>
        <p:spPr>
          <a:xfrm>
            <a:off x="8046720" y="1645920"/>
            <a:ext cx="338292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8183880" y="173736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D97706"/>
                </a:solidFill>
                <a:effectLst/>
                <a:uFillTx/>
                <a:latin typeface="Georgia"/>
              </a:rPr>
              <a:t>Network Access Points (NAPs 1993)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Licitación de la NSF para privatizar la dorsal (PacBell, Ameritech, Sprint, MFS). Intentaron usar matrices ATM con PVCs dedicados.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0"/>
          <p:cNvSpPr/>
          <p:nvPr/>
        </p:nvSpPr>
        <p:spPr>
          <a:xfrm>
            <a:off x="731520" y="4297680"/>
            <a:ext cx="10728360" cy="2102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914400" y="4389120"/>
            <a:ext cx="103626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D97706"/>
                </a:solidFill>
                <a:effectLst/>
                <a:uFillTx/>
                <a:latin typeface="Georgia"/>
              </a:rPr>
              <a:t>Tres Deficiencias Críticas que Provocaron el Colapso de los Antecesores: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1. Fenómeno de 'Tromboning' y Latencia: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Tráfico local entre dos ISPs de una misma ciudad viajaba miles de km a través de un backbone lejano para cruzar de red, inflando el RTT.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2. Costos de Tránsito Exorbitantes: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Cobros por volumen de megabits transportados pagados a operadores de Nivel 1 (Upstream Transit) para entregar tráfico local.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3. Mallas Cuadráticas ATM O(N²) e Inestabilidad BGP: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El uso de Circuitos Virtuales Permanentes (PVC) en ATM requería N*(N-1)/2 conexiones, agotando la memoria de los routers y generando flapping BGP.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284C7"/>
                </a:solidFill>
                <a:effectLst/>
                <a:uFillTx/>
                <a:latin typeface="Arial"/>
              </a:rPr>
              <a:t>REDES DE ALTA VELOCIDAD | IX / IXP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731520" y="640080"/>
            <a:ext cx="1072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Georgia"/>
              </a:rPr>
              <a:t>La inundación de tráfico BUM y las tormentas de Proxy ARP paralizaban los IXP tradicionales al crecer la escala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731520" y="1444680"/>
            <a:ext cx="10728360" cy="252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ounded Rectangle 4"/>
          <p:cNvSpPr/>
          <p:nvPr/>
        </p:nvSpPr>
        <p:spPr>
          <a:xfrm>
            <a:off x="73152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914400" y="1783080"/>
            <a:ext cx="48459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D97706"/>
                </a:solidFill>
                <a:effectLst/>
                <a:uFillTx/>
                <a:latin typeface="Georgia"/>
              </a:rPr>
              <a:t>Saturación por Ruido BUM (Broadcast, Unknown Unicast, Multicast)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Crecimiento del Dominio de Difusión: </a:t>
            </a: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Al conectar más de 1,000 routers a una misma VLAN L2, las solicitudes ARP (IPv4) y Neighbor Discovery (IPv6) generan un 'ruido de fondo' de hasta 2 Mbps sostenidos.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Sobrecarga de Procesamiento en Routers: </a:t>
            </a: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Cada paquete de broadcast debe ser procesado por la CPU de TODOS los routers conectados a la Peering LAN, provocando picos innecesarios de carga.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• Agotamiento de Tablas MAC: </a:t>
            </a: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Las tablas de direcciones MAC de los switches de acceso se desbordaban por la cantidad masiva de interfaces participantes.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6"/>
          <p:cNvSpPr/>
          <p:nvPr/>
        </p:nvSpPr>
        <p:spPr>
          <a:xfrm>
            <a:off x="624816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6431040" y="1783080"/>
            <a:ext cx="48459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0D9488"/>
                </a:solidFill>
                <a:effectLst/>
                <a:uFillTx/>
                <a:latin typeface="Georgia"/>
              </a:rPr>
              <a:t>El Incidente del Proxy ARP / ND Desconfigurado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• Mecanismo de Falla: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Si un router de un cliente activaba accidentalmente la función 'Proxy ARP', comenzaba a responder a TODAS las solicitudes ARP de la Peering LAN afirmando poseer las direcciones de los demás.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• Atracción y Agujero Negro de Tráfico: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Gigabits de tráfico de múltiples participantes convergían erróneamente hacia el router malconfigurado, colapsándolo por completo e interrumpiendo el IXP.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• Impacto Operativo Severo: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Aun con sistemas de detección automatizados, la identificación y aislamiento del router culpable tomaba de 10 a 20 minutos, afectando la estabilidad global del IXP.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284C7"/>
                </a:solidFill>
                <a:effectLst/>
                <a:uFillTx/>
                <a:latin typeface="Arial"/>
              </a:rPr>
              <a:t>REDES DE ALTA VELOCIDAD | IX / IXP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731520" y="640080"/>
            <a:ext cx="1072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Georgia"/>
              </a:rPr>
              <a:t>La arquitectura EVPN-VXLAN elimina las tormentas de broadcast y reduce un 25% el uso de CPU en los routers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731520" y="1444680"/>
            <a:ext cx="10728360" cy="252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ounded Rectangle 4"/>
          <p:cNvSpPr/>
          <p:nvPr/>
        </p:nvSpPr>
        <p:spPr>
          <a:xfrm>
            <a:off x="73152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914400" y="1783080"/>
            <a:ext cx="48459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0284C7"/>
                </a:solidFill>
                <a:effectLst/>
                <a:uFillTx/>
                <a:latin typeface="Georgia"/>
              </a:rPr>
              <a:t>Arquitectura EVPN-VXLAN (RFC 9161)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Plano de Control BGP en el Overlay: 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Distribución de direcciones MAC mediante MP-BGP unicast en lugar de la inundación de broadcast en el plano de datos.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Agente Proxy ARP/ND Integrado: 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El conmutador del IXP mantiene vinculaciones estáticas estrictas entre Dirección IP y Dirección MAC. Intercepta solicitudes ARP/ND y responde localmente desde el borde.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Eliminación Total del Vector de Proxy ARP: 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Incluso si un cliente activa Proxy ARP en su router, la solicitud es filtrada en el puerto de entrada, imposibilitando la inundación.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6"/>
          <p:cNvSpPr/>
          <p:nvPr/>
        </p:nvSpPr>
        <p:spPr>
          <a:xfrm>
            <a:off x="624816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6431040" y="1783080"/>
            <a:ext cx="48459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0D9488"/>
                </a:solidFill>
                <a:effectLst/>
                <a:uFillTx/>
                <a:latin typeface="Georgia"/>
              </a:rPr>
              <a:t>Despliegue en DE-CIX Apollon y Resultados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• Migración Masiva sin Interrupción (2022):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DE-CIX actualizó la plataforma Apollon (Frankfurt, Nueva York) a 'Peering LAN 2.0' sobre routers Nokia FP/SR sin un solo segundo de caída para los miembros.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• Reducción del 25% en Carga de CPU: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Los participantes reportaron una reducción del consumo de procesamiento de CPU de hasta un 25% al desaparecer el 'ruido' de red ARP/ND.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• Aislamiento Multi-datacenter: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Túneles VXLAN/MPLS permiten interconectar datacenters distantes (ej. Frankfurt a 400 km) manteniendo el aislamiento de seguridad L2/L3.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284C7"/>
                </a:solidFill>
                <a:effectLst/>
                <a:uFillTx/>
                <a:latin typeface="Arial"/>
              </a:rPr>
              <a:t>REDES DE ALTA VELOCIDAD | IX / IXP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731520" y="640080"/>
            <a:ext cx="1072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Georgia"/>
              </a:rPr>
              <a:t>La integración de controladores SDN transforma los IXP en plataformas inteligentes programables por aplicación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731520" y="1444680"/>
            <a:ext cx="10728360" cy="252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ounded Rectangle 4"/>
          <p:cNvSpPr/>
          <p:nvPr/>
        </p:nvSpPr>
        <p:spPr>
          <a:xfrm>
            <a:off x="731520" y="1645920"/>
            <a:ext cx="338292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868680" y="1737360"/>
            <a:ext cx="3108600" cy="15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D97706"/>
                </a:solidFill>
                <a:effectLst/>
                <a:uFillTx/>
                <a:latin typeface="Georgia"/>
              </a:rPr>
              <a:t>Incapacidad Estructural de BGP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BGP tradicional toma decisiones de enrutamiento basadas exclusivamente en el prefijo IP de destino. No puede tomar decisiones por puerto L4, aplicación o calidad de servicio.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6"/>
          <p:cNvSpPr/>
          <p:nvPr/>
        </p:nvSpPr>
        <p:spPr>
          <a:xfrm>
            <a:off x="4389120" y="1645920"/>
            <a:ext cx="338292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7"/>
          <p:cNvSpPr/>
          <p:nvPr/>
        </p:nvSpPr>
        <p:spPr>
          <a:xfrm>
            <a:off x="4526280" y="1737360"/>
            <a:ext cx="310860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0284C7"/>
                </a:solidFill>
                <a:effectLst/>
                <a:uFillTx/>
                <a:latin typeface="Georgia"/>
              </a:rPr>
              <a:t>Arquitectura SDX (iSDX / OpenFlow)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Introduce un plano de control SDN desacoplado con OpenFlow/P4. Permite a los ASes instalar reglas de flujo en las tablas del conmutador central del IXP.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8"/>
          <p:cNvSpPr/>
          <p:nvPr/>
        </p:nvSpPr>
        <p:spPr>
          <a:xfrm>
            <a:off x="8046720" y="1645920"/>
            <a:ext cx="338292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8183880" y="173736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0D9488"/>
                </a:solidFill>
                <a:effectLst/>
                <a:uFillTx/>
                <a:latin typeface="Georgia"/>
              </a:rPr>
              <a:t>Ingeniería de Tráfico Multidimensional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Los miembros pueden desviar tráfico de video/juegos por rutas de menor latencia y tráfico masivo/backup por enlaces de menor costo de forma dinámica.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10"/>
          <p:cNvSpPr/>
          <p:nvPr/>
        </p:nvSpPr>
        <p:spPr>
          <a:xfrm>
            <a:off x="731520" y="4297680"/>
            <a:ext cx="10728360" cy="2102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1"/>
          <p:cNvSpPr/>
          <p:nvPr/>
        </p:nvSpPr>
        <p:spPr>
          <a:xfrm>
            <a:off x="914400" y="4389120"/>
            <a:ext cx="103626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0D9488"/>
                </a:solidFill>
                <a:effectLst/>
                <a:uFillTx/>
                <a:latin typeface="Georgia"/>
              </a:rPr>
              <a:t>Casos de Uso Avanzados en Software-Defined Exchanges (SDX / ENDEAVOUR):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• Mitigación Automatizada de DDoS: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Filtrado directo de ataques de denegación de servicio en la matriz del IXP antes de que saturen el puerto de acceso del miembro atacado.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• Acuerdos Dinámicos (Dynam-IX):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Establecimiento automatizado de acuerdos de peering temporales en segundos mediante contratos digitales y registros distribuidos (Blockchain).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• Peering para Inteligencia Artificial (AI Exchanges):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Redes de baja latencia determinista e interconexión multi-nube directa para inferencia masiva de IA en el Deep Edge.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284C7"/>
                </a:solidFill>
                <a:effectLst/>
                <a:uFillTx/>
                <a:latin typeface="Arial"/>
              </a:rPr>
              <a:t>FUENTES DE INFORMACIÓN Y CITAS IEEE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731520" y="640080"/>
            <a:ext cx="1072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Georgia"/>
              </a:rPr>
              <a:t>Referencias Académicas e Industriales en Formato Estricto IEEE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731520" y="1444680"/>
            <a:ext cx="10728360" cy="252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731520" y="1645920"/>
            <a:ext cx="1072836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Arial"/>
              </a:rPr>
              <a:t>[1] W. J. A. Silva and D. F. H. Sadok, "A Survey on Efforts to Evolve the Control Plane of Inter-Domain Routing," Information, vol. 9, no. 5, p. 125, May 2018. doi: 10.3390/info9050125.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Arial"/>
              </a:rPr>
              <a:t>[2] T. King, "Peering LAN 2.0 — Introduction of EVPN at DE-CIX," APNIC Blog, Aug. 16, 2023. [Online]. Available: https://blog.apnic.net/2023/08/16/peering-lan-2-0-introduction-of-evpn-at-de-cix/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Arial"/>
              </a:rPr>
              <a:t>[3] B. Woodcock and M. Frigino, "2016 Survey of Internet Carrier Interconnection Agreements," Packet Clearing House (PCH), San Francisco, CA, USA, Rep. PCH-2016, Nov. 2016.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Arial"/>
              </a:rPr>
              <a:t>[4] A. Gupta, R. MacDavid, R. Birkner, M. Canini, N. Feamster, J. Rexford, and L. Vanbever, "An Industrial-Scale Software Defined Internet Exchange Point," in Proc. 13th USENIX Symp. Netw. Syst. Design Impl. (NSDI '16), Santa Clara, CA, USA, Mar. 2016, pp. 1–14.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Arial"/>
              </a:rPr>
              <a:t>[5] M. Chiesa, C. Dietzel, G. Antichi, M. Bruyere, I. Castro, M. Gusat, T. King, A. W. Moore, P. Owezarski, S. Uhlig, and M. Canini, "Inter-domain Networking Innovation on Steroids: Empowering IXPs with SDN Capabilities," IEEE Commun. Mag., vol. 54, no. 10, pp. 102–108, Oct. 2016.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Arial"/>
              </a:rPr>
              <a:t>[6] DE-CIX Apollon Team, "DE-CIX Apollon: Cutting Edge Interconnection for DE-CIX Members," presented at RIPE 66 Meeting, Dublin, Ireland, May 2013.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Arial"/>
              </a:rPr>
              <a:t>[7] Nokia Networks, "Ethernet VPN (EVPN) Architecture for Data Centers and Internet Exchange Points," Nokia Tech. White Paper, 2023.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Arial"/>
              </a:rPr>
              <a:t>[8] S. R. Harris and E. Gerich, "Retiring the NSFNET Backbone Service: Chronicling the End of an Era," ConneXions, vol. 10, no. 4, Apr. 1996.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2026-09-22T02:24:47Z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