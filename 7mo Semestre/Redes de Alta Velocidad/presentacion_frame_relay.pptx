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E2E"/>
        </a:solidFill>
        <a:effectLst/>
      </p:bgPr>
    </p:bg>
    <p:spTree>
      <p:nvGrpSpPr>
        <p:cNvPr id="1" name=""/>
        <p:cNvGrpSpPr/>
        <p:nvPr/>
      </p:nvGrpSpPr>
      <p:grpSpPr/>
      <p:sp>
        <p:nvSpPr>
          <p:cNvPr id="2" name="Rectangle 1"/>
          <p:cNvSpPr/>
          <p:nvPr/>
        </p:nvSpPr>
        <p:spPr>
          <a:xfrm>
            <a:off x="731520" y="2011680"/>
            <a:ext cx="137160" cy="2926080"/>
          </a:xfrm>
          <a:prstGeom prst="rect">
            <a:avLst/>
          </a:prstGeom>
          <a:solidFill>
            <a:srgbClr val="C85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10058400" cy="3200400"/>
          </a:xfrm>
          <a:prstGeom prst="rect">
            <a:avLst/>
          </a:prstGeom>
          <a:noFill/>
        </p:spPr>
        <p:txBody>
          <a:bodyPr wrap="square" lIns="0" tIns="0">
            <a:spAutoFit/>
          </a:bodyPr>
          <a:lstStyle/>
          <a:p>
            <a:pPr>
              <a:spcAft>
                <a:spcPts val="800"/>
              </a:spcAft>
              <a:defRPr sz="3800" b="1">
                <a:solidFill>
                  <a:srgbClr val="FFFFFF"/>
                </a:solidFill>
                <a:latin typeface="Georgia"/>
              </a:defRPr>
            </a:pPr>
            <a:r>
              <a:t>LA REVOLUCIÓN DE FRAME RELAY</a:t>
            </a:r>
          </a:p>
          <a:p>
            <a:pPr>
              <a:spcAft>
                <a:spcPts val="2800"/>
              </a:spcAft>
              <a:defRPr sz="1800" b="1">
                <a:solidFill>
                  <a:srgbClr val="007A87"/>
                </a:solidFill>
                <a:latin typeface="Arial"/>
              </a:defRPr>
            </a:pPr>
            <a:r>
              <a:t>Fundamentos, Gestión y Evolución en Redes de Alta Velocidad</a:t>
            </a:r>
          </a:p>
          <a:p>
            <a:pPr>
              <a:defRPr sz="1300">
                <a:solidFill>
                  <a:srgbClr val="9EA7B8"/>
                </a:solidFill>
                <a:latin typeface="Arial"/>
              </a:defRPr>
            </a:pPr>
            <a:r>
              <a:t>Materia: Redes de Alta Velocidad</a:t>
            </a:r>
            <a:br/>
            <a:r>
              <a:t>Investigación histórica, técnica y comparativa profunda (X.25, ATM y MPLS)</a:t>
            </a:r>
            <a:br/>
            <a:r>
              <a:t>Generada por Gemini Notebook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rIns="0" tIns="0" bIns="0">
            <a:spAutoFit/>
          </a:bodyPr>
          <a:lstStyle/>
          <a:p>
            <a:pPr>
              <a:defRPr sz="2600" b="1">
                <a:solidFill>
                  <a:srgbClr val="1E2530"/>
                </a:solidFill>
                <a:latin typeface="Georgia"/>
              </a:defRPr>
            </a:pPr>
            <a:r>
              <a:t>La Nueva Guerra Fría y el Despertar de la Interconexión (1979-1985)</a:t>
            </a:r>
          </a:p>
        </p:txBody>
      </p:sp>
      <p:sp>
        <p:nvSpPr>
          <p:cNvPr id="3" name="Rectangle 2"/>
          <p:cNvSpPr/>
          <p:nvPr/>
        </p:nvSpPr>
        <p:spPr>
          <a:xfrm>
            <a:off x="731520" y="1097280"/>
            <a:ext cx="10728655" cy="254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303520" cy="4572000"/>
          </a:xfrm>
          <a:prstGeom prst="rect">
            <a:avLst/>
          </a:prstGeom>
          <a:noFill/>
        </p:spPr>
        <p:txBody>
          <a:bodyPr wrap="square" lIns="0" tIns="0">
            <a:spAutoFit/>
          </a:bodyPr>
          <a:lstStyle/>
          <a:p>
            <a:pPr>
              <a:spcAft>
                <a:spcPts val="1000"/>
              </a:spcAft>
              <a:defRPr sz="1800" b="1">
                <a:solidFill>
                  <a:srgbClr val="007A87"/>
                </a:solidFill>
                <a:latin typeface="Georgia"/>
              </a:defRPr>
            </a:pPr>
            <a:r>
              <a:t>El nacimiento de una solución tecnológica</a:t>
            </a:r>
          </a:p>
          <a:p>
            <a:pPr algn="l">
              <a:spcBef>
                <a:spcPts val="800"/>
              </a:spcBef>
              <a:spcAft>
                <a:spcPts val="200"/>
              </a:spcAft>
            </a:pPr>
            <a:r>
              <a:rPr sz="1300">
                <a:solidFill>
                  <a:srgbClr val="C85A17"/>
                </a:solidFill>
                <a:latin typeface="Arial"/>
              </a:rPr>
              <a:t>▪ </a:t>
            </a:r>
            <a:r>
              <a:rPr sz="1300" b="1">
                <a:solidFill>
                  <a:srgbClr val="1E2530"/>
                </a:solidFill>
                <a:latin typeface="Arial"/>
              </a:rPr>
              <a:t>Tensiones Geopolíticas: </a:t>
            </a:r>
            <a:r>
              <a:rPr sz="1300">
                <a:solidFill>
                  <a:srgbClr val="1E2530"/>
                </a:solidFill>
                <a:latin typeface="Arial"/>
              </a:rPr>
              <a:t>Los años 80 marcaron la 'Nueva Guerra Fría'. Hechos como la invasión soviética a Afganistán en 1979 y programas de defensa militar de alta tecnología como la Iniciativa de Defensa Estratégica (SDI / 'Star Wars') de Reagan redefinieron los límites científicos mundiales.</a:t>
            </a:r>
          </a:p>
          <a:p>
            <a:pPr algn="l">
              <a:spcBef>
                <a:spcPts val="800"/>
              </a:spcBef>
              <a:spcAft>
                <a:spcPts val="200"/>
              </a:spcAft>
            </a:pPr>
            <a:r>
              <a:rPr sz="1300">
                <a:solidFill>
                  <a:srgbClr val="C85A17"/>
                </a:solidFill>
                <a:latin typeface="Arial"/>
              </a:rPr>
              <a:t>▪ </a:t>
            </a:r>
            <a:r>
              <a:rPr sz="1300" b="1">
                <a:solidFill>
                  <a:srgbClr val="1E2530"/>
                </a:solidFill>
                <a:latin typeface="Arial"/>
              </a:rPr>
              <a:t>Revolución de las LANs: </a:t>
            </a:r>
            <a:r>
              <a:rPr sz="1300">
                <a:solidFill>
                  <a:srgbClr val="1E2530"/>
                </a:solidFill>
                <a:latin typeface="Arial"/>
              </a:rPr>
              <a:t>Fuera de la arena militar, la informática civil experimentaba una explosión: la adopción masiva de Redes de Área Local (LAN). La interconexión corporativa se convirtió en una prioridad humana crítica.</a:t>
            </a:r>
          </a:p>
          <a:p>
            <a:pPr algn="l">
              <a:spcBef>
                <a:spcPts val="800"/>
              </a:spcBef>
              <a:spcAft>
                <a:spcPts val="200"/>
              </a:spcAft>
            </a:pPr>
            <a:r>
              <a:rPr sz="1300">
                <a:solidFill>
                  <a:srgbClr val="C85A17"/>
                </a:solidFill>
                <a:latin typeface="Arial"/>
              </a:rPr>
              <a:t>▪ </a:t>
            </a:r>
            <a:r>
              <a:rPr sz="1300" b="1">
                <a:solidFill>
                  <a:srgbClr val="1E2530"/>
                </a:solidFill>
                <a:latin typeface="Arial"/>
              </a:rPr>
              <a:t>La Necesidad Humana: </a:t>
            </a:r>
            <a:r>
              <a:rPr sz="1300">
                <a:solidFill>
                  <a:srgbClr val="1E2530"/>
                </a:solidFill>
                <a:latin typeface="Arial"/>
              </a:rPr>
              <a:t>Las empresas requerían unir sucursales distantes de forma rápida y económica. Las líneas dedicadas tradicionales eran inflexibles y prohibitivamente costosas, lo que obligó a buscar un estándar WAN dinámico.</a:t>
            </a:r>
          </a:p>
        </p:txBody>
      </p:sp>
      <p:pic>
        <p:nvPicPr>
          <p:cNvPr id="5" name="Picture 4" descr="people_using_network.png"/>
          <p:cNvPicPr>
            <a:picLocks noChangeAspect="1"/>
          </p:cNvPicPr>
          <p:nvPr/>
        </p:nvPicPr>
        <p:blipFill>
          <a:blip r:embed="rId2"/>
          <a:stretch>
            <a:fillRect/>
          </a:stretch>
        </p:blipFill>
        <p:spPr>
          <a:xfrm>
            <a:off x="6217920" y="1463040"/>
            <a:ext cx="5212080" cy="3909060"/>
          </a:xfrm>
          <a:prstGeom prst="rect">
            <a:avLst/>
          </a:prstGeom>
        </p:spPr>
      </p:pic>
      <p:sp>
        <p:nvSpPr>
          <p:cNvPr id="6" name="TextBox 5"/>
          <p:cNvSpPr txBox="1"/>
          <p:nvPr/>
        </p:nvSpPr>
        <p:spPr>
          <a:xfrm>
            <a:off x="6217920" y="5440680"/>
            <a:ext cx="5212080" cy="731520"/>
          </a:xfrm>
          <a:prstGeom prst="rect">
            <a:avLst/>
          </a:prstGeom>
          <a:noFill/>
        </p:spPr>
        <p:txBody>
          <a:bodyPr wrap="square" lIns="0" tIns="0">
            <a:spAutoFit/>
          </a:bodyPr>
          <a:lstStyle/>
          <a:p>
            <a:pPr>
              <a:defRPr sz="1000" i="1">
                <a:solidFill>
                  <a:srgbClr val="5C6479"/>
                </a:solidFill>
                <a:latin typeface="Arial"/>
              </a:defRPr>
            </a:pPr>
            <a:r>
              <a:t>Fotografía de época (1989): Trabajadores corporativos utilizando sistemas informáticos interconectados sobre una arquitectura WAN incipiente de alta velocidad.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rIns="0" tIns="0" bIns="0">
            <a:spAutoFit/>
          </a:bodyPr>
          <a:lstStyle/>
          <a:p>
            <a:pPr>
              <a:defRPr sz="2600" b="1">
                <a:solidFill>
                  <a:srgbClr val="1E2530"/>
                </a:solidFill>
                <a:latin typeface="Georgia"/>
              </a:defRPr>
            </a:pPr>
            <a:r>
              <a:t>Línea de Tiempo: Del Cobre Ruidoso a la Fibra Óptica Confiable</a:t>
            </a:r>
          </a:p>
        </p:txBody>
      </p:sp>
      <p:sp>
        <p:nvSpPr>
          <p:cNvPr id="3" name="Rectangle 2"/>
          <p:cNvSpPr/>
          <p:nvPr/>
        </p:nvSpPr>
        <p:spPr>
          <a:xfrm>
            <a:off x="731520" y="1097280"/>
            <a:ext cx="10728655" cy="254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2468880" cy="4389120"/>
          </a:xfrm>
          <a:prstGeom prst="roundRect">
            <a:avLst/>
          </a:prstGeom>
          <a:solidFill>
            <a:srgbClr val="FFFFFF"/>
          </a:solidFill>
          <a:ln w="19050">
            <a:solidFill>
              <a:srgbClr val="E2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194560" cy="4023360"/>
          </a:xfrm>
          <a:prstGeom prst="rect">
            <a:avLst/>
          </a:prstGeom>
          <a:noFill/>
        </p:spPr>
        <p:txBody>
          <a:bodyPr wrap="square" lIns="0" rIns="0" tIns="0" bIns="0">
            <a:spAutoFit/>
          </a:bodyPr>
          <a:lstStyle/>
          <a:p>
            <a:pPr>
              <a:spcAft>
                <a:spcPts val="400"/>
              </a:spcAft>
              <a:defRPr sz="1200" b="1">
                <a:solidFill>
                  <a:srgbClr val="007A87"/>
                </a:solidFill>
                <a:latin typeface="Arial"/>
              </a:defRPr>
            </a:pPr>
            <a:r>
              <a:t>Fase 01</a:t>
            </a:r>
          </a:p>
          <a:p>
            <a:pPr>
              <a:spcAft>
                <a:spcPts val="200"/>
              </a:spcAft>
              <a:defRPr sz="1800" b="1">
                <a:solidFill>
                  <a:srgbClr val="C85A17"/>
                </a:solidFill>
                <a:latin typeface="Georgia"/>
              </a:defRPr>
            </a:pPr>
            <a:r>
              <a:t>Años 1970</a:t>
            </a:r>
          </a:p>
          <a:p>
            <a:pPr>
              <a:spcAft>
                <a:spcPts val="1200"/>
              </a:spcAft>
              <a:defRPr sz="1400" b="1">
                <a:solidFill>
                  <a:srgbClr val="1E2530"/>
                </a:solidFill>
                <a:latin typeface="Arial"/>
              </a:defRPr>
            </a:pPr>
            <a:r>
              <a:t>La Era de X.25</a:t>
            </a:r>
          </a:p>
          <a:p>
            <a:pPr>
              <a:lnSpc>
                <a:spcPct val="115000"/>
              </a:lnSpc>
              <a:defRPr sz="1100">
                <a:solidFill>
                  <a:srgbClr val="5C6479"/>
                </a:solidFill>
                <a:latin typeface="Arial"/>
              </a:defRPr>
            </a:pPr>
            <a:r>
              <a:t>Diseñado para líneas analógicas de cobre de alta tasa de error. Realiza un pesado control de errores y flujo salto a salto en Capa 3, resultando lento y con alta latencia.</a:t>
            </a:r>
          </a:p>
        </p:txBody>
      </p:sp>
      <p:sp>
        <p:nvSpPr>
          <p:cNvPr id="6" name="Rounded Rectangle 5"/>
          <p:cNvSpPr/>
          <p:nvPr/>
        </p:nvSpPr>
        <p:spPr>
          <a:xfrm>
            <a:off x="3474720" y="1645920"/>
            <a:ext cx="2468880" cy="4389120"/>
          </a:xfrm>
          <a:prstGeom prst="roundRect">
            <a:avLst/>
          </a:prstGeom>
          <a:solidFill>
            <a:srgbClr val="FFFFFF"/>
          </a:solidFill>
          <a:ln w="19050">
            <a:solidFill>
              <a:srgbClr val="E2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828800"/>
            <a:ext cx="2194560" cy="4023360"/>
          </a:xfrm>
          <a:prstGeom prst="rect">
            <a:avLst/>
          </a:prstGeom>
          <a:noFill/>
        </p:spPr>
        <p:txBody>
          <a:bodyPr wrap="square" lIns="0" rIns="0" tIns="0" bIns="0">
            <a:spAutoFit/>
          </a:bodyPr>
          <a:lstStyle/>
          <a:p>
            <a:pPr>
              <a:spcAft>
                <a:spcPts val="400"/>
              </a:spcAft>
              <a:defRPr sz="1200" b="1">
                <a:solidFill>
                  <a:srgbClr val="007A87"/>
                </a:solidFill>
                <a:latin typeface="Arial"/>
              </a:defRPr>
            </a:pPr>
            <a:r>
              <a:t>Fase 02</a:t>
            </a:r>
          </a:p>
          <a:p>
            <a:pPr>
              <a:spcAft>
                <a:spcPts val="200"/>
              </a:spcAft>
              <a:defRPr sz="1800" b="1">
                <a:solidFill>
                  <a:srgbClr val="C85A17"/>
                </a:solidFill>
                <a:latin typeface="Georgia"/>
              </a:defRPr>
            </a:pPr>
            <a:r>
              <a:t>Mediados 1980</a:t>
            </a:r>
          </a:p>
          <a:p>
            <a:pPr>
              <a:spcAft>
                <a:spcPts val="1200"/>
              </a:spcAft>
              <a:defRPr sz="1400" b="1">
                <a:solidFill>
                  <a:srgbClr val="1E2530"/>
                </a:solidFill>
                <a:latin typeface="Arial"/>
              </a:defRPr>
            </a:pPr>
            <a:r>
              <a:t>La Visión de Scace</a:t>
            </a:r>
          </a:p>
          <a:p>
            <a:pPr>
              <a:lnSpc>
                <a:spcPct val="115000"/>
              </a:lnSpc>
              <a:defRPr sz="1100">
                <a:solidFill>
                  <a:srgbClr val="5C6479"/>
                </a:solidFill>
                <a:latin typeface="Arial"/>
              </a:defRPr>
            </a:pPr>
            <a:r>
              <a:t>Eric Scace (Sprint International) propone simplificar X.25 eliminando la Capa 3 para interfaces ISDN digitales, delegando el control de errores a los extremos de la red.</a:t>
            </a:r>
          </a:p>
        </p:txBody>
      </p:sp>
      <p:sp>
        <p:nvSpPr>
          <p:cNvPr id="8" name="Rounded Rectangle 7"/>
          <p:cNvSpPr/>
          <p:nvPr/>
        </p:nvSpPr>
        <p:spPr>
          <a:xfrm>
            <a:off x="6217920" y="1645920"/>
            <a:ext cx="2468880" cy="4389120"/>
          </a:xfrm>
          <a:prstGeom prst="roundRect">
            <a:avLst/>
          </a:prstGeom>
          <a:solidFill>
            <a:srgbClr val="FFFFFF"/>
          </a:solidFill>
          <a:ln w="19050">
            <a:solidFill>
              <a:srgbClr val="E2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2194560" cy="4023360"/>
          </a:xfrm>
          <a:prstGeom prst="rect">
            <a:avLst/>
          </a:prstGeom>
          <a:noFill/>
        </p:spPr>
        <p:txBody>
          <a:bodyPr wrap="square" lIns="0" rIns="0" tIns="0" bIns="0">
            <a:spAutoFit/>
          </a:bodyPr>
          <a:lstStyle/>
          <a:p>
            <a:pPr>
              <a:spcAft>
                <a:spcPts val="400"/>
              </a:spcAft>
              <a:defRPr sz="1200" b="1">
                <a:solidFill>
                  <a:srgbClr val="007A87"/>
                </a:solidFill>
                <a:latin typeface="Arial"/>
              </a:defRPr>
            </a:pPr>
            <a:r>
              <a:t>Fase 03</a:t>
            </a:r>
          </a:p>
          <a:p>
            <a:pPr>
              <a:spcAft>
                <a:spcPts val="200"/>
              </a:spcAft>
              <a:defRPr sz="1800" b="1">
                <a:solidFill>
                  <a:srgbClr val="C85A17"/>
                </a:solidFill>
                <a:latin typeface="Georgia"/>
              </a:defRPr>
            </a:pPr>
            <a:r>
              <a:t>Año 1990</a:t>
            </a:r>
          </a:p>
          <a:p>
            <a:pPr>
              <a:spcAft>
                <a:spcPts val="1200"/>
              </a:spcAft>
              <a:defRPr sz="1400" b="1">
                <a:solidFill>
                  <a:srgbClr val="1E2530"/>
                </a:solidFill>
                <a:latin typeface="Arial"/>
              </a:defRPr>
            </a:pPr>
            <a:r>
              <a:t>El 'Gang of Four'</a:t>
            </a:r>
          </a:p>
          <a:p>
            <a:pPr>
              <a:lnSpc>
                <a:spcPct val="115000"/>
              </a:lnSpc>
              <a:defRPr sz="1100">
                <a:solidFill>
                  <a:srgbClr val="5C6479"/>
                </a:solidFill>
                <a:latin typeface="Arial"/>
              </a:defRPr>
            </a:pPr>
            <a:r>
              <a:t>Cisco, DEC, Northern Telecom y StrataCom fundan un consorcio industrial clave para interoperar equipos, desarrollar y estandarizar de forma masiva el protocolo.</a:t>
            </a:r>
          </a:p>
        </p:txBody>
      </p:sp>
      <p:sp>
        <p:nvSpPr>
          <p:cNvPr id="10" name="Rounded Rectangle 9"/>
          <p:cNvSpPr/>
          <p:nvPr/>
        </p:nvSpPr>
        <p:spPr>
          <a:xfrm>
            <a:off x="8961120" y="1645920"/>
            <a:ext cx="2468880" cy="4389120"/>
          </a:xfrm>
          <a:prstGeom prst="roundRect">
            <a:avLst/>
          </a:prstGeom>
          <a:solidFill>
            <a:srgbClr val="FFFFFF"/>
          </a:solidFill>
          <a:ln w="19050">
            <a:solidFill>
              <a:srgbClr val="E2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828800"/>
            <a:ext cx="2194560" cy="4023360"/>
          </a:xfrm>
          <a:prstGeom prst="rect">
            <a:avLst/>
          </a:prstGeom>
          <a:noFill/>
        </p:spPr>
        <p:txBody>
          <a:bodyPr wrap="square" lIns="0" rIns="0" tIns="0" bIns="0">
            <a:spAutoFit/>
          </a:bodyPr>
          <a:lstStyle/>
          <a:p>
            <a:pPr>
              <a:spcAft>
                <a:spcPts val="400"/>
              </a:spcAft>
              <a:defRPr sz="1200" b="1">
                <a:solidFill>
                  <a:srgbClr val="007A87"/>
                </a:solidFill>
                <a:latin typeface="Arial"/>
              </a:defRPr>
            </a:pPr>
            <a:r>
              <a:t>Fase 04</a:t>
            </a:r>
          </a:p>
          <a:p>
            <a:pPr>
              <a:spcAft>
                <a:spcPts val="200"/>
              </a:spcAft>
              <a:defRPr sz="1800" b="1">
                <a:solidFill>
                  <a:srgbClr val="C85A17"/>
                </a:solidFill>
                <a:latin typeface="Georgia"/>
              </a:defRPr>
            </a:pPr>
            <a:r>
              <a:t>1991 - 1993</a:t>
            </a:r>
          </a:p>
          <a:p>
            <a:pPr>
              <a:spcAft>
                <a:spcPts val="1200"/>
              </a:spcAft>
              <a:defRPr sz="1400" b="1">
                <a:solidFill>
                  <a:srgbClr val="1E2530"/>
                </a:solidFill>
                <a:latin typeface="Arial"/>
              </a:defRPr>
            </a:pPr>
            <a:r>
              <a:t>Estandarización</a:t>
            </a:r>
          </a:p>
          <a:p>
            <a:pPr>
              <a:lnSpc>
                <a:spcPct val="115000"/>
              </a:lnSpc>
              <a:defRPr sz="1100">
                <a:solidFill>
                  <a:srgbClr val="5C6479"/>
                </a:solidFill>
                <a:latin typeface="Arial"/>
              </a:defRPr>
            </a:pPr>
            <a:r>
              <a:t>ANSI (T1.606/7/8), CCITT (Q.922/Q.933) y el Frame Relay Forum formalizan las especificaciones técnicas globales de los PVCs, señalización LMI y conmutación ágil.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rIns="0" tIns="0" bIns="0">
            <a:spAutoFit/>
          </a:bodyPr>
          <a:lstStyle/>
          <a:p>
            <a:pPr>
              <a:defRPr sz="2600" b="1">
                <a:solidFill>
                  <a:srgbClr val="1E2530"/>
                </a:solidFill>
                <a:latin typeface="Georgia"/>
              </a:defRPr>
            </a:pPr>
            <a:r>
              <a:t>Arquitectura de Enlace: Equipos Activos y Conexión Física</a:t>
            </a:r>
          </a:p>
        </p:txBody>
      </p:sp>
      <p:sp>
        <p:nvSpPr>
          <p:cNvPr id="3" name="Rectangle 2"/>
          <p:cNvSpPr/>
          <p:nvPr/>
        </p:nvSpPr>
        <p:spPr>
          <a:xfrm>
            <a:off x="731520" y="1097280"/>
            <a:ext cx="10728655" cy="254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rame_relay_equipment.png"/>
          <p:cNvPicPr>
            <a:picLocks noChangeAspect="1"/>
          </p:cNvPicPr>
          <p:nvPr/>
        </p:nvPicPr>
        <p:blipFill>
          <a:blip r:embed="rId2"/>
          <a:stretch>
            <a:fillRect/>
          </a:stretch>
        </p:blipFill>
        <p:spPr>
          <a:xfrm>
            <a:off x="731520" y="1463040"/>
            <a:ext cx="5212080" cy="3909060"/>
          </a:xfrm>
          <a:prstGeom prst="rect">
            <a:avLst/>
          </a:prstGeom>
        </p:spPr>
      </p:pic>
      <p:sp>
        <p:nvSpPr>
          <p:cNvPr id="5" name="TextBox 4"/>
          <p:cNvSpPr txBox="1"/>
          <p:nvPr/>
        </p:nvSpPr>
        <p:spPr>
          <a:xfrm>
            <a:off x="731520" y="5440680"/>
            <a:ext cx="5212080" cy="731520"/>
          </a:xfrm>
          <a:prstGeom prst="rect">
            <a:avLst/>
          </a:prstGeom>
          <a:noFill/>
        </p:spPr>
        <p:txBody>
          <a:bodyPr wrap="square" lIns="0" tIns="0">
            <a:spAutoFit/>
          </a:bodyPr>
          <a:lstStyle/>
          <a:p>
            <a:pPr>
              <a:defRPr sz="1000" i="1">
                <a:solidFill>
                  <a:srgbClr val="5C6479"/>
                </a:solidFill>
                <a:latin typeface="Arial"/>
              </a:defRPr>
            </a:pPr>
            <a:r>
              <a:t>Fotografía de equipamiento: Switch multiprotocolo StrataCom IPX (Coche/Carrier) y router modular Cisco configurados con cable serial grueso V.35.</a:t>
            </a:r>
          </a:p>
        </p:txBody>
      </p:sp>
      <p:sp>
        <p:nvSpPr>
          <p:cNvPr id="6" name="TextBox 5"/>
          <p:cNvSpPr txBox="1"/>
          <p:nvPr/>
        </p:nvSpPr>
        <p:spPr>
          <a:xfrm>
            <a:off x="6217920" y="1463040"/>
            <a:ext cx="5303520" cy="4572000"/>
          </a:xfrm>
          <a:prstGeom prst="rect">
            <a:avLst/>
          </a:prstGeom>
          <a:noFill/>
        </p:spPr>
        <p:txBody>
          <a:bodyPr wrap="square" lIns="0" tIns="0">
            <a:spAutoFit/>
          </a:bodyPr>
          <a:lstStyle/>
          <a:p>
            <a:pPr>
              <a:spcAft>
                <a:spcPts val="1000"/>
              </a:spcAft>
              <a:defRPr sz="1800" b="1">
                <a:solidFill>
                  <a:srgbClr val="007A87"/>
                </a:solidFill>
                <a:latin typeface="Georgia"/>
              </a:defRPr>
            </a:pPr>
            <a:r>
              <a:t>La topología física y lógica de la WAN</a:t>
            </a:r>
          </a:p>
          <a:p>
            <a:pPr algn="l">
              <a:spcBef>
                <a:spcPts val="800"/>
              </a:spcBef>
              <a:spcAft>
                <a:spcPts val="200"/>
              </a:spcAft>
            </a:pPr>
            <a:r>
              <a:rPr sz="1300">
                <a:solidFill>
                  <a:srgbClr val="C85A17"/>
                </a:solidFill>
                <a:latin typeface="Arial"/>
              </a:rPr>
              <a:t>▪ </a:t>
            </a:r>
            <a:r>
              <a:rPr sz="1300" b="1">
                <a:solidFill>
                  <a:srgbClr val="1E2530"/>
                </a:solidFill>
                <a:latin typeface="Arial"/>
              </a:rPr>
              <a:t>DTE (Data Terminal Equipment): </a:t>
            </a:r>
            <a:r>
              <a:rPr sz="1300">
                <a:solidFill>
                  <a:srgbClr val="1E2530"/>
                </a:solidFill>
                <a:latin typeface="Arial"/>
              </a:rPr>
              <a:t>Dispositivos propiedad del cliente (CPE), representados principalmente por routers Cisco y switches locales que inician, encapsulan y terminan el tráfico en la interfaz WAN.</a:t>
            </a:r>
          </a:p>
          <a:p>
            <a:pPr algn="l">
              <a:spcBef>
                <a:spcPts val="800"/>
              </a:spcBef>
              <a:spcAft>
                <a:spcPts val="200"/>
              </a:spcAft>
            </a:pPr>
            <a:r>
              <a:rPr sz="1300">
                <a:solidFill>
                  <a:srgbClr val="C85A17"/>
                </a:solidFill>
                <a:latin typeface="Arial"/>
              </a:rPr>
              <a:t>▪ </a:t>
            </a:r>
            <a:r>
              <a:rPr sz="1300" b="1">
                <a:solidFill>
                  <a:srgbClr val="1E2530"/>
                </a:solidFill>
                <a:latin typeface="Arial"/>
              </a:rPr>
              <a:t>DCE (Data Circuit-terminating Equipment): </a:t>
            </a:r>
            <a:r>
              <a:rPr sz="1300">
                <a:solidFill>
                  <a:srgbClr val="1E2530"/>
                </a:solidFill>
                <a:latin typeface="Arial"/>
              </a:rPr>
              <a:t>Dispositivos de conmutación propiedad del proveedor (carrier-owned) que proveen servicios de temporización de reloj y enrutamiento interno rápido en la red.</a:t>
            </a:r>
          </a:p>
          <a:p>
            <a:pPr algn="l">
              <a:spcBef>
                <a:spcPts val="800"/>
              </a:spcBef>
              <a:spcAft>
                <a:spcPts val="200"/>
              </a:spcAft>
            </a:pPr>
            <a:r>
              <a:rPr sz="1300">
                <a:solidFill>
                  <a:srgbClr val="C85A17"/>
                </a:solidFill>
                <a:latin typeface="Arial"/>
              </a:rPr>
              <a:t>▪ </a:t>
            </a:r>
            <a:r>
              <a:rPr sz="1300" b="1">
                <a:solidFill>
                  <a:srgbClr val="1E2530"/>
                </a:solidFill>
                <a:latin typeface="Arial"/>
              </a:rPr>
              <a:t>Circuitos Virtuales Permanentes (PVC): </a:t>
            </a:r>
            <a:r>
              <a:rPr sz="1300">
                <a:solidFill>
                  <a:srgbClr val="1E2530"/>
                </a:solidFill>
                <a:latin typeface="Arial"/>
              </a:rPr>
              <a:t>Rutas lógicas permanentes definidas por software a través de la nube compartida, que conectan dos DTEs sin la necesidad de realizar llamadas telefónicas tradicionales.</a:t>
            </a:r>
          </a:p>
          <a:p>
            <a:pPr algn="l">
              <a:spcBef>
                <a:spcPts val="800"/>
              </a:spcBef>
              <a:spcAft>
                <a:spcPts val="200"/>
              </a:spcAft>
            </a:pPr>
            <a:r>
              <a:rPr sz="1300">
                <a:solidFill>
                  <a:srgbClr val="C85A17"/>
                </a:solidFill>
                <a:latin typeface="Arial"/>
              </a:rPr>
              <a:t>▪ </a:t>
            </a:r>
            <a:r>
              <a:rPr sz="1300" b="1">
                <a:solidFill>
                  <a:srgbClr val="1E2530"/>
                </a:solidFill>
                <a:latin typeface="Arial"/>
              </a:rPr>
              <a:t>Interfaz LMI (Local Management Interface): </a:t>
            </a:r>
            <a:r>
              <a:rPr sz="1300">
                <a:solidFill>
                  <a:srgbClr val="1E2530"/>
                </a:solidFill>
                <a:latin typeface="Arial"/>
              </a:rPr>
              <a:t>Protocolo de señalización crítico que se ejecuta entre el router DTE y el switch DCE, encargado de notificar de forma dinámica el estado físico de los PVCs y su disponibilidad.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rIns="0" tIns="0" bIns="0">
            <a:spAutoFit/>
          </a:bodyPr>
          <a:lstStyle/>
          <a:p>
            <a:pPr>
              <a:defRPr sz="2600" b="1">
                <a:solidFill>
                  <a:srgbClr val="1E2530"/>
                </a:solidFill>
                <a:latin typeface="Georgia"/>
              </a:defRPr>
            </a:pPr>
            <a:r>
              <a:t>Cómo Funciona Frame Relay: Multiplexación Lógica y Control</a:t>
            </a:r>
          </a:p>
        </p:txBody>
      </p:sp>
      <p:sp>
        <p:nvSpPr>
          <p:cNvPr id="3" name="Rectangle 2"/>
          <p:cNvSpPr/>
          <p:nvPr/>
        </p:nvSpPr>
        <p:spPr>
          <a:xfrm>
            <a:off x="731520" y="1097280"/>
            <a:ext cx="10728655" cy="254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3383280" cy="4389120"/>
          </a:xfrm>
          <a:prstGeom prst="roundRect">
            <a:avLst/>
          </a:prstGeom>
          <a:solidFill>
            <a:srgbClr val="FFFFFF"/>
          </a:solidFill>
          <a:ln w="19050">
            <a:solidFill>
              <a:srgbClr val="E2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17520" cy="4023360"/>
          </a:xfrm>
          <a:prstGeom prst="rect">
            <a:avLst/>
          </a:prstGeom>
          <a:noFill/>
        </p:spPr>
        <p:txBody>
          <a:bodyPr wrap="square" lIns="0" rIns="0" tIns="0" bIns="0">
            <a:spAutoFit/>
          </a:bodyPr>
          <a:lstStyle/>
          <a:p>
            <a:pPr>
              <a:spcAft>
                <a:spcPts val="400"/>
              </a:spcAft>
              <a:defRPr sz="2200" b="1">
                <a:solidFill>
                  <a:srgbClr val="007A87"/>
                </a:solidFill>
                <a:latin typeface="Georgia"/>
              </a:defRPr>
            </a:pPr>
            <a:r>
              <a:t>01</a:t>
            </a:r>
          </a:p>
          <a:p>
            <a:pPr>
              <a:spcAft>
                <a:spcPts val="1200"/>
              </a:spcAft>
              <a:defRPr sz="1600" b="1">
                <a:solidFill>
                  <a:srgbClr val="1E2530"/>
                </a:solidFill>
                <a:latin typeface="Arial"/>
              </a:defRPr>
            </a:pPr>
            <a:r>
              <a:t>Eliminación de la Capa 3</a:t>
            </a:r>
          </a:p>
          <a:p>
            <a:pPr>
              <a:lnSpc>
                <a:spcPct val="115000"/>
              </a:lnSpc>
              <a:defRPr sz="1150">
                <a:solidFill>
                  <a:srgbClr val="5C6479"/>
                </a:solidFill>
                <a:latin typeface="Arial"/>
              </a:defRPr>
            </a:pPr>
            <a:r>
              <a:t>Al operar estrictamente en la Capa de Enlace de Datos (Capa 2), Frame Relay asume que la fibra óptica moderna es altamente confiable. Elimina el pesado control de errores y flujo salto por salto de X.25. Si una trama llega con errores, simplemente se descarta. El protocolo de transporte final en los extremos (TCP) se encarga de retransmitir. Esto permite transmisiones hasta 20 veces más rápidas.</a:t>
            </a:r>
          </a:p>
        </p:txBody>
      </p:sp>
      <p:sp>
        <p:nvSpPr>
          <p:cNvPr id="6" name="Rounded Rectangle 5"/>
          <p:cNvSpPr/>
          <p:nvPr/>
        </p:nvSpPr>
        <p:spPr>
          <a:xfrm>
            <a:off x="4389120" y="1645920"/>
            <a:ext cx="3383280" cy="4389120"/>
          </a:xfrm>
          <a:prstGeom prst="roundRect">
            <a:avLst/>
          </a:prstGeom>
          <a:solidFill>
            <a:srgbClr val="FFFFFF"/>
          </a:solidFill>
          <a:ln w="19050">
            <a:solidFill>
              <a:srgbClr val="E2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828800"/>
            <a:ext cx="3017520" cy="4023360"/>
          </a:xfrm>
          <a:prstGeom prst="rect">
            <a:avLst/>
          </a:prstGeom>
          <a:noFill/>
        </p:spPr>
        <p:txBody>
          <a:bodyPr wrap="square" lIns="0" rIns="0" tIns="0" bIns="0">
            <a:spAutoFit/>
          </a:bodyPr>
          <a:lstStyle/>
          <a:p>
            <a:pPr>
              <a:spcAft>
                <a:spcPts val="400"/>
              </a:spcAft>
              <a:defRPr sz="2200" b="1">
                <a:solidFill>
                  <a:srgbClr val="007A87"/>
                </a:solidFill>
                <a:latin typeface="Georgia"/>
              </a:defRPr>
            </a:pPr>
            <a:r>
              <a:t>02</a:t>
            </a:r>
          </a:p>
          <a:p>
            <a:pPr>
              <a:spcAft>
                <a:spcPts val="1200"/>
              </a:spcAft>
              <a:defRPr sz="1600" b="1">
                <a:solidFill>
                  <a:srgbClr val="1E2530"/>
                </a:solidFill>
                <a:latin typeface="Arial"/>
              </a:defRPr>
            </a:pPr>
            <a:r>
              <a:t>Multiplexación por DLCI</a:t>
            </a:r>
          </a:p>
          <a:p>
            <a:pPr>
              <a:lnSpc>
                <a:spcPct val="115000"/>
              </a:lnSpc>
              <a:defRPr sz="1150">
                <a:solidFill>
                  <a:srgbClr val="5C6479"/>
                </a:solidFill>
                <a:latin typeface="Arial"/>
              </a:defRPr>
            </a:pPr>
            <a:r>
              <a:t>Utiliza identificadores lógicos locales llamados DLCIs (Data Link Connection Identifiers) de 10 bits incrustados en la cabecera. Un solo puerto físico serial en el router puede albergar y mapear simultáneamente cientos de conexiones virtuales lógicas permanentes (PVCs) a diferentes destinos del mundo. Esto eliminó el costo financiero de contratar costosas líneas dedicadas individuales.</a:t>
            </a:r>
          </a:p>
        </p:txBody>
      </p:sp>
      <p:sp>
        <p:nvSpPr>
          <p:cNvPr id="8" name="Rounded Rectangle 7"/>
          <p:cNvSpPr/>
          <p:nvPr/>
        </p:nvSpPr>
        <p:spPr>
          <a:xfrm>
            <a:off x="8046720" y="1645920"/>
            <a:ext cx="3383280" cy="4389120"/>
          </a:xfrm>
          <a:prstGeom prst="roundRect">
            <a:avLst/>
          </a:prstGeom>
          <a:solidFill>
            <a:srgbClr val="FFFFFF"/>
          </a:solidFill>
          <a:ln w="19050">
            <a:solidFill>
              <a:srgbClr val="E2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28800"/>
            <a:ext cx="3017520" cy="4023360"/>
          </a:xfrm>
          <a:prstGeom prst="rect">
            <a:avLst/>
          </a:prstGeom>
          <a:noFill/>
        </p:spPr>
        <p:txBody>
          <a:bodyPr wrap="square" lIns="0" rIns="0" tIns="0" bIns="0">
            <a:spAutoFit/>
          </a:bodyPr>
          <a:lstStyle/>
          <a:p>
            <a:pPr>
              <a:spcAft>
                <a:spcPts val="400"/>
              </a:spcAft>
              <a:defRPr sz="2200" b="1">
                <a:solidFill>
                  <a:srgbClr val="007A87"/>
                </a:solidFill>
                <a:latin typeface="Georgia"/>
              </a:defRPr>
            </a:pPr>
            <a:r>
              <a:t>03</a:t>
            </a:r>
          </a:p>
          <a:p>
            <a:pPr>
              <a:spcAft>
                <a:spcPts val="1200"/>
              </a:spcAft>
              <a:defRPr sz="1600" b="1">
                <a:solidFill>
                  <a:srgbClr val="1E2530"/>
                </a:solidFill>
                <a:latin typeface="Arial"/>
              </a:defRPr>
            </a:pPr>
            <a:r>
              <a:t>Control de Congestión Inteligente</a:t>
            </a:r>
          </a:p>
          <a:p>
            <a:pPr>
              <a:lnSpc>
                <a:spcPct val="115000"/>
              </a:lnSpc>
              <a:defRPr sz="1150">
                <a:solidFill>
                  <a:srgbClr val="5C6479"/>
                </a:solidFill>
                <a:latin typeface="Arial"/>
              </a:defRPr>
            </a:pPr>
            <a:r>
              <a:t>Dado que el medio WAN de la nube es compartido, utiliza tres eficientes bits de señalización:</a:t>
            </a:r>
            <a:br/>
            <a:r>
              <a:t>• FECN (Forward Explicit Congestion Notification): Alerta al extremo receptor sobre la congestión física.</a:t>
            </a:r>
            <a:br/>
            <a:r>
              <a:t>• BECN (Backward Explicit Congestion Notification): Alerta al emisor para que disminuya su tasa.</a:t>
            </a:r>
            <a:br/>
            <a:r>
              <a:t>• DE (Discard Eligibility): Marca tramas de prioridad baja para ser descartadas primero en congestiones masivas.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rIns="0" tIns="0" bIns="0">
            <a:spAutoFit/>
          </a:bodyPr>
          <a:lstStyle/>
          <a:p>
            <a:pPr>
              <a:defRPr sz="2600" b="1">
                <a:solidFill>
                  <a:srgbClr val="1E2530"/>
                </a:solidFill>
                <a:latin typeface="Georgia"/>
              </a:defRPr>
            </a:pPr>
            <a:r>
              <a:t>Duelo WAN: ¿Por qué triunfó Frame Relay frente a la sofisticación de ATM?</a:t>
            </a:r>
          </a:p>
        </p:txBody>
      </p:sp>
      <p:sp>
        <p:nvSpPr>
          <p:cNvPr id="3" name="Rectangle 2"/>
          <p:cNvSpPr/>
          <p:nvPr/>
        </p:nvSpPr>
        <p:spPr>
          <a:xfrm>
            <a:off x="731520" y="1097280"/>
            <a:ext cx="10728655" cy="254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2286000"/>
                <a:gridCol w="4206240"/>
                <a:gridCol w="4206240"/>
              </a:tblGrid>
              <a:tr h="731520">
                <a:tc>
                  <a:txBody>
                    <a:bodyPr/>
                    <a:lstStyle/>
                    <a:p>
                      <a:pPr algn="l"/>
                      <a:r>
                        <a:rPr b="1" sz="1300">
                          <a:solidFill>
                            <a:srgbClr val="FFFFFF"/>
                          </a:solidFill>
                          <a:latin typeface="Arial"/>
                        </a:rPr>
                        <a:t>Característica</a:t>
                      </a:r>
                    </a:p>
                  </a:txBody>
                  <a:tcPr marL="109728" marR="109728" marT="91440" marB="91440">
                    <a:solidFill>
                      <a:srgbClr val="111E2E"/>
                    </a:solidFill>
                  </a:tcPr>
                </a:tc>
                <a:tc>
                  <a:txBody>
                    <a:bodyPr/>
                    <a:lstStyle/>
                    <a:p>
                      <a:pPr algn="l"/>
                      <a:r>
                        <a:rPr b="1" sz="1300">
                          <a:solidFill>
                            <a:srgbClr val="FFFFFF"/>
                          </a:solidFill>
                          <a:latin typeface="Arial"/>
                        </a:rPr>
                        <a:t>Frame Relay (El Ganador WAN)</a:t>
                      </a:r>
                    </a:p>
                  </a:txBody>
                  <a:tcPr marL="109728" marR="109728" marT="91440" marB="91440">
                    <a:solidFill>
                      <a:srgbClr val="111E2E"/>
                    </a:solidFill>
                  </a:tcPr>
                </a:tc>
                <a:tc>
                  <a:txBody>
                    <a:bodyPr/>
                    <a:lstStyle/>
                    <a:p>
                      <a:pPr algn="l"/>
                      <a:r>
                        <a:rPr b="1" sz="1300">
                          <a:solidFill>
                            <a:srgbClr val="FFFFFF"/>
                          </a:solidFill>
                          <a:latin typeface="Arial"/>
                        </a:rPr>
                        <a:t>ATM (Asynchronous Transfer Mode)</a:t>
                      </a:r>
                    </a:p>
                  </a:txBody>
                  <a:tcPr marL="109728" marR="109728" marT="91440" marB="91440">
                    <a:solidFill>
                      <a:srgbClr val="111E2E"/>
                    </a:solidFill>
                  </a:tcPr>
                </a:tc>
              </a:tr>
              <a:tr h="731520">
                <a:tc>
                  <a:txBody>
                    <a:bodyPr/>
                    <a:lstStyle/>
                    <a:p>
                      <a:pPr algn="l"/>
                      <a:r>
                        <a:rPr sz="1100" b="1">
                          <a:solidFill>
                            <a:srgbClr val="C85A17"/>
                          </a:solidFill>
                          <a:latin typeface="Arial"/>
                        </a:rPr>
                        <a:t>Unidad de Datos</a:t>
                      </a:r>
                    </a:p>
                  </a:txBody>
                  <a:tcPr marL="109728" marR="109728" marT="91440" marB="91440">
                    <a:solidFill>
                      <a:srgbClr val="FAF9F6"/>
                    </a:solidFill>
                  </a:tcPr>
                </a:tc>
                <a:tc>
                  <a:txBody>
                    <a:bodyPr/>
                    <a:lstStyle/>
                    <a:p>
                      <a:pPr algn="l"/>
                      <a:r>
                        <a:rPr sz="1100">
                          <a:solidFill>
                            <a:srgbClr val="1E2530"/>
                          </a:solidFill>
                          <a:latin typeface="Arial"/>
                        </a:rPr>
                        <a:t>Tramas de tamaño variable (hasta 4096 bytes). Optimizado y altamente eficiente para ráfagas de datos de red.</a:t>
                      </a:r>
                    </a:p>
                  </a:txBody>
                  <a:tcPr marL="109728" marR="109728" marT="91440" marB="91440">
                    <a:solidFill>
                      <a:srgbClr val="FFFFFF"/>
                    </a:solidFill>
                  </a:tcPr>
                </a:tc>
                <a:tc>
                  <a:txBody>
                    <a:bodyPr/>
                    <a:lstStyle/>
                    <a:p>
                      <a:pPr algn="l"/>
                      <a:r>
                        <a:rPr sz="1100">
                          <a:solidFill>
                            <a:srgbClr val="1E2530"/>
                          </a:solidFill>
                          <a:latin typeface="Arial"/>
                        </a:rPr>
                        <a:t>Celdas fijas de 53 bytes (48 bytes de datos, 5 de cabecera). Ideal para priorizar voz y video en tiempo real.</a:t>
                      </a:r>
                    </a:p>
                  </a:txBody>
                  <a:tcPr marL="109728" marR="109728" marT="91440" marB="91440">
                    <a:solidFill>
                      <a:srgbClr val="FFFFFF"/>
                    </a:solidFill>
                  </a:tcPr>
                </a:tc>
              </a:tr>
              <a:tr h="731520">
                <a:tc>
                  <a:txBody>
                    <a:bodyPr/>
                    <a:lstStyle/>
                    <a:p>
                      <a:pPr algn="l"/>
                      <a:r>
                        <a:rPr sz="1100" b="1">
                          <a:solidFill>
                            <a:srgbClr val="C85A17"/>
                          </a:solidFill>
                          <a:latin typeface="Arial"/>
                        </a:rPr>
                        <a:t>Impuesto de Celda (Cell Tax)</a:t>
                      </a:r>
                    </a:p>
                  </a:txBody>
                  <a:tcPr marL="109728" marR="109728" marT="91440" marB="91440">
                    <a:solidFill>
                      <a:srgbClr val="FAF9F6"/>
                    </a:solidFill>
                  </a:tcPr>
                </a:tc>
                <a:tc>
                  <a:txBody>
                    <a:bodyPr/>
                    <a:lstStyle/>
                    <a:p>
                      <a:pPr algn="l"/>
                      <a:r>
                        <a:rPr sz="1100">
                          <a:solidFill>
                            <a:srgbClr val="1E2530"/>
                          </a:solidFill>
                          <a:latin typeface="Arial"/>
                        </a:rPr>
                        <a:t>Muy bajo overhead de cabecera, maximizando el rendimiento útil de ancho de banda.</a:t>
                      </a:r>
                    </a:p>
                  </a:txBody>
                  <a:tcPr marL="109728" marR="109728" marT="91440" marB="91440">
                    <a:solidFill>
                      <a:srgbClr val="FAF9F6"/>
                    </a:solidFill>
                  </a:tcPr>
                </a:tc>
                <a:tc>
                  <a:txBody>
                    <a:bodyPr/>
                    <a:lstStyle/>
                    <a:p>
                      <a:pPr algn="l"/>
                      <a:r>
                        <a:rPr sz="1100">
                          <a:solidFill>
                            <a:srgbClr val="1E2530"/>
                          </a:solidFill>
                          <a:latin typeface="Arial"/>
                        </a:rPr>
                        <a:t>Alto overhead. El 10% del canal se consume en cabeceras de celdas (Cell Tax), un desperdicio inviable en WANs lentas.</a:t>
                      </a:r>
                    </a:p>
                  </a:txBody>
                  <a:tcPr marL="109728" marR="109728" marT="91440" marB="91440">
                    <a:solidFill>
                      <a:srgbClr val="FAF9F6"/>
                    </a:solidFill>
                  </a:tcPr>
                </a:tc>
              </a:tr>
              <a:tr h="731520">
                <a:tc>
                  <a:txBody>
                    <a:bodyPr/>
                    <a:lstStyle/>
                    <a:p>
                      <a:pPr algn="l"/>
                      <a:r>
                        <a:rPr sz="1100" b="1">
                          <a:solidFill>
                            <a:srgbClr val="C85A17"/>
                          </a:solidFill>
                          <a:latin typeface="Arial"/>
                        </a:rPr>
                        <a:t>Costos de Implementación</a:t>
                      </a:r>
                    </a:p>
                  </a:txBody>
                  <a:tcPr marL="109728" marR="109728" marT="91440" marB="91440">
                    <a:solidFill>
                      <a:srgbClr val="FAF9F6"/>
                    </a:solidFill>
                  </a:tcPr>
                </a:tc>
                <a:tc>
                  <a:txBody>
                    <a:bodyPr/>
                    <a:lstStyle/>
                    <a:p>
                      <a:pPr algn="l"/>
                      <a:r>
                        <a:rPr sz="1100">
                          <a:solidFill>
                            <a:srgbClr val="1E2530"/>
                          </a:solidFill>
                          <a:latin typeface="Arial"/>
                        </a:rPr>
                        <a:t>Económico. Corre en hardware y puertos seriales de routers existentes con configuración sencilla de software.</a:t>
                      </a:r>
                    </a:p>
                  </a:txBody>
                  <a:tcPr marL="109728" marR="109728" marT="91440" marB="91440">
                    <a:solidFill>
                      <a:srgbClr val="FFFFFF"/>
                    </a:solidFill>
                  </a:tcPr>
                </a:tc>
                <a:tc>
                  <a:txBody>
                    <a:bodyPr/>
                    <a:lstStyle/>
                    <a:p>
                      <a:pPr algn="l"/>
                      <a:r>
                        <a:rPr sz="1100">
                          <a:solidFill>
                            <a:srgbClr val="1E2530"/>
                          </a:solidFill>
                          <a:latin typeface="Arial"/>
                        </a:rPr>
                        <a:t>Extremadamente caro. Requería renovar toda la infraestructura física con costosos switches y tarjetas dedicadas ATM.</a:t>
                      </a:r>
                    </a:p>
                  </a:txBody>
                  <a:tcPr marL="109728" marR="109728" marT="91440" marB="91440">
                    <a:solidFill>
                      <a:srgbClr val="FFFFFF"/>
                    </a:solidFill>
                  </a:tcPr>
                </a:tc>
              </a:tr>
              <a:tr h="731520">
                <a:tc>
                  <a:txBody>
                    <a:bodyPr/>
                    <a:lstStyle/>
                    <a:p>
                      <a:pPr algn="l"/>
                      <a:r>
                        <a:rPr sz="1100" b="1">
                          <a:solidFill>
                            <a:srgbClr val="C85A17"/>
                          </a:solidFill>
                          <a:latin typeface="Arial"/>
                        </a:rPr>
                        <a:t>Mecanismos de Control</a:t>
                      </a:r>
                    </a:p>
                  </a:txBody>
                  <a:tcPr marL="109728" marR="109728" marT="91440" marB="91440">
                    <a:solidFill>
                      <a:srgbClr val="FAF9F6"/>
                    </a:solidFill>
                  </a:tcPr>
                </a:tc>
                <a:tc>
                  <a:txBody>
                    <a:bodyPr/>
                    <a:lstStyle/>
                    <a:p>
                      <a:pPr algn="l"/>
                      <a:r>
                        <a:rPr sz="1100">
                          <a:solidFill>
                            <a:srgbClr val="1E2530"/>
                          </a:solidFill>
                          <a:latin typeface="Arial"/>
                        </a:rPr>
                        <a:t>FECN y BECN simples de interpretar por routers, regulando tasas dinámicas con el bit de descarte DE.</a:t>
                      </a:r>
                    </a:p>
                  </a:txBody>
                  <a:tcPr marL="109728" marR="109728" marT="91440" marB="91440">
                    <a:solidFill>
                      <a:srgbClr val="FAF9F6"/>
                    </a:solidFill>
                  </a:tcPr>
                </a:tc>
                <a:tc>
                  <a:txBody>
                    <a:bodyPr/>
                    <a:lstStyle/>
                    <a:p>
                      <a:pPr algn="l"/>
                      <a:r>
                        <a:rPr sz="1100">
                          <a:solidFill>
                            <a:srgbClr val="1E2530"/>
                          </a:solidFill>
                          <a:latin typeface="Arial"/>
                        </a:rPr>
                        <a:t>Protocolos ILMI complejos y celdas RM (Resource Management) de control sofisticadas para QoS.</a:t>
                      </a:r>
                    </a:p>
                  </a:txBody>
                  <a:tcPr marL="109728" marR="109728" marT="91440" marB="91440">
                    <a:solidFill>
                      <a:srgbClr val="FAF9F6"/>
                    </a:solidFill>
                  </a:tcPr>
                </a:tc>
              </a:tr>
              <a:tr h="731520">
                <a:tc>
                  <a:txBody>
                    <a:bodyPr/>
                    <a:lstStyle/>
                    <a:p>
                      <a:pPr algn="l"/>
                      <a:r>
                        <a:rPr sz="1100" b="1">
                          <a:solidFill>
                            <a:srgbClr val="C85A17"/>
                          </a:solidFill>
                          <a:latin typeface="Arial"/>
                        </a:rPr>
                        <a:t>Dominio Comercial</a:t>
                      </a:r>
                    </a:p>
                  </a:txBody>
                  <a:tcPr marL="109728" marR="109728" marT="91440" marB="91440">
                    <a:solidFill>
                      <a:srgbClr val="FAF9F6"/>
                    </a:solidFill>
                  </a:tcPr>
                </a:tc>
                <a:tc>
                  <a:txBody>
                    <a:bodyPr/>
                    <a:lstStyle/>
                    <a:p>
                      <a:pPr algn="l"/>
                      <a:r>
                        <a:rPr sz="1100">
                          <a:solidFill>
                            <a:srgbClr val="1E2530"/>
                          </a:solidFill>
                          <a:latin typeface="Arial"/>
                        </a:rPr>
                        <a:t>Estándar dominante para interconexión LAN corporativa de los 90.</a:t>
                      </a:r>
                    </a:p>
                  </a:txBody>
                  <a:tcPr marL="109728" marR="109728" marT="91440" marB="91440">
                    <a:solidFill>
                      <a:srgbClr val="FFFFFF"/>
                    </a:solidFill>
                  </a:tcPr>
                </a:tc>
                <a:tc>
                  <a:txBody>
                    <a:bodyPr/>
                    <a:lstStyle/>
                    <a:p>
                      <a:pPr algn="l"/>
                      <a:r>
                        <a:rPr sz="1100">
                          <a:solidFill>
                            <a:srgbClr val="1E2530"/>
                          </a:solidFill>
                          <a:latin typeface="Arial"/>
                        </a:rPr>
                        <a:t>Relegado a núcleos de Service Providers y transporte especializado de datos con mallas internas.</a:t>
                      </a:r>
                    </a:p>
                  </a:txBody>
                  <a:tcPr marL="109728" marR="109728" marT="91440" marB="91440">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rIns="0" tIns="0" bIns="0">
            <a:spAutoFit/>
          </a:bodyPr>
          <a:lstStyle/>
          <a:p>
            <a:pPr>
              <a:defRPr sz="2600" b="1">
                <a:solidFill>
                  <a:srgbClr val="1E2530"/>
                </a:solidFill>
                <a:latin typeface="Georgia"/>
              </a:defRPr>
            </a:pPr>
            <a:r>
              <a:t>La Siguiente Evolución: De mallas de Capa 2 a la era de MPLS</a:t>
            </a:r>
          </a:p>
        </p:txBody>
      </p:sp>
      <p:sp>
        <p:nvSpPr>
          <p:cNvPr id="3" name="Rectangle 2"/>
          <p:cNvSpPr/>
          <p:nvPr/>
        </p:nvSpPr>
        <p:spPr>
          <a:xfrm>
            <a:off x="731520" y="1097280"/>
            <a:ext cx="10728655" cy="2540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212080" cy="4389120"/>
          </a:xfrm>
          <a:prstGeom prst="roundRect">
            <a:avLst/>
          </a:prstGeom>
          <a:solidFill>
            <a:srgbClr val="FFFFFF"/>
          </a:solidFill>
          <a:ln w="19050">
            <a:solidFill>
              <a:srgbClr val="E2E4E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400"/>
              </a:spcAft>
              <a:defRPr sz="2000" b="1">
                <a:solidFill>
                  <a:srgbClr val="C85A17"/>
                </a:solidFill>
                <a:latin typeface="Georgia"/>
              </a:defRPr>
            </a:pPr>
            <a:r>
              <a:t>El Límite de Frame Relay</a:t>
            </a:r>
          </a:p>
          <a:p>
            <a:pPr algn="l">
              <a:spcBef>
                <a:spcPts val="800"/>
              </a:spcBef>
              <a:spcAft>
                <a:spcPts val="200"/>
              </a:spcAft>
            </a:pPr>
            <a:r>
              <a:rPr sz="1300">
                <a:solidFill>
                  <a:srgbClr val="C85A17"/>
                </a:solidFill>
                <a:latin typeface="Arial"/>
              </a:rPr>
              <a:t>▪ </a:t>
            </a:r>
            <a:r>
              <a:rPr sz="1300" b="1">
                <a:solidFill>
                  <a:srgbClr val="1E2530"/>
                </a:solidFill>
                <a:latin typeface="Arial"/>
              </a:rPr>
              <a:t>Complejidad Full-Mesh: </a:t>
            </a:r>
            <a:r>
              <a:rPr sz="1300">
                <a:solidFill>
                  <a:srgbClr val="1E2530"/>
                </a:solidFill>
                <a:latin typeface="Arial"/>
              </a:rPr>
              <a:t>Para lograr conectividad directa any-to-any entre N sucursales, se requería configurar mallas lógicas completas. Esto exigía configurar administrativamente N*(N-1)/2 PVCs individuales.</a:t>
            </a:r>
          </a:p>
          <a:p>
            <a:pPr algn="l">
              <a:spcBef>
                <a:spcPts val="800"/>
              </a:spcBef>
              <a:spcAft>
                <a:spcPts val="200"/>
              </a:spcAft>
            </a:pPr>
            <a:r>
              <a:rPr sz="1300">
                <a:solidFill>
                  <a:srgbClr val="C85A17"/>
                </a:solidFill>
                <a:latin typeface="Arial"/>
              </a:rPr>
              <a:t>▪ </a:t>
            </a:r>
            <a:r>
              <a:rPr sz="1300" b="1">
                <a:solidFill>
                  <a:srgbClr val="1E2530"/>
                </a:solidFill>
                <a:latin typeface="Arial"/>
              </a:rPr>
              <a:t>Cuello de Botella Operativo: </a:t>
            </a:r>
            <a:r>
              <a:rPr sz="1300">
                <a:solidFill>
                  <a:srgbClr val="1E2530"/>
                </a:solidFill>
                <a:latin typeface="Arial"/>
              </a:rPr>
              <a:t>En redes de cientos de sucursales, la complejidad de configurar mapas de mallas estáticas y DLCIs en cada dispositivo CPE de borde se volvió inmanejable para las corporaciones.</a:t>
            </a:r>
          </a:p>
          <a:p>
            <a:pPr algn="l">
              <a:spcBef>
                <a:spcPts val="800"/>
              </a:spcBef>
              <a:spcAft>
                <a:spcPts val="200"/>
              </a:spcAft>
            </a:pPr>
            <a:r>
              <a:rPr sz="1300">
                <a:solidFill>
                  <a:srgbClr val="C85A17"/>
                </a:solidFill>
                <a:latin typeface="Arial"/>
              </a:rPr>
              <a:t>▪ </a:t>
            </a:r>
            <a:r>
              <a:rPr sz="1300" b="1">
                <a:solidFill>
                  <a:srgbClr val="1E2530"/>
                </a:solidFill>
                <a:latin typeface="Arial"/>
              </a:rPr>
              <a:t>Limitación de Tráfico: </a:t>
            </a:r>
            <a:r>
              <a:rPr sz="1300">
                <a:solidFill>
                  <a:srgbClr val="1E2530"/>
                </a:solidFill>
                <a:latin typeface="Arial"/>
              </a:rPr>
              <a:t>Frame Relay carecía de flexibilidad de direccionamiento dinámico e ingeniería de tráfico de servicios globales que la adopción de la pila IP nativa comenzó a requerir a finales de los 90.</a:t>
            </a:r>
          </a:p>
        </p:txBody>
      </p:sp>
      <p:sp>
        <p:nvSpPr>
          <p:cNvPr id="5" name="Rounded Rectangle 4"/>
          <p:cNvSpPr/>
          <p:nvPr/>
        </p:nvSpPr>
        <p:spPr>
          <a:xfrm>
            <a:off x="6217920" y="1645920"/>
            <a:ext cx="5212080" cy="4389120"/>
          </a:xfrm>
          <a:prstGeom prst="roundRect">
            <a:avLst/>
          </a:prstGeom>
          <a:solidFill>
            <a:srgbClr val="FFFFFF"/>
          </a:solidFill>
          <a:ln w="19050">
            <a:solidFill>
              <a:srgbClr val="E2E4E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400"/>
              </a:spcAft>
              <a:defRPr sz="2000" b="1">
                <a:solidFill>
                  <a:srgbClr val="007A87"/>
                </a:solidFill>
                <a:latin typeface="Georgia"/>
              </a:defRPr>
            </a:pPr>
            <a:r>
              <a:t>La Respuesta de MPLS</a:t>
            </a:r>
          </a:p>
          <a:p>
            <a:pPr algn="l">
              <a:spcBef>
                <a:spcPts val="800"/>
              </a:spcBef>
              <a:spcAft>
                <a:spcPts val="200"/>
              </a:spcAft>
            </a:pPr>
            <a:r>
              <a:rPr sz="1300">
                <a:solidFill>
                  <a:srgbClr val="C85A17"/>
                </a:solidFill>
                <a:latin typeface="Arial"/>
              </a:rPr>
              <a:t>▪ </a:t>
            </a:r>
            <a:r>
              <a:rPr sz="1300" b="1">
                <a:solidFill>
                  <a:srgbClr val="1E2530"/>
                </a:solidFill>
                <a:latin typeface="Arial"/>
              </a:rPr>
              <a:t>Conmutación por Etiquetas: </a:t>
            </a:r>
            <a:r>
              <a:rPr sz="1300">
                <a:solidFill>
                  <a:srgbClr val="1E2530"/>
                </a:solidFill>
                <a:latin typeface="Arial"/>
              </a:rPr>
              <a:t>Multiprotocol Label Switching introduce el reenvío rápido basado en etiquetas de longitud fija en Capa 2.5, eliminando la necesidad de configurar miles de PVCs individuales estáticos.</a:t>
            </a:r>
          </a:p>
          <a:p>
            <a:pPr algn="l">
              <a:spcBef>
                <a:spcPts val="800"/>
              </a:spcBef>
              <a:spcAft>
                <a:spcPts val="200"/>
              </a:spcAft>
            </a:pPr>
            <a:r>
              <a:rPr sz="1300">
                <a:solidFill>
                  <a:srgbClr val="C85A17"/>
                </a:solidFill>
                <a:latin typeface="Arial"/>
              </a:rPr>
              <a:t>▪ </a:t>
            </a:r>
            <a:r>
              <a:rPr sz="1300" b="1">
                <a:solidFill>
                  <a:srgbClr val="1E2530"/>
                </a:solidFill>
                <a:latin typeface="Arial"/>
              </a:rPr>
              <a:t>Fusión Óptima: </a:t>
            </a:r>
            <a:r>
              <a:rPr sz="1300">
                <a:solidFill>
                  <a:srgbClr val="1E2530"/>
                </a:solidFill>
                <a:latin typeface="Arial"/>
              </a:rPr>
              <a:t>MPLS fusiona lo mejor de los dos mundos: la privacidad, seguridad y QoS de tecnologías de conmutación como ATM y Frame Relay, junto con la escalabilidad y flexibilidad dinámica de IP.</a:t>
            </a:r>
          </a:p>
          <a:p>
            <a:pPr algn="l">
              <a:spcBef>
                <a:spcPts val="800"/>
              </a:spcBef>
              <a:spcAft>
                <a:spcPts val="200"/>
              </a:spcAft>
            </a:pPr>
            <a:r>
              <a:rPr sz="1300">
                <a:solidFill>
                  <a:srgbClr val="C85A17"/>
                </a:solidFill>
                <a:latin typeface="Arial"/>
              </a:rPr>
              <a:t>▪ </a:t>
            </a:r>
            <a:r>
              <a:rPr sz="1300" b="1">
                <a:solidFill>
                  <a:srgbClr val="1E2530"/>
                </a:solidFill>
                <a:latin typeface="Arial"/>
              </a:rPr>
              <a:t>Protección de Inversión (AToM): </a:t>
            </a:r>
            <a:r>
              <a:rPr sz="1300">
                <a:solidFill>
                  <a:srgbClr val="1E2530"/>
                </a:solidFill>
                <a:latin typeface="Arial"/>
              </a:rPr>
              <a:t>A través de Any Transport over MPLS (AToM), se pueden emular circuitos WAN heredados. Permite encapsular y transportar tramas Frame Relay (DLCIs) de forma transparente sobre núcleos IP/MPLS de alta velocidad.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E2E"/>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rIns="0" tIns="0" bIns="0">
            <a:spAutoFit/>
          </a:bodyPr>
          <a:lstStyle/>
          <a:p>
            <a:pPr>
              <a:defRPr sz="2600" b="1">
                <a:solidFill>
                  <a:srgbClr val="FFFFFF"/>
                </a:solidFill>
                <a:latin typeface="Georgia"/>
              </a:defRPr>
            </a:pPr>
            <a:r>
              <a:t>Referencias Bibliográficas (Formato IEEE)</a:t>
            </a:r>
          </a:p>
        </p:txBody>
      </p:sp>
      <p:sp>
        <p:nvSpPr>
          <p:cNvPr id="3" name="Rectangle 2"/>
          <p:cNvSpPr/>
          <p:nvPr/>
        </p:nvSpPr>
        <p:spPr>
          <a:xfrm>
            <a:off x="731520" y="1097280"/>
            <a:ext cx="10728655" cy="25400"/>
          </a:xfrm>
          <a:prstGeom prst="rect">
            <a:avLst/>
          </a:prstGeom>
          <a:solidFill>
            <a:srgbClr val="C85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728655" cy="4572000"/>
          </a:xfrm>
          <a:prstGeom prst="rect">
            <a:avLst/>
          </a:prstGeom>
          <a:noFill/>
        </p:spPr>
        <p:txBody>
          <a:bodyPr wrap="square" lIns="0" tIns="0">
            <a:spAutoFit/>
          </a:bodyPr>
          <a:lstStyle/>
          <a:p>
            <a:pPr>
              <a:spcAft>
                <a:spcPts val="1600"/>
              </a:spcAft>
              <a:defRPr sz="1500" i="1">
                <a:solidFill>
                  <a:srgbClr val="C85A17"/>
                </a:solidFill>
                <a:latin typeface="Georgia"/>
              </a:defRPr>
            </a:pPr>
            <a:r>
              <a:t>Materiales de referencia utilizados para la estructuración y validación del contenido:</a:t>
            </a:r>
          </a:p>
          <a:p>
            <a:pPr>
              <a:lnSpc>
                <a:spcPct val="115000"/>
              </a:lnSpc>
              <a:spcAft>
                <a:spcPts val="1000"/>
              </a:spcAft>
              <a:defRPr sz="1150">
                <a:solidFill>
                  <a:srgbClr val="CED4DA"/>
                </a:solidFill>
                <a:latin typeface="Arial"/>
              </a:defRPr>
            </a:pPr>
            <a:r>
              <a:t>[1] Broadband Forum, "Frame Relay Service Customer Network Management Implementation Agreement FRF.6," Broadband Forum, Implementation Agreement, May 1994.</a:t>
            </a:r>
          </a:p>
          <a:p>
            <a:pPr>
              <a:lnSpc>
                <a:spcPct val="115000"/>
              </a:lnSpc>
              <a:spcAft>
                <a:spcPts val="1000"/>
              </a:spcAft>
              <a:defRPr sz="1150">
                <a:solidFill>
                  <a:srgbClr val="CED4DA"/>
                </a:solidFill>
                <a:latin typeface="Arial"/>
              </a:defRPr>
            </a:pPr>
            <a:r>
              <a:t>[2] Cisco Systems, Inc., "Introduction To MPLS Technologies," Technical Training Presentation, Steve Smith, Systems Engineer, 2001.</a:t>
            </a:r>
          </a:p>
          <a:p>
            <a:pPr>
              <a:lnSpc>
                <a:spcPct val="115000"/>
              </a:lnSpc>
              <a:spcAft>
                <a:spcPts val="1000"/>
              </a:spcAft>
              <a:defRPr sz="1150">
                <a:solidFill>
                  <a:srgbClr val="CED4DA"/>
                </a:solidFill>
                <a:latin typeface="Arial"/>
              </a:defRPr>
            </a:pPr>
            <a:r>
              <a:t>[3] IvyPanda, "Reasons for Choosing Frame Relay Over X.25 and ATM Networks," Technology &amp; Engineering Essay, November 12, 2021. [Online]. Available: https://ivypanda.com/essays/reasons-for-choosing-frame-relay-over-x25-and-atm-networks/</a:t>
            </a:r>
          </a:p>
          <a:p>
            <a:pPr>
              <a:lnSpc>
                <a:spcPct val="115000"/>
              </a:lnSpc>
              <a:spcAft>
                <a:spcPts val="1000"/>
              </a:spcAft>
              <a:defRPr sz="1150">
                <a:solidFill>
                  <a:srgbClr val="CED4DA"/>
                </a:solidFill>
                <a:latin typeface="Arial"/>
              </a:defRPr>
            </a:pPr>
            <a:r>
              <a:t>[4] PolSci Institute, "The New Cold War: Renewed Tensions in the 1980s," International Relations and World History, October 18, 2025. [Online]. Available: https://polsci.institute/international-relations/new-cold-war-tensions-1980s/</a:t>
            </a:r>
          </a:p>
          <a:p>
            <a:pPr>
              <a:lnSpc>
                <a:spcPct val="115000"/>
              </a:lnSpc>
              <a:spcAft>
                <a:spcPts val="1000"/>
              </a:spcAft>
              <a:defRPr sz="1150">
                <a:solidFill>
                  <a:srgbClr val="CED4DA"/>
                </a:solidFill>
                <a:latin typeface="Arial"/>
              </a:defRPr>
            </a:pPr>
            <a:r>
              <a:t>[5] Institut Sa Palomera, "4.1.1.1 Introducción a la tecnología Frame Relay," Documentación de Soporte de Redes, WAN Technologies. [Online].</a:t>
            </a:r>
          </a:p>
          <a:p>
            <a:pPr>
              <a:lnSpc>
                <a:spcPct val="115000"/>
              </a:lnSpc>
              <a:spcAft>
                <a:spcPts val="1000"/>
              </a:spcAft>
              <a:defRPr sz="1150">
                <a:solidFill>
                  <a:srgbClr val="CED4DA"/>
                </a:solidFill>
                <a:latin typeface="Arial"/>
              </a:defRPr>
            </a:pPr>
            <a:r>
              <a:t>[6] IDC Technologies, "Understanding Frame Relay," Technical Guide Document, TechFAQ, 2009.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