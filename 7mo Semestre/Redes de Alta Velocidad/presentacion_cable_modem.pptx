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theme/theme1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Layouts/slideLayout5.xml" ContentType="application/vnd.openxmlformats-officedocument.presentationml.slideLayout+xml"/>
  <Override PartName="/ppt/slideLayouts/slideLayout9.xml" ContentType="application/vnd.openxmlformats-officedocument.presentationml.slideLayout+xml"/>
  <Override PartName="/ppt/notesMasters/notesMaster1.xml" ContentType="application/vnd.openxmlformats-officedocument.presentationml.notesMaster+xml"/>
  <Override PartName="/ppt/presProps.xml" ContentType="application/vnd.openxmlformats-officedocument.presentationml.pres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slides/slide5.xml" ContentType="application/vnd.openxmlformats-officedocument.presentationml.slide+xml"/>
  <Override PartName="/ppt/slides/slide7.xml" ContentType="application/vnd.openxmlformats-officedocument.presentationml.slide+xml"/>
  <Override PartName="/ppt/slides/slide11.xml" ContentType="application/vnd.openxmlformats-officedocument.presentationml.slide+xml"/>
  <Override PartName="/ppt/slides/slide9.xml" ContentType="application/vnd.openxmlformats-officedocument.presentationml.slide+xml"/>
  <Override PartName="/ppt/slides/slide6.xml" ContentType="application/vnd.openxmlformats-officedocument.presentationml.slide+xml"/>
  <Override PartName="/ppt/slides/slide12.xml" ContentType="application/vnd.openxmlformats-officedocument.presentationml.slide+xml"/>
  <Override PartName="/ppt/notesSlides/notesSlide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10.xml" ContentType="application/vnd.openxmlformats-officedocument.presentationml.notesSlide+xml"/>
  <Override PartName="/ppt/notesSlides/notesSlide5.xml" ContentType="application/vnd.openxmlformats-officedocument.presentationml.notesSlide+xml"/>
  <Override PartName="/ppt/notesSlides/notesSlide9.xml" ContentType="application/vnd.openxmlformats-officedocument.presentationml.notesSlide+xml"/>
  <Override PartName="/ppt/notesSlides/notesSlide11.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12.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Lst>
  <p:sldSz cx="12192000" cy="6858000"/>
  <p:notesSz cx="6858000" cy="9144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1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 name="PlaceHolder 1"/>
          <p:cNvSpPr>
            <a:spLocks noGrp="1"/>
          </p:cNvSpPr>
          <p:nvPr>
            <p:ph type="sldImg"/>
          </p:nvPr>
        </p:nvSpPr>
        <p:spPr>
          <a:xfrm>
            <a:off x="0" y="764280"/>
            <a:ext cx="0" cy="0"/>
          </a:xfrm>
          <a:prstGeom prst="rect">
            <a:avLst/>
          </a:prstGeom>
          <a:noFill/>
          <a:ln w="0">
            <a:noFill/>
          </a:ln>
        </p:spPr>
        <p:txBody>
          <a:bodyPr lIns="0" tIns="0" rIns="0" bIns="0" anchor="ctr">
            <a:noAutofit/>
          </a:bodyPr>
          <a:p>
            <a:pPr algn="ctr" defTabSz="457200"/>
            <a:r>
              <a:rPr lang="en-US" sz="4400" b="0" u="none" strike="noStrike">
                <a:solidFill>
                  <a:schemeClr val="dk1"/>
                </a:solidFill>
                <a:effectLst/>
                <a:uFillTx/>
                <a:latin typeface="Calibri"/>
              </a:rPr>
              <a:t>Click to move the slide</a:t>
            </a:r>
            <a:endParaRPr lang="en-US" sz="4400" b="0" u="none" strike="noStrike">
              <a:solidFill>
                <a:schemeClr val="dk1"/>
              </a:solidFill>
              <a:effectLst/>
              <a:uFillTx/>
              <a:latin typeface="Calibri"/>
            </a:endParaRPr>
          </a:p>
        </p:txBody>
      </p:sp>
      <p:sp>
        <p:nvSpPr>
          <p:cNvPr id="62"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Arial"/>
              </a:rPr>
              <a:t>Click to edit the notes format</a:t>
            </a:r>
            <a:endParaRPr lang="en-US" sz="2000" b="0" u="none" strike="noStrike">
              <a:solidFill>
                <a:srgbClr val="000000"/>
              </a:solidFill>
              <a:effectLst/>
              <a:uFillTx/>
              <a:latin typeface="Arial"/>
            </a:endParaRPr>
          </a:p>
        </p:txBody>
      </p:sp>
      <p:sp>
        <p:nvSpPr>
          <p:cNvPr id="63" name="PlaceHolder 3"/>
          <p:cNvSpPr>
            <a:spLocks noGrp="1"/>
          </p:cNvSpPr>
          <p:nvPr>
            <p:ph type="hdr"/>
          </p:nvPr>
        </p:nvSpPr>
        <p:spPr>
          <a:xfrm>
            <a:off x="0" y="0"/>
            <a:ext cx="3372840" cy="502560"/>
          </a:xfrm>
          <a:prstGeom prst="rect">
            <a:avLst/>
          </a:prstGeom>
          <a:noFill/>
          <a:ln w="0">
            <a:noFill/>
          </a:ln>
        </p:spPr>
        <p:txBody>
          <a:bodyPr lIns="0" tIns="0" rIns="0" bIns="0" anchor="t">
            <a:noAutofit/>
          </a:bodyPr>
          <a:p>
            <a:pPr indent="0" algn="l">
              <a:buNone/>
            </a:pPr>
            <a:r>
              <a:rPr lang="en-US" sz="1400" b="0" u="none" strike="noStrike">
                <a:solidFill>
                  <a:srgbClr val="000000"/>
                </a:solidFill>
                <a:effectLst/>
                <a:uFillTx/>
                <a:latin typeface="Times New Roman"/>
              </a:rPr>
              <a:t>&lt;header&gt;</a:t>
            </a:r>
            <a:endParaRPr lang="en-US" sz="1400" b="0" u="none" strike="noStrike">
              <a:solidFill>
                <a:srgbClr val="000000"/>
              </a:solidFill>
              <a:effectLst/>
              <a:uFillTx/>
              <a:latin typeface="Times New Roman"/>
            </a:endParaRPr>
          </a:p>
        </p:txBody>
      </p:sp>
      <p:sp>
        <p:nvSpPr>
          <p:cNvPr id="64" name="PlaceHolder 4"/>
          <p:cNvSpPr>
            <a:spLocks noGrp="1"/>
          </p:cNvSpPr>
          <p:nvPr>
            <p:ph type="dt" idx="34"/>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
        <p:nvSpPr>
          <p:cNvPr id="65" name="PlaceHolder 5"/>
          <p:cNvSpPr>
            <a:spLocks noGrp="1"/>
          </p:cNvSpPr>
          <p:nvPr>
            <p:ph type="ftr" idx="35"/>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66" name="PlaceHolder 6"/>
          <p:cNvSpPr>
            <a:spLocks noGrp="1"/>
          </p:cNvSpPr>
          <p:nvPr>
            <p:ph type="sldNum" idx="36"/>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532D6B5B-3146-4AA8-B758-FE4515850BEA}" type="slidenum">
              <a:rPr lang="en-US" sz="1400" b="0" u="none" strike="noStrike">
                <a:solidFill>
                  <a:srgbClr val="000000"/>
                </a:solidFill>
                <a:effectLst/>
                <a:uFillTx/>
                <a:latin typeface="Times New Roman"/>
              </a:rPr>
              <a:t>&lt;number&gt;</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0" name="PlaceHolder 1"/>
          <p:cNvSpPr>
            <a:spLocks noGrp="1"/>
          </p:cNvSpPr>
          <p:nvPr>
            <p:ph type="sldImg"/>
          </p:nvPr>
        </p:nvSpPr>
        <p:spPr>
          <a:xfrm>
            <a:off x="1143000" y="685800"/>
            <a:ext cx="4571640" cy="3428640"/>
          </a:xfrm>
          <a:prstGeom prst="rect">
            <a:avLst/>
          </a:prstGeom>
          <a:ln w="0">
            <a:noFill/>
          </a:ln>
        </p:spPr>
      </p:sp>
      <p:sp>
        <p:nvSpPr>
          <p:cNvPr id="161"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Bienvenidos a esta presentación. Analizaremos cómo una idea concebida a finales de los años 80 por Rouzbeh Yassini transformó la red analógica de televisión por cable en la espina dorsal de la banda ancha mundial.</a:t>
            </a:r>
            <a:endParaRPr lang="en-US" sz="2000" b="0" u="none" strike="noStrike">
              <a:solidFill>
                <a:srgbClr val="000000"/>
              </a:solidFill>
              <a:effectLst/>
              <a:uFillTx/>
              <a:latin typeface="Arial"/>
            </a:endParaRPr>
          </a:p>
        </p:txBody>
      </p:sp>
      <p:sp>
        <p:nvSpPr>
          <p:cNvPr id="162" name="PlaceHolder 3"/>
          <p:cNvSpPr>
            <a:spLocks noGrp="1"/>
          </p:cNvSpPr>
          <p:nvPr>
            <p:ph type="sldNum" idx="3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D6716333-3006-4C7F-93BB-CD22F0170073}"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3" name="PlaceHolder 1"/>
          <p:cNvSpPr>
            <a:spLocks noGrp="1"/>
          </p:cNvSpPr>
          <p:nvPr>
            <p:ph type="sldImg"/>
          </p:nvPr>
        </p:nvSpPr>
        <p:spPr>
          <a:xfrm>
            <a:off x="1143000" y="685800"/>
            <a:ext cx="4571640" cy="3428640"/>
          </a:xfrm>
          <a:prstGeom prst="rect">
            <a:avLst/>
          </a:prstGeom>
          <a:ln w="0">
            <a:noFill/>
          </a:ln>
        </p:spPr>
      </p:sp>
      <p:sp>
        <p:nvSpPr>
          <p:cNvPr id="164"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A inicios de los 90, la Web crecía rápidamente pero el acceso estaba estrangulado por las redes telefónicas. La sociedad requería una infraestructura de datos masiva y siempre activa.</a:t>
            </a:r>
            <a:endParaRPr lang="en-US" sz="2000" b="0" u="none" strike="noStrike">
              <a:solidFill>
                <a:srgbClr val="000000"/>
              </a:solidFill>
              <a:effectLst/>
              <a:uFillTx/>
              <a:latin typeface="Arial"/>
            </a:endParaRPr>
          </a:p>
        </p:txBody>
      </p:sp>
      <p:sp>
        <p:nvSpPr>
          <p:cNvPr id="165" name="PlaceHolder 3"/>
          <p:cNvSpPr>
            <a:spLocks noGrp="1"/>
          </p:cNvSpPr>
          <p:nvPr>
            <p:ph type="sldNum" idx="38"/>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5E4A5E60-5AEC-4104-A6B2-EE059CDEA2F0}"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6" name="PlaceHolder 1"/>
          <p:cNvSpPr>
            <a:spLocks noGrp="1"/>
          </p:cNvSpPr>
          <p:nvPr>
            <p:ph type="sldImg"/>
          </p:nvPr>
        </p:nvSpPr>
        <p:spPr>
          <a:xfrm>
            <a:off x="1143000" y="685800"/>
            <a:ext cx="4571640" cy="3428640"/>
          </a:xfrm>
          <a:prstGeom prst="rect">
            <a:avLst/>
          </a:prstGeom>
          <a:ln w="0">
            <a:noFill/>
          </a:ln>
        </p:spPr>
      </p:sp>
      <p:sp>
        <p:nvSpPr>
          <p:cNvPr id="167"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Yassini tuvo la intuición única de unir el mundo de la TV por cable con el mundo Ethernet. LANcity fue la empresa pionera que demostró que el coaxial podía transportar datos IP.</a:t>
            </a:r>
            <a:endParaRPr lang="en-US" sz="2000" b="0" u="none" strike="noStrike">
              <a:solidFill>
                <a:srgbClr val="000000"/>
              </a:solidFill>
              <a:effectLst/>
              <a:uFillTx/>
              <a:latin typeface="Arial"/>
            </a:endParaRPr>
          </a:p>
        </p:txBody>
      </p:sp>
      <p:sp>
        <p:nvSpPr>
          <p:cNvPr id="168" name="PlaceHolder 3"/>
          <p:cNvSpPr>
            <a:spLocks noGrp="1"/>
          </p:cNvSpPr>
          <p:nvPr>
            <p:ph type="sldNum" idx="39"/>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F238ADFA-4F2A-4904-AB87-56A15913BFEE}"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9" name="PlaceHolder 1"/>
          <p:cNvSpPr>
            <a:spLocks noGrp="1"/>
          </p:cNvSpPr>
          <p:nvPr>
            <p:ph type="sldImg"/>
          </p:nvPr>
        </p:nvSpPr>
        <p:spPr>
          <a:xfrm>
            <a:off x="1143000" y="685800"/>
            <a:ext cx="4571640" cy="3428640"/>
          </a:xfrm>
          <a:prstGeom prst="rect">
            <a:avLst/>
          </a:prstGeom>
          <a:ln w="0">
            <a:noFill/>
          </a:ln>
        </p:spPr>
      </p:sp>
      <p:sp>
        <p:nvSpPr>
          <p:cNvPr id="170"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El chisme tecnológico revela la visión de Yassini: regalar las patentes de LANcity a CableLabs evitó la fragmentación y creó una industria multimillonaria con precios accesibles para todos.</a:t>
            </a:r>
            <a:endParaRPr lang="en-US" sz="2000" b="0" u="none" strike="noStrike">
              <a:solidFill>
                <a:srgbClr val="000000"/>
              </a:solidFill>
              <a:effectLst/>
              <a:uFillTx/>
              <a:latin typeface="Arial"/>
            </a:endParaRPr>
          </a:p>
        </p:txBody>
      </p:sp>
      <p:sp>
        <p:nvSpPr>
          <p:cNvPr id="171" name="PlaceHolder 3"/>
          <p:cNvSpPr>
            <a:spLocks noGrp="1"/>
          </p:cNvSpPr>
          <p:nvPr>
            <p:ph type="sldNum" idx="40"/>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6B1F7235-4CCD-43EC-B6A8-E1D4CA23F864}"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2" name="PlaceHolder 1"/>
          <p:cNvSpPr>
            <a:spLocks noGrp="1"/>
          </p:cNvSpPr>
          <p:nvPr>
            <p:ph type="sldImg"/>
          </p:nvPr>
        </p:nvSpPr>
        <p:spPr>
          <a:xfrm>
            <a:off x="1143000" y="685800"/>
            <a:ext cx="4571640" cy="3428640"/>
          </a:xfrm>
          <a:prstGeom prst="rect">
            <a:avLst/>
          </a:prstGeom>
          <a:ln w="0">
            <a:noFill/>
          </a:ln>
        </p:spPr>
      </p:sp>
      <p:sp>
        <p:nvSpPr>
          <p:cNvPr id="173"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El cable módem resolvió los tres grandes dolores del Dial-up: velocidad, teléfono ocupado y el proceso de marcado. Cambió el paradigma a Internet siempre activo.</a:t>
            </a:r>
            <a:endParaRPr lang="en-US" sz="2000" b="0" u="none" strike="noStrike">
              <a:solidFill>
                <a:srgbClr val="000000"/>
              </a:solidFill>
              <a:effectLst/>
              <a:uFillTx/>
              <a:latin typeface="Arial"/>
            </a:endParaRPr>
          </a:p>
        </p:txBody>
      </p:sp>
      <p:sp>
        <p:nvSpPr>
          <p:cNvPr id="174" name="PlaceHolder 3"/>
          <p:cNvSpPr>
            <a:spLocks noGrp="1"/>
          </p:cNvSpPr>
          <p:nvPr>
            <p:ph type="sldNum" idx="41"/>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334CEFA7-74EA-44C0-849A-91013F2CC608}"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5" name="PlaceHolder 1"/>
          <p:cNvSpPr>
            <a:spLocks noGrp="1"/>
          </p:cNvSpPr>
          <p:nvPr>
            <p:ph type="sldImg"/>
          </p:nvPr>
        </p:nvSpPr>
        <p:spPr>
          <a:xfrm>
            <a:off x="1143000" y="685800"/>
            <a:ext cx="4571640" cy="3428640"/>
          </a:xfrm>
          <a:prstGeom prst="rect">
            <a:avLst/>
          </a:prstGeom>
          <a:ln w="0">
            <a:noFill/>
          </a:ln>
        </p:spPr>
      </p:sp>
      <p:sp>
        <p:nvSpPr>
          <p:cNvPr id="176"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La red HFC combina lo mejor de dos mundos: la velocidad y distancia de la fibra óptica en la red troncal, y la infraestructura coaxial ya instalada en las casas.</a:t>
            </a:r>
            <a:endParaRPr lang="en-US" sz="2000" b="0" u="none" strike="noStrike">
              <a:solidFill>
                <a:srgbClr val="000000"/>
              </a:solidFill>
              <a:effectLst/>
              <a:uFillTx/>
              <a:latin typeface="Arial"/>
            </a:endParaRPr>
          </a:p>
        </p:txBody>
      </p:sp>
      <p:sp>
        <p:nvSpPr>
          <p:cNvPr id="177" name="PlaceHolder 3"/>
          <p:cNvSpPr>
            <a:spLocks noGrp="1"/>
          </p:cNvSpPr>
          <p:nvPr>
            <p:ph type="sldNum" idx="42"/>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D49755F9-575C-4EF8-95F8-9DC170B0897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8" name="PlaceHolder 1"/>
          <p:cNvSpPr>
            <a:spLocks noGrp="1"/>
          </p:cNvSpPr>
          <p:nvPr>
            <p:ph type="sldImg"/>
          </p:nvPr>
        </p:nvSpPr>
        <p:spPr>
          <a:xfrm>
            <a:off x="1143000" y="685800"/>
            <a:ext cx="4571640" cy="3428640"/>
          </a:xfrm>
          <a:prstGeom prst="rect">
            <a:avLst/>
          </a:prstGeom>
          <a:ln w="0">
            <a:noFill/>
          </a:ln>
        </p:spPr>
      </p:sp>
      <p:sp>
        <p:nvSpPr>
          <p:cNvPr id="179"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El CMTS es el director de orquesta en la central, coordinando a miles de módems para que transmitan sin chocar sus señales en el cable coaxial.</a:t>
            </a:r>
            <a:endParaRPr lang="en-US" sz="2000" b="0" u="none" strike="noStrike">
              <a:solidFill>
                <a:srgbClr val="000000"/>
              </a:solidFill>
              <a:effectLst/>
              <a:uFillTx/>
              <a:latin typeface="Arial"/>
            </a:endParaRPr>
          </a:p>
        </p:txBody>
      </p:sp>
      <p:sp>
        <p:nvSpPr>
          <p:cNvPr id="180" name="PlaceHolder 3"/>
          <p:cNvSpPr>
            <a:spLocks noGrp="1"/>
          </p:cNvSpPr>
          <p:nvPr>
            <p:ph type="sldNum" idx="43"/>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D09A229F-400F-4DC4-A73C-82948952F42C}"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1" name="PlaceHolder 1"/>
          <p:cNvSpPr>
            <a:spLocks noGrp="1"/>
          </p:cNvSpPr>
          <p:nvPr>
            <p:ph type="sldImg"/>
          </p:nvPr>
        </p:nvSpPr>
        <p:spPr>
          <a:xfrm>
            <a:off x="1143000" y="685800"/>
            <a:ext cx="4571640" cy="3428640"/>
          </a:xfrm>
          <a:prstGeom prst="rect">
            <a:avLst/>
          </a:prstGeom>
          <a:ln w="0">
            <a:noFill/>
          </a:ln>
        </p:spPr>
      </p:sp>
      <p:sp>
        <p:nvSpPr>
          <p:cNvPr id="182"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La estandarización DOCSIS impulsó la fabricación masiva. Cualquier usuario podía comprar un módem en una tienda y conectarlo a su proveedor de cable.</a:t>
            </a:r>
            <a:endParaRPr lang="en-US" sz="2000" b="0" u="none" strike="noStrike">
              <a:solidFill>
                <a:srgbClr val="000000"/>
              </a:solidFill>
              <a:effectLst/>
              <a:uFillTx/>
              <a:latin typeface="Arial"/>
            </a:endParaRPr>
          </a:p>
        </p:txBody>
      </p:sp>
      <p:sp>
        <p:nvSpPr>
          <p:cNvPr id="183" name="PlaceHolder 3"/>
          <p:cNvSpPr>
            <a:spLocks noGrp="1"/>
          </p:cNvSpPr>
          <p:nvPr>
            <p:ph type="sldNum" idx="44"/>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A6B096BC-E3F3-4B76-AC5E-6E4877B4800C}"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4" name="PlaceHolder 1"/>
          <p:cNvSpPr>
            <a:spLocks noGrp="1"/>
          </p:cNvSpPr>
          <p:nvPr>
            <p:ph type="sldImg"/>
          </p:nvPr>
        </p:nvSpPr>
        <p:spPr>
          <a:xfrm>
            <a:off x="1143000" y="685800"/>
            <a:ext cx="4571640" cy="3428640"/>
          </a:xfrm>
          <a:prstGeom prst="rect">
            <a:avLst/>
          </a:prstGeom>
          <a:ln w="0">
            <a:noFill/>
          </a:ln>
        </p:spPr>
      </p:sp>
      <p:sp>
        <p:nvSpPr>
          <p:cNvPr id="185"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DOCSIS demostró una vida útil sorprendente. Mediante Channel Bonding en DOCSIS 3.0 y OFDM en DOCSIS 3.1/4.0 logró romper la barrera del Gigabit sobre cobre coaxial.</a:t>
            </a:r>
            <a:endParaRPr lang="en-US" sz="2000" b="0" u="none" strike="noStrike">
              <a:solidFill>
                <a:srgbClr val="000000"/>
              </a:solidFill>
              <a:effectLst/>
              <a:uFillTx/>
              <a:latin typeface="Arial"/>
            </a:endParaRPr>
          </a:p>
        </p:txBody>
      </p:sp>
      <p:sp>
        <p:nvSpPr>
          <p:cNvPr id="186" name="PlaceHolder 3"/>
          <p:cNvSpPr>
            <a:spLocks noGrp="1"/>
          </p:cNvSpPr>
          <p:nvPr>
            <p:ph type="sldNum" idx="45"/>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A768A043-0B7A-44F5-86A4-160BDC0EEF17}"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7" name="PlaceHolder 1"/>
          <p:cNvSpPr>
            <a:spLocks noGrp="1"/>
          </p:cNvSpPr>
          <p:nvPr>
            <p:ph type="sldImg"/>
          </p:nvPr>
        </p:nvSpPr>
        <p:spPr>
          <a:xfrm>
            <a:off x="1143000" y="685800"/>
            <a:ext cx="4571640" cy="3428640"/>
          </a:xfrm>
          <a:prstGeom prst="rect">
            <a:avLst/>
          </a:prstGeom>
          <a:ln w="0">
            <a:noFill/>
          </a:ln>
        </p:spPr>
      </p:sp>
      <p:sp>
        <p:nvSpPr>
          <p:cNvPr id="188"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Las leyes inmutables de la física (atenuación y ruido electromagnético) marcaron el techo tecnológico del cable coaxial, dando paso a la fibra óptica directa.</a:t>
            </a:r>
            <a:endParaRPr lang="en-US" sz="2000" b="0" u="none" strike="noStrike">
              <a:solidFill>
                <a:srgbClr val="000000"/>
              </a:solidFill>
              <a:effectLst/>
              <a:uFillTx/>
              <a:latin typeface="Arial"/>
            </a:endParaRPr>
          </a:p>
        </p:txBody>
      </p:sp>
      <p:sp>
        <p:nvSpPr>
          <p:cNvPr id="189" name="PlaceHolder 3"/>
          <p:cNvSpPr>
            <a:spLocks noGrp="1"/>
          </p:cNvSpPr>
          <p:nvPr>
            <p:ph type="sldNum" idx="46"/>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D0BFBA4-2887-470F-B484-5E12494BABC8}"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0" name="PlaceHolder 1"/>
          <p:cNvSpPr>
            <a:spLocks noGrp="1"/>
          </p:cNvSpPr>
          <p:nvPr>
            <p:ph type="sldImg"/>
          </p:nvPr>
        </p:nvSpPr>
        <p:spPr>
          <a:xfrm>
            <a:off x="1143000" y="685800"/>
            <a:ext cx="4571640" cy="3428640"/>
          </a:xfrm>
          <a:prstGeom prst="rect">
            <a:avLst/>
          </a:prstGeom>
          <a:ln w="0">
            <a:noFill/>
          </a:ln>
        </p:spPr>
      </p:sp>
      <p:sp>
        <p:nvSpPr>
          <p:cNvPr id="191"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La fibra óptica reemplazó las señales analógicas de radiofrecuencia por luz, eliminando los problemas de interferencia y amplificadores en las calles.</a:t>
            </a:r>
            <a:endParaRPr lang="en-US" sz="2000" b="0" u="none" strike="noStrike">
              <a:solidFill>
                <a:srgbClr val="000000"/>
              </a:solidFill>
              <a:effectLst/>
              <a:uFillTx/>
              <a:latin typeface="Arial"/>
            </a:endParaRPr>
          </a:p>
        </p:txBody>
      </p:sp>
      <p:sp>
        <p:nvSpPr>
          <p:cNvPr id="192" name="PlaceHolder 3"/>
          <p:cNvSpPr>
            <a:spLocks noGrp="1"/>
          </p:cNvSpPr>
          <p:nvPr>
            <p:ph type="sldNum" idx="4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00F70E52-AEE0-4263-9A5F-AD65425DB4E1}"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3" name="PlaceHolder 1"/>
          <p:cNvSpPr>
            <a:spLocks noGrp="1"/>
          </p:cNvSpPr>
          <p:nvPr>
            <p:ph type="sldImg"/>
          </p:nvPr>
        </p:nvSpPr>
        <p:spPr>
          <a:xfrm>
            <a:off x="1143000" y="685800"/>
            <a:ext cx="4571640" cy="3428640"/>
          </a:xfrm>
          <a:prstGeom prst="rect">
            <a:avLst/>
          </a:prstGeom>
          <a:ln w="0">
            <a:noFill/>
          </a:ln>
        </p:spPr>
      </p:sp>
      <p:sp>
        <p:nvSpPr>
          <p:cNvPr id="194"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Estas son las referencias académicas e industriales en formato IEEE que respaldan la presentación.</a:t>
            </a:r>
            <a:endParaRPr lang="en-US" sz="2000" b="0" u="none" strike="noStrike">
              <a:solidFill>
                <a:srgbClr val="000000"/>
              </a:solidFill>
              <a:effectLst/>
              <a:uFillTx/>
              <a:latin typeface="Arial"/>
            </a:endParaRPr>
          </a:p>
        </p:txBody>
      </p:sp>
      <p:sp>
        <p:nvSpPr>
          <p:cNvPr id="195" name="PlaceHolder 3"/>
          <p:cNvSpPr>
            <a:spLocks noGrp="1"/>
          </p:cNvSpPr>
          <p:nvPr>
            <p:ph type="sldNum" idx="48"/>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6620EEF3-83F5-4A9B-B74A-B6A6D567C47A}"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85800" y="2130480"/>
            <a:ext cx="7772040" cy="146952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a:t>
            </a:r>
            <a:r>
              <a:rPr lang="en-US" sz="4400" b="0" u="none" strike="noStrike">
                <a:solidFill>
                  <a:schemeClr val="dk1"/>
                </a:solidFill>
                <a:effectLst/>
                <a:uFillTx/>
                <a:latin typeface="Calibri"/>
              </a:rPr>
              <a:t>Master title </a:t>
            </a:r>
            <a:r>
              <a:rPr lang="en-US" sz="4400" b="0" u="none" strike="noStrike">
                <a:solidFill>
                  <a:schemeClr val="dk1"/>
                </a:solidFill>
                <a:effectLst/>
                <a:uFillTx/>
                <a:latin typeface="Calibri"/>
              </a:rPr>
              <a:t>style</a:t>
            </a:r>
            <a:endParaRPr lang="en-US" sz="4400" b="0" u="none" strike="noStrike">
              <a:solidFill>
                <a:schemeClr val="dk1"/>
              </a:solidFill>
              <a:effectLst/>
              <a:uFillTx/>
              <a:latin typeface="Calibri"/>
            </a:endParaRPr>
          </a:p>
        </p:txBody>
      </p:sp>
      <p:sp>
        <p:nvSpPr>
          <p:cNvPr id="3" name="PlaceHolder 2"/>
          <p:cNvSpPr>
            <a:spLocks noGrp="1"/>
          </p:cNvSpPr>
          <p:nvPr>
            <p:ph type="dt" idx="1"/>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 name="PlaceHolder 3"/>
          <p:cNvSpPr>
            <a:spLocks noGrp="1"/>
          </p:cNvSpPr>
          <p:nvPr>
            <p:ph type="ftr" idx="2"/>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5" name="PlaceHolder 4"/>
          <p:cNvSpPr>
            <a:spLocks noGrp="1"/>
          </p:cNvSpPr>
          <p:nvPr>
            <p:ph type="sldNum" idx="3"/>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F3E71C1B-7F19-437B-A6AF-BB95A1F69126}"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bg>
      <p:bgPr>
        <a:solidFill>
          <a:srgbClr val="FFFFFF"/>
        </a:solidFill>
      </p:bgPr>
    </p:bg>
    <p:spTree>
      <p:nvGrpSpPr>
        <p:cNvPr id="1" name=""/>
        <p:cNvGrpSpPr/>
        <p:nvPr/>
      </p:nvGrpSpPr>
      <p:grpSpPr>
        <a:xfrm>
          <a:off x="0" y="0"/>
          <a:ext cx="0" cy="0"/>
          <a:chOff x="0" y="0"/>
          <a:chExt cx="0" cy="0"/>
        </a:xfrm>
      </p:grpSpPr>
      <p:sp>
        <p:nvSpPr>
          <p:cNvPr id="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7" name="PlaceHolder 2"/>
          <p:cNvSpPr>
            <a:spLocks noGrp="1"/>
          </p:cNvSpPr>
          <p:nvPr>
            <p:ph type="body"/>
          </p:nvPr>
        </p:nvSpPr>
        <p:spPr>
          <a:xfrm>
            <a:off x="457200" y="1600200"/>
            <a:ext cx="8229240" cy="4525560"/>
          </a:xfrm>
          <a:prstGeom prst="rect">
            <a:avLst/>
          </a:prstGeom>
          <a:noFill/>
          <a:ln w="0">
            <a:noFill/>
          </a:ln>
        </p:spPr>
        <p:txBody>
          <a:bodyPr lIns="91440" tIns="45720" rIns="91440" bIns="45720" anchor="t" vert="eaVe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8" name="PlaceHolder 3"/>
          <p:cNvSpPr>
            <a:spLocks noGrp="1"/>
          </p:cNvSpPr>
          <p:nvPr>
            <p:ph type="dt" idx="4"/>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9" name="PlaceHolder 4"/>
          <p:cNvSpPr>
            <a:spLocks noGrp="1"/>
          </p:cNvSpPr>
          <p:nvPr>
            <p:ph type="ftr" idx="5"/>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0" name="PlaceHolder 5"/>
          <p:cNvSpPr>
            <a:spLocks noGrp="1"/>
          </p:cNvSpPr>
          <p:nvPr>
            <p:ph type="sldNum" idx="6"/>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8CE0EA7D-063B-4439-8DE6-110383C0091E}"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bg>
      <p:bgPr>
        <a:solidFill>
          <a:srgbClr val="FFFFFF"/>
        </a:solidFill>
      </p:bgPr>
    </p:bg>
    <p:spTree>
      <p:nvGrpSpPr>
        <p:cNvPr id="1" name=""/>
        <p:cNvGrpSpPr/>
        <p:nvPr/>
      </p:nvGrpSpPr>
      <p:grpSpPr>
        <a:xfrm>
          <a:off x="0" y="0"/>
          <a:ext cx="0" cy="0"/>
          <a:chOff x="0" y="0"/>
          <a:chExt cx="0" cy="0"/>
        </a:xfrm>
      </p:grpSpPr>
      <p:sp>
        <p:nvSpPr>
          <p:cNvPr id="11" name="PlaceHolder 1"/>
          <p:cNvSpPr>
            <a:spLocks noGrp="1"/>
          </p:cNvSpPr>
          <p:nvPr>
            <p:ph type="title"/>
          </p:nvPr>
        </p:nvSpPr>
        <p:spPr>
          <a:xfrm>
            <a:off x="6629400" y="274680"/>
            <a:ext cx="2057040" cy="5851080"/>
          </a:xfrm>
          <a:prstGeom prst="rect">
            <a:avLst/>
          </a:prstGeom>
          <a:noFill/>
          <a:ln w="0">
            <a:noFill/>
          </a:ln>
        </p:spPr>
        <p:txBody>
          <a:bodyPr lIns="91440" tIns="45720" rIns="91440" bIns="45720" anchor="ctr" vert="eaVert">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a:t>
            </a:r>
            <a:r>
              <a:rPr lang="en-US" sz="4400" b="0" u="none" strike="noStrike">
                <a:solidFill>
                  <a:schemeClr val="dk1"/>
                </a:solidFill>
                <a:effectLst/>
                <a:uFillTx/>
                <a:latin typeface="Calibri"/>
              </a:rPr>
              <a:t>ck </a:t>
            </a:r>
            <a:r>
              <a:rPr lang="en-US" sz="4400" b="0" u="none" strike="noStrike">
                <a:solidFill>
                  <a:schemeClr val="dk1"/>
                </a:solidFill>
                <a:effectLst/>
                <a:uFillTx/>
                <a:latin typeface="Calibri"/>
              </a:rPr>
              <a:t>to </a:t>
            </a:r>
            <a:r>
              <a:rPr lang="en-US" sz="4400" b="0" u="none" strike="noStrike">
                <a:solidFill>
                  <a:schemeClr val="dk1"/>
                </a:solidFill>
                <a:effectLst/>
                <a:uFillTx/>
                <a:latin typeface="Calibri"/>
              </a:rPr>
              <a:t>ed</a:t>
            </a:r>
            <a:r>
              <a:rPr lang="en-US" sz="4400" b="0" u="none" strike="noStrike">
                <a:solidFill>
                  <a:schemeClr val="dk1"/>
                </a:solidFill>
                <a:effectLst/>
                <a:uFillTx/>
                <a:latin typeface="Calibri"/>
              </a:rPr>
              <a:t>it </a:t>
            </a:r>
            <a:r>
              <a:rPr lang="en-US" sz="4400" b="0" u="none" strike="noStrike">
                <a:solidFill>
                  <a:schemeClr val="dk1"/>
                </a:solidFill>
                <a:effectLst/>
                <a:uFillTx/>
                <a:latin typeface="Calibri"/>
              </a:rPr>
              <a:t>M</a:t>
            </a:r>
            <a:r>
              <a:rPr lang="en-US" sz="4400" b="0" u="none" strike="noStrike">
                <a:solidFill>
                  <a:schemeClr val="dk1"/>
                </a:solidFill>
                <a:effectLst/>
                <a:uFillTx/>
                <a:latin typeface="Calibri"/>
              </a:rPr>
              <a:t>ast</a:t>
            </a:r>
            <a:r>
              <a:rPr lang="en-US" sz="4400" b="0" u="none" strike="noStrike">
                <a:solidFill>
                  <a:schemeClr val="dk1"/>
                </a:solidFill>
                <a:effectLst/>
                <a:uFillTx/>
                <a:latin typeface="Calibri"/>
              </a:rPr>
              <a:t>er </a:t>
            </a:r>
            <a:r>
              <a:rPr lang="en-US" sz="4400" b="0" u="none" strike="noStrike">
                <a:solidFill>
                  <a:schemeClr val="dk1"/>
                </a:solidFill>
                <a:effectLst/>
                <a:uFillTx/>
                <a:latin typeface="Calibri"/>
              </a:rPr>
              <a:t>titl</a:t>
            </a:r>
            <a:r>
              <a:rPr lang="en-US" sz="4400" b="0" u="none" strike="noStrike">
                <a:solidFill>
                  <a:schemeClr val="dk1"/>
                </a:solidFill>
                <a:effectLst/>
                <a:uFillTx/>
                <a:latin typeface="Calibri"/>
              </a:rPr>
              <a:t>e </a:t>
            </a:r>
            <a:r>
              <a:rPr lang="en-US" sz="4400" b="0" u="none" strike="noStrike">
                <a:solidFill>
                  <a:schemeClr val="dk1"/>
                </a:solidFill>
                <a:effectLst/>
                <a:uFillTx/>
                <a:latin typeface="Calibri"/>
              </a:rPr>
              <a:t>sty</a:t>
            </a:r>
            <a:r>
              <a:rPr lang="en-US" sz="4400" b="0" u="none" strike="noStrike">
                <a:solidFill>
                  <a:schemeClr val="dk1"/>
                </a:solidFill>
                <a:effectLst/>
                <a:uFillTx/>
                <a:latin typeface="Calibri"/>
              </a:rPr>
              <a:t>le</a:t>
            </a:r>
            <a:endParaRPr lang="en-US" sz="4400" b="0" u="none" strike="noStrike">
              <a:solidFill>
                <a:schemeClr val="dk1"/>
              </a:solidFill>
              <a:effectLst/>
              <a:uFillTx/>
              <a:latin typeface="Calibri"/>
            </a:endParaRPr>
          </a:p>
        </p:txBody>
      </p:sp>
      <p:sp>
        <p:nvSpPr>
          <p:cNvPr id="12" name="PlaceHolder 2"/>
          <p:cNvSpPr>
            <a:spLocks noGrp="1"/>
          </p:cNvSpPr>
          <p:nvPr>
            <p:ph type="body"/>
          </p:nvPr>
        </p:nvSpPr>
        <p:spPr>
          <a:xfrm>
            <a:off x="457200" y="274680"/>
            <a:ext cx="6019560" cy="5851080"/>
          </a:xfrm>
          <a:prstGeom prst="rect">
            <a:avLst/>
          </a:prstGeom>
          <a:noFill/>
          <a:ln w="0">
            <a:noFill/>
          </a:ln>
        </p:spPr>
        <p:txBody>
          <a:bodyPr lIns="91440" tIns="45720" rIns="91440" bIns="45720" anchor="t" vert="eaVe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13" name="PlaceHolder 3"/>
          <p:cNvSpPr>
            <a:spLocks noGrp="1"/>
          </p:cNvSpPr>
          <p:nvPr>
            <p:ph type="dt" idx="7"/>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14" name="PlaceHolder 4"/>
          <p:cNvSpPr>
            <a:spLocks noGrp="1"/>
          </p:cNvSpPr>
          <p:nvPr>
            <p:ph type="ftr" idx="8"/>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5" name="PlaceHolder 5"/>
          <p:cNvSpPr>
            <a:spLocks noGrp="1"/>
          </p:cNvSpPr>
          <p:nvPr>
            <p:ph type="sldNum" idx="9"/>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7D5E33FB-F81D-4568-833F-D490160A2BFB}"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bg>
      <p:bgPr>
        <a:solidFill>
          <a:srgbClr val="FFFFFF"/>
        </a:solidFill>
      </p:bgPr>
    </p:bg>
    <p:spTree>
      <p:nvGrpSpPr>
        <p:cNvPr id="1" name=""/>
        <p:cNvGrpSpPr/>
        <p:nvPr/>
      </p:nvGrpSpPr>
      <p:grpSpPr>
        <a:xfrm>
          <a:off x="0" y="0"/>
          <a:ext cx="0" cy="0"/>
          <a:chOff x="0" y="0"/>
          <a:chExt cx="0" cy="0"/>
        </a:xfrm>
      </p:grpSpPr>
      <p:sp>
        <p:nvSpPr>
          <p:cNvPr id="1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a:t>
            </a:r>
            <a:r>
              <a:rPr lang="en-US" sz="4400" b="0" u="none" strike="noStrike">
                <a:solidFill>
                  <a:schemeClr val="dk1"/>
                </a:solidFill>
                <a:effectLst/>
                <a:uFillTx/>
                <a:latin typeface="Calibri"/>
              </a:rPr>
              <a:t>edit </a:t>
            </a:r>
            <a:r>
              <a:rPr lang="en-US" sz="4400" b="0" u="none" strike="noStrike">
                <a:solidFill>
                  <a:schemeClr val="dk1"/>
                </a:solidFill>
                <a:effectLst/>
                <a:uFillTx/>
                <a:latin typeface="Calibri"/>
              </a:rPr>
              <a:t>Master </a:t>
            </a:r>
            <a:r>
              <a:rPr lang="en-US" sz="4400" b="0" u="none" strike="noStrike">
                <a:solidFill>
                  <a:schemeClr val="dk1"/>
                </a:solidFill>
                <a:effectLst/>
                <a:uFillTx/>
                <a:latin typeface="Calibri"/>
              </a:rPr>
              <a:t>title style</a:t>
            </a:r>
            <a:endParaRPr lang="en-US" sz="4400" b="0" u="none" strike="noStrike">
              <a:solidFill>
                <a:schemeClr val="dk1"/>
              </a:solidFill>
              <a:effectLst/>
              <a:uFillTx/>
              <a:latin typeface="Calibri"/>
            </a:endParaRPr>
          </a:p>
        </p:txBody>
      </p:sp>
      <p:sp>
        <p:nvSpPr>
          <p:cNvPr id="17" name="PlaceHolder 2"/>
          <p:cNvSpPr>
            <a:spLocks noGrp="1"/>
          </p:cNvSpPr>
          <p:nvPr>
            <p:ph type="body"/>
          </p:nvPr>
        </p:nvSpPr>
        <p:spPr>
          <a:xfrm>
            <a:off x="457200" y="1600200"/>
            <a:ext cx="8229240" cy="452556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18" name="PlaceHolder 3"/>
          <p:cNvSpPr>
            <a:spLocks noGrp="1"/>
          </p:cNvSpPr>
          <p:nvPr>
            <p:ph type="dt" idx="10"/>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19" name="PlaceHolder 4"/>
          <p:cNvSpPr>
            <a:spLocks noGrp="1"/>
          </p:cNvSpPr>
          <p:nvPr>
            <p:ph type="ftr" idx="11"/>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20" name="PlaceHolder 5"/>
          <p:cNvSpPr>
            <a:spLocks noGrp="1"/>
          </p:cNvSpPr>
          <p:nvPr>
            <p:ph type="sldNum" idx="12"/>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7E32A788-42D5-4D88-9BCB-AF8FA1B2CA71}"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bg>
      <p:bgPr>
        <a:solidFill>
          <a:srgbClr val="FFFFFF"/>
        </a:solidFill>
      </p:bgPr>
    </p:bg>
    <p:spTree>
      <p:nvGrpSpPr>
        <p:cNvPr id="1" name=""/>
        <p:cNvGrpSpPr/>
        <p:nvPr/>
      </p:nvGrpSpPr>
      <p:grpSpPr>
        <a:xfrm>
          <a:off x="0" y="0"/>
          <a:ext cx="0" cy="0"/>
          <a:chOff x="0" y="0"/>
          <a:chExt cx="0" cy="0"/>
        </a:xfrm>
      </p:grpSpPr>
      <p:sp>
        <p:nvSpPr>
          <p:cNvPr id="21" name="PlaceHolder 1"/>
          <p:cNvSpPr>
            <a:spLocks noGrp="1"/>
          </p:cNvSpPr>
          <p:nvPr>
            <p:ph type="title"/>
          </p:nvPr>
        </p:nvSpPr>
        <p:spPr>
          <a:xfrm>
            <a:off x="722160" y="4406760"/>
            <a:ext cx="7772040" cy="1361880"/>
          </a:xfrm>
          <a:prstGeom prst="rect">
            <a:avLst/>
          </a:prstGeom>
          <a:noFill/>
          <a:ln w="0">
            <a:noFill/>
          </a:ln>
        </p:spPr>
        <p:txBody>
          <a:bodyPr lIns="91440" tIns="45720" rIns="91440" bIns="45720" anchor="t">
            <a:noAutofit/>
          </a:bodyPr>
          <a:lstStyle>
            <a:lvl1pPr indent="0" algn="l" defTabSz="457200">
              <a:lnSpc>
                <a:spcPct val="100000"/>
              </a:lnSpc>
              <a:buNone/>
              <a:defRPr lang="en-US" sz="4000" b="1" u="none" strike="noStrike" cap="all">
                <a:solidFill>
                  <a:schemeClr val="dk1"/>
                </a:solidFill>
                <a:effectLst/>
                <a:uFillTx/>
                <a:latin typeface="Calibri"/>
              </a:defRPr>
            </a:lvl1pPr>
          </a:lstStyle>
          <a:p>
            <a:pPr indent="0" algn="l" defTabSz="457200">
              <a:lnSpc>
                <a:spcPct val="100000"/>
              </a:lnSpc>
              <a:buNone/>
            </a:pPr>
            <a:r>
              <a:rPr lang="en-US" sz="4000" b="1" u="none" strike="noStrike" cap="all">
                <a:solidFill>
                  <a:schemeClr val="dk1"/>
                </a:solidFill>
                <a:effectLst/>
                <a:uFillTx/>
                <a:latin typeface="Calibri"/>
              </a:rPr>
              <a:t>Click to </a:t>
            </a:r>
            <a:r>
              <a:rPr lang="en-US" sz="4000" b="1" u="none" strike="noStrike" cap="all">
                <a:solidFill>
                  <a:schemeClr val="dk1"/>
                </a:solidFill>
                <a:effectLst/>
                <a:uFillTx/>
                <a:latin typeface="Calibri"/>
              </a:rPr>
              <a:t>edit </a:t>
            </a:r>
            <a:r>
              <a:rPr lang="en-US" sz="4000" b="1" u="none" strike="noStrike" cap="all">
                <a:solidFill>
                  <a:schemeClr val="dk1"/>
                </a:solidFill>
                <a:effectLst/>
                <a:uFillTx/>
                <a:latin typeface="Calibri"/>
              </a:rPr>
              <a:t>Master </a:t>
            </a:r>
            <a:r>
              <a:rPr lang="en-US" sz="4000" b="1" u="none" strike="noStrike" cap="all">
                <a:solidFill>
                  <a:schemeClr val="dk1"/>
                </a:solidFill>
                <a:effectLst/>
                <a:uFillTx/>
                <a:latin typeface="Calibri"/>
              </a:rPr>
              <a:t>title style</a:t>
            </a:r>
            <a:endParaRPr lang="en-US" sz="4000" b="1" u="none" strike="noStrike" cap="all">
              <a:solidFill>
                <a:schemeClr val="dk1"/>
              </a:solidFill>
              <a:effectLst/>
              <a:uFillTx/>
              <a:latin typeface="Calibri"/>
            </a:endParaRPr>
          </a:p>
        </p:txBody>
      </p:sp>
      <p:sp>
        <p:nvSpPr>
          <p:cNvPr id="22" name="PlaceHolder 2"/>
          <p:cNvSpPr>
            <a:spLocks noGrp="1"/>
          </p:cNvSpPr>
          <p:nvPr>
            <p:ph type="body"/>
          </p:nvPr>
        </p:nvSpPr>
        <p:spPr>
          <a:xfrm>
            <a:off x="722160" y="2906640"/>
            <a:ext cx="7772040" cy="1499760"/>
          </a:xfrm>
          <a:prstGeom prst="rect">
            <a:avLst/>
          </a:prstGeom>
          <a:noFill/>
          <a:ln w="0">
            <a:noFill/>
          </a:ln>
        </p:spPr>
        <p:txBody>
          <a:bodyPr lIns="91440" tIns="45720" rIns="91440" bIns="45720" anchor="b">
            <a:noAutofit/>
          </a:bodyPr>
          <a:lstStyle>
            <a:lvl1pPr indent="0" algn="l" defTabSz="457200">
              <a:lnSpc>
                <a:spcPct val="100000"/>
              </a:lnSpc>
              <a:spcBef>
                <a:spcPts val="400"/>
              </a:spcBef>
              <a:buNone/>
              <a:tabLst>
                <a:tab pos="0" algn="l"/>
              </a:tabLst>
              <a:defRPr lang="en-US" sz="2000" b="0" u="none" strike="noStrike">
                <a:solidFill>
                  <a:schemeClr val="dk1">
                    <a:tint val="75000"/>
                  </a:schemeClr>
                </a:solidFill>
                <a:effectLst/>
                <a:uFillTx/>
                <a:latin typeface="Calibri"/>
              </a:defRPr>
            </a:lvl1pPr>
          </a:lstStyle>
          <a:p>
            <a:pPr indent="0" algn="l" defTabSz="457200">
              <a:lnSpc>
                <a:spcPct val="100000"/>
              </a:lnSpc>
              <a:spcBef>
                <a:spcPts val="400"/>
              </a:spcBef>
              <a:buNone/>
              <a:tabLst>
                <a:tab pos="0" algn="l"/>
              </a:tabLst>
            </a:pPr>
            <a:r>
              <a:rPr lang="en-US" sz="2000" b="0" u="none" strike="noStrike">
                <a:solidFill>
                  <a:schemeClr val="dk1">
                    <a:tint val="75000"/>
                  </a:schemeClr>
                </a:solidFill>
                <a:effectLst/>
                <a:uFillTx/>
                <a:latin typeface="Calibri"/>
              </a:rPr>
              <a:t>Click to edit Master text styles</a:t>
            </a:r>
            <a:endParaRPr lang="en-US" sz="2000" b="0" u="none" strike="noStrike">
              <a:solidFill>
                <a:schemeClr val="dk1">
                  <a:tint val="75000"/>
                </a:schemeClr>
              </a:solidFill>
              <a:effectLst/>
              <a:uFillTx/>
              <a:latin typeface="Calibri"/>
            </a:endParaRPr>
          </a:p>
        </p:txBody>
      </p:sp>
      <p:sp>
        <p:nvSpPr>
          <p:cNvPr id="23" name="PlaceHolder 3"/>
          <p:cNvSpPr>
            <a:spLocks noGrp="1"/>
          </p:cNvSpPr>
          <p:nvPr>
            <p:ph type="dt" idx="13"/>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24" name="PlaceHolder 4"/>
          <p:cNvSpPr>
            <a:spLocks noGrp="1"/>
          </p:cNvSpPr>
          <p:nvPr>
            <p:ph type="ftr" idx="14"/>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25" name="PlaceHolder 5"/>
          <p:cNvSpPr>
            <a:spLocks noGrp="1"/>
          </p:cNvSpPr>
          <p:nvPr>
            <p:ph type="sldNum" idx="15"/>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1F87BCBA-CE96-49C8-8458-75552FE5DBC3}"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bg>
      <p:bgPr>
        <a:solidFill>
          <a:srgbClr val="FFFFFF"/>
        </a:solidFill>
      </p:bgPr>
    </p:bg>
    <p:spTree>
      <p:nvGrpSpPr>
        <p:cNvPr id="1" name=""/>
        <p:cNvGrpSpPr/>
        <p:nvPr/>
      </p:nvGrpSpPr>
      <p:grpSpPr>
        <a:xfrm>
          <a:off x="0" y="0"/>
          <a:ext cx="0" cy="0"/>
          <a:chOff x="0" y="0"/>
          <a:chExt cx="0" cy="0"/>
        </a:xfrm>
      </p:grpSpPr>
      <p:sp>
        <p:nvSpPr>
          <p:cNvPr id="2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a:t>
            </a:r>
            <a:r>
              <a:rPr lang="en-US" sz="4400" b="0" u="none" strike="noStrike">
                <a:solidFill>
                  <a:schemeClr val="dk1"/>
                </a:solidFill>
                <a:effectLst/>
                <a:uFillTx/>
                <a:latin typeface="Calibri"/>
              </a:rPr>
              <a:t>to </a:t>
            </a:r>
            <a:r>
              <a:rPr lang="en-US" sz="4400" b="0" u="none" strike="noStrike">
                <a:solidFill>
                  <a:schemeClr val="dk1"/>
                </a:solidFill>
                <a:effectLst/>
                <a:uFillTx/>
                <a:latin typeface="Calibri"/>
              </a:rPr>
              <a:t>edit </a:t>
            </a:r>
            <a:r>
              <a:rPr lang="en-US" sz="4400" b="0" u="none" strike="noStrike">
                <a:solidFill>
                  <a:schemeClr val="dk1"/>
                </a:solidFill>
                <a:effectLst/>
                <a:uFillTx/>
                <a:latin typeface="Calibri"/>
              </a:rPr>
              <a:t>Maste</a:t>
            </a:r>
            <a:r>
              <a:rPr lang="en-US" sz="4400" b="0" u="none" strike="noStrike">
                <a:solidFill>
                  <a:schemeClr val="dk1"/>
                </a:solidFill>
                <a:effectLst/>
                <a:uFillTx/>
                <a:latin typeface="Calibri"/>
              </a:rPr>
              <a:t>r title </a:t>
            </a:r>
            <a:r>
              <a:rPr lang="en-US" sz="4400" b="0" u="none" strike="noStrike">
                <a:solidFill>
                  <a:schemeClr val="dk1"/>
                </a:solidFill>
                <a:effectLst/>
                <a:uFillTx/>
                <a:latin typeface="Calibri"/>
              </a:rPr>
              <a:t>style</a:t>
            </a:r>
            <a:endParaRPr lang="en-US" sz="4400" b="0" u="none" strike="noStrike">
              <a:solidFill>
                <a:schemeClr val="dk1"/>
              </a:solidFill>
              <a:effectLst/>
              <a:uFillTx/>
              <a:latin typeface="Calibri"/>
            </a:endParaRPr>
          </a:p>
        </p:txBody>
      </p:sp>
      <p:sp>
        <p:nvSpPr>
          <p:cNvPr id="27" name="PlaceHolder 2"/>
          <p:cNvSpPr>
            <a:spLocks noGrp="1"/>
          </p:cNvSpPr>
          <p:nvPr>
            <p:ph type="body"/>
          </p:nvPr>
        </p:nvSpPr>
        <p:spPr>
          <a:xfrm>
            <a:off x="457200" y="1600200"/>
            <a:ext cx="4038120" cy="452556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chemeClr val="dk1"/>
              </a:solidFill>
              <a:effectLst/>
              <a:uFillTx/>
              <a:latin typeface="Calibri"/>
            </a:endParaRP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chemeClr val="dk1"/>
              </a:solidFill>
              <a:effectLst/>
              <a:uFillTx/>
              <a:latin typeface="Calibri"/>
            </a:endParaRP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chemeClr val="dk1"/>
              </a:solidFill>
              <a:effectLst/>
              <a:uFillTx/>
              <a:latin typeface="Calibri"/>
            </a:endParaRP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chemeClr val="dk1"/>
              </a:solidFill>
              <a:effectLst/>
              <a:uFillTx/>
              <a:latin typeface="Calibri"/>
            </a:endParaRP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chemeClr val="dk1"/>
              </a:solidFill>
              <a:effectLst/>
              <a:uFillTx/>
              <a:latin typeface="Calibri"/>
            </a:endParaRPr>
          </a:p>
        </p:txBody>
      </p:sp>
      <p:sp>
        <p:nvSpPr>
          <p:cNvPr id="28" name="PlaceHolder 3"/>
          <p:cNvSpPr>
            <a:spLocks noGrp="1"/>
          </p:cNvSpPr>
          <p:nvPr>
            <p:ph type="body"/>
          </p:nvPr>
        </p:nvSpPr>
        <p:spPr>
          <a:xfrm>
            <a:off x="4648320" y="1600200"/>
            <a:ext cx="4038120" cy="452556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chemeClr val="dk1"/>
              </a:solidFill>
              <a:effectLst/>
              <a:uFillTx/>
              <a:latin typeface="Calibri"/>
            </a:endParaRP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chemeClr val="dk1"/>
              </a:solidFill>
              <a:effectLst/>
              <a:uFillTx/>
              <a:latin typeface="Calibri"/>
            </a:endParaRP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chemeClr val="dk1"/>
              </a:solidFill>
              <a:effectLst/>
              <a:uFillTx/>
              <a:latin typeface="Calibri"/>
            </a:endParaRP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chemeClr val="dk1"/>
              </a:solidFill>
              <a:effectLst/>
              <a:uFillTx/>
              <a:latin typeface="Calibri"/>
            </a:endParaRP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chemeClr val="dk1"/>
              </a:solidFill>
              <a:effectLst/>
              <a:uFillTx/>
              <a:latin typeface="Calibri"/>
            </a:endParaRPr>
          </a:p>
        </p:txBody>
      </p:sp>
      <p:sp>
        <p:nvSpPr>
          <p:cNvPr id="29" name="PlaceHolder 4"/>
          <p:cNvSpPr>
            <a:spLocks noGrp="1"/>
          </p:cNvSpPr>
          <p:nvPr>
            <p:ph type="dt" idx="16"/>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30" name="PlaceHolder 5"/>
          <p:cNvSpPr>
            <a:spLocks noGrp="1"/>
          </p:cNvSpPr>
          <p:nvPr>
            <p:ph type="ftr" idx="17"/>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31" name="PlaceHolder 6"/>
          <p:cNvSpPr>
            <a:spLocks noGrp="1"/>
          </p:cNvSpPr>
          <p:nvPr>
            <p:ph type="sldNum" idx="18"/>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D2754292-9F30-428F-9210-4E1C6C29C382}"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bg>
      <p:bgPr>
        <a:solidFill>
          <a:srgbClr val="FFFFFF"/>
        </a:solidFill>
      </p:bgPr>
    </p:bg>
    <p:spTree>
      <p:nvGrpSpPr>
        <p:cNvPr id="1" name=""/>
        <p:cNvGrpSpPr/>
        <p:nvPr/>
      </p:nvGrpSpPr>
      <p:grpSpPr>
        <a:xfrm>
          <a:off x="0" y="0"/>
          <a:ext cx="0" cy="0"/>
          <a:chOff x="0" y="0"/>
          <a:chExt cx="0" cy="0"/>
        </a:xfrm>
      </p:grpSpPr>
      <p:sp>
        <p:nvSpPr>
          <p:cNvPr id="32"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a:t>
            </a:r>
            <a:r>
              <a:rPr lang="en-US" sz="4400" b="0" u="none" strike="noStrike">
                <a:solidFill>
                  <a:schemeClr val="dk1"/>
                </a:solidFill>
                <a:effectLst/>
                <a:uFillTx/>
                <a:latin typeface="Calibri"/>
              </a:rPr>
              <a:t>to </a:t>
            </a:r>
            <a:r>
              <a:rPr lang="en-US" sz="4400" b="0" u="none" strike="noStrike">
                <a:solidFill>
                  <a:schemeClr val="dk1"/>
                </a:solidFill>
                <a:effectLst/>
                <a:uFillTx/>
                <a:latin typeface="Calibri"/>
              </a:rPr>
              <a:t>edit </a:t>
            </a:r>
            <a:r>
              <a:rPr lang="en-US" sz="4400" b="0" u="none" strike="noStrike">
                <a:solidFill>
                  <a:schemeClr val="dk1"/>
                </a:solidFill>
                <a:effectLst/>
                <a:uFillTx/>
                <a:latin typeface="Calibri"/>
              </a:rPr>
              <a:t>Maste</a:t>
            </a:r>
            <a:r>
              <a:rPr lang="en-US" sz="4400" b="0" u="none" strike="noStrike">
                <a:solidFill>
                  <a:schemeClr val="dk1"/>
                </a:solidFill>
                <a:effectLst/>
                <a:uFillTx/>
                <a:latin typeface="Calibri"/>
              </a:rPr>
              <a:t>r title </a:t>
            </a:r>
            <a:r>
              <a:rPr lang="en-US" sz="4400" b="0" u="none" strike="noStrike">
                <a:solidFill>
                  <a:schemeClr val="dk1"/>
                </a:solidFill>
                <a:effectLst/>
                <a:uFillTx/>
                <a:latin typeface="Calibri"/>
              </a:rPr>
              <a:t>style</a:t>
            </a:r>
            <a:endParaRPr lang="en-US" sz="4400" b="0" u="none" strike="noStrike">
              <a:solidFill>
                <a:schemeClr val="dk1"/>
              </a:solidFill>
              <a:effectLst/>
              <a:uFillTx/>
              <a:latin typeface="Calibri"/>
            </a:endParaRPr>
          </a:p>
        </p:txBody>
      </p:sp>
      <p:sp>
        <p:nvSpPr>
          <p:cNvPr id="33" name="PlaceHolder 2"/>
          <p:cNvSpPr>
            <a:spLocks noGrp="1"/>
          </p:cNvSpPr>
          <p:nvPr>
            <p:ph type="body"/>
          </p:nvPr>
        </p:nvSpPr>
        <p:spPr>
          <a:xfrm>
            <a:off x="457200" y="1535040"/>
            <a:ext cx="4039920" cy="639360"/>
          </a:xfrm>
          <a:prstGeom prst="rect">
            <a:avLst/>
          </a:prstGeom>
          <a:noFill/>
          <a:ln w="0">
            <a:noFill/>
          </a:ln>
        </p:spPr>
        <p:txBody>
          <a:bodyPr lIns="91440" tIns="45720" rIns="91440" bIns="45720" anchor="b">
            <a:noAutofit/>
          </a:bodyPr>
          <a:lstStyle>
            <a:lvl1pPr indent="0" algn="l" defTabSz="457200">
              <a:lnSpc>
                <a:spcPct val="100000"/>
              </a:lnSpc>
              <a:spcBef>
                <a:spcPts val="479"/>
              </a:spcBef>
              <a:buNone/>
              <a:tabLst>
                <a:tab pos="0" algn="l"/>
              </a:tabLst>
              <a:defRPr lang="en-US" sz="2400" b="1" u="none" strike="noStrike">
                <a:solidFill>
                  <a:schemeClr val="dk1"/>
                </a:solidFill>
                <a:effectLst/>
                <a:uFillTx/>
                <a:latin typeface="Calibri"/>
              </a:defRPr>
            </a:lvl1pPr>
          </a:lstStyle>
          <a:p>
            <a:pPr indent="0" algn="l" defTabSz="457200">
              <a:lnSpc>
                <a:spcPct val="100000"/>
              </a:lnSpc>
              <a:spcBef>
                <a:spcPts val="479"/>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34" name="PlaceHolder 3"/>
          <p:cNvSpPr>
            <a:spLocks noGrp="1"/>
          </p:cNvSpPr>
          <p:nvPr>
            <p:ph type="body"/>
          </p:nvPr>
        </p:nvSpPr>
        <p:spPr>
          <a:xfrm>
            <a:off x="457200" y="2174760"/>
            <a:ext cx="4039920" cy="395100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Calibri"/>
              </a:rPr>
              <a:t>Second level</a:t>
            </a:r>
            <a:endParaRPr lang="en-US" sz="2000" b="0" u="none" strike="noStrike">
              <a:solidFill>
                <a:schemeClr val="dk1"/>
              </a:solidFill>
              <a:effectLst/>
              <a:uFillTx/>
              <a:latin typeface="Calibri"/>
            </a:endParaRP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Calibri"/>
              </a:rPr>
              <a:t>Third level</a:t>
            </a:r>
            <a:endParaRPr lang="en-US" sz="1800" b="0" u="none" strike="noStrike">
              <a:solidFill>
                <a:schemeClr val="dk1"/>
              </a:solidFill>
              <a:effectLst/>
              <a:uFillTx/>
              <a:latin typeface="Calibri"/>
            </a:endParaRP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Fourth level</a:t>
            </a:r>
            <a:endParaRPr lang="en-US" sz="1600" b="0" u="none" strike="noStrike">
              <a:solidFill>
                <a:schemeClr val="dk1"/>
              </a:solidFill>
              <a:effectLst/>
              <a:uFillTx/>
              <a:latin typeface="Calibri"/>
            </a:endParaRP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Fifth level</a:t>
            </a:r>
            <a:endParaRPr lang="en-US" sz="1600" b="0" u="none" strike="noStrike">
              <a:solidFill>
                <a:schemeClr val="dk1"/>
              </a:solidFill>
              <a:effectLst/>
              <a:uFillTx/>
              <a:latin typeface="Calibri"/>
            </a:endParaRPr>
          </a:p>
        </p:txBody>
      </p:sp>
      <p:sp>
        <p:nvSpPr>
          <p:cNvPr id="35" name="PlaceHolder 4"/>
          <p:cNvSpPr>
            <a:spLocks noGrp="1"/>
          </p:cNvSpPr>
          <p:nvPr>
            <p:ph type="body"/>
          </p:nvPr>
        </p:nvSpPr>
        <p:spPr>
          <a:xfrm>
            <a:off x="4645080" y="1535040"/>
            <a:ext cx="4041360" cy="639360"/>
          </a:xfrm>
          <a:prstGeom prst="rect">
            <a:avLst/>
          </a:prstGeom>
          <a:noFill/>
          <a:ln w="0">
            <a:noFill/>
          </a:ln>
        </p:spPr>
        <p:txBody>
          <a:bodyPr lIns="91440" tIns="45720" rIns="91440" bIns="45720" anchor="b">
            <a:noAutofit/>
          </a:bodyPr>
          <a:lstStyle>
            <a:lvl1pPr indent="0" algn="l" defTabSz="457200">
              <a:lnSpc>
                <a:spcPct val="100000"/>
              </a:lnSpc>
              <a:spcBef>
                <a:spcPts val="479"/>
              </a:spcBef>
              <a:buNone/>
              <a:tabLst>
                <a:tab pos="0" algn="l"/>
              </a:tabLst>
              <a:defRPr lang="en-US" sz="2400" b="1" u="none" strike="noStrike">
                <a:solidFill>
                  <a:schemeClr val="dk1"/>
                </a:solidFill>
                <a:effectLst/>
                <a:uFillTx/>
                <a:latin typeface="Calibri"/>
              </a:defRPr>
            </a:lvl1pPr>
          </a:lstStyle>
          <a:p>
            <a:pPr indent="0" algn="l" defTabSz="457200">
              <a:lnSpc>
                <a:spcPct val="100000"/>
              </a:lnSpc>
              <a:spcBef>
                <a:spcPts val="479"/>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36" name="PlaceHolder 5"/>
          <p:cNvSpPr>
            <a:spLocks noGrp="1"/>
          </p:cNvSpPr>
          <p:nvPr>
            <p:ph type="body"/>
          </p:nvPr>
        </p:nvSpPr>
        <p:spPr>
          <a:xfrm>
            <a:off x="4645080" y="2174760"/>
            <a:ext cx="4041360" cy="395100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Calibri"/>
              </a:rPr>
              <a:t>Second level</a:t>
            </a:r>
            <a:endParaRPr lang="en-US" sz="2000" b="0" u="none" strike="noStrike">
              <a:solidFill>
                <a:schemeClr val="dk1"/>
              </a:solidFill>
              <a:effectLst/>
              <a:uFillTx/>
              <a:latin typeface="Calibri"/>
            </a:endParaRP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Calibri"/>
              </a:rPr>
              <a:t>Third level</a:t>
            </a:r>
            <a:endParaRPr lang="en-US" sz="1800" b="0" u="none" strike="noStrike">
              <a:solidFill>
                <a:schemeClr val="dk1"/>
              </a:solidFill>
              <a:effectLst/>
              <a:uFillTx/>
              <a:latin typeface="Calibri"/>
            </a:endParaRP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Fourth level</a:t>
            </a:r>
            <a:endParaRPr lang="en-US" sz="1600" b="0" u="none" strike="noStrike">
              <a:solidFill>
                <a:schemeClr val="dk1"/>
              </a:solidFill>
              <a:effectLst/>
              <a:uFillTx/>
              <a:latin typeface="Calibri"/>
            </a:endParaRP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Fifth level</a:t>
            </a:r>
            <a:endParaRPr lang="en-US" sz="1600" b="0" u="none" strike="noStrike">
              <a:solidFill>
                <a:schemeClr val="dk1"/>
              </a:solidFill>
              <a:effectLst/>
              <a:uFillTx/>
              <a:latin typeface="Calibri"/>
            </a:endParaRPr>
          </a:p>
        </p:txBody>
      </p:sp>
      <p:sp>
        <p:nvSpPr>
          <p:cNvPr id="37" name="PlaceHolder 6"/>
          <p:cNvSpPr>
            <a:spLocks noGrp="1"/>
          </p:cNvSpPr>
          <p:nvPr>
            <p:ph type="dt" idx="19"/>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38" name="PlaceHolder 7"/>
          <p:cNvSpPr>
            <a:spLocks noGrp="1"/>
          </p:cNvSpPr>
          <p:nvPr>
            <p:ph type="ftr" idx="20"/>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39" name="PlaceHolder 8"/>
          <p:cNvSpPr>
            <a:spLocks noGrp="1"/>
          </p:cNvSpPr>
          <p:nvPr>
            <p:ph type="sldNum" idx="21"/>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82D3A12D-4885-4B55-B839-8FA670D91335}"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bg>
      <p:bgPr>
        <a:solidFill>
          <a:srgbClr val="FFFFFF"/>
        </a:solidFill>
      </p:bgPr>
    </p:bg>
    <p:spTree>
      <p:nvGrpSpPr>
        <p:cNvPr id="1" name=""/>
        <p:cNvGrpSpPr/>
        <p:nvPr/>
      </p:nvGrpSpPr>
      <p:grpSpPr>
        <a:xfrm>
          <a:off x="0" y="0"/>
          <a:ext cx="0" cy="0"/>
          <a:chOff x="0" y="0"/>
          <a:chExt cx="0" cy="0"/>
        </a:xfrm>
      </p:grpSpPr>
      <p:sp>
        <p:nvSpPr>
          <p:cNvPr id="40"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a:t>
            </a:r>
            <a:r>
              <a:rPr lang="en-US" sz="4400" b="0" u="none" strike="noStrike">
                <a:solidFill>
                  <a:schemeClr val="dk1"/>
                </a:solidFill>
                <a:effectLst/>
                <a:uFillTx/>
                <a:latin typeface="Calibri"/>
              </a:rPr>
              <a:t>to </a:t>
            </a:r>
            <a:r>
              <a:rPr lang="en-US" sz="4400" b="0" u="none" strike="noStrike">
                <a:solidFill>
                  <a:schemeClr val="dk1"/>
                </a:solidFill>
                <a:effectLst/>
                <a:uFillTx/>
                <a:latin typeface="Calibri"/>
              </a:rPr>
              <a:t>edit </a:t>
            </a:r>
            <a:r>
              <a:rPr lang="en-US" sz="4400" b="0" u="none" strike="noStrike">
                <a:solidFill>
                  <a:schemeClr val="dk1"/>
                </a:solidFill>
                <a:effectLst/>
                <a:uFillTx/>
                <a:latin typeface="Calibri"/>
              </a:rPr>
              <a:t>Maste</a:t>
            </a:r>
            <a:r>
              <a:rPr lang="en-US" sz="4400" b="0" u="none" strike="noStrike">
                <a:solidFill>
                  <a:schemeClr val="dk1"/>
                </a:solidFill>
                <a:effectLst/>
                <a:uFillTx/>
                <a:latin typeface="Calibri"/>
              </a:rPr>
              <a:t>r title </a:t>
            </a:r>
            <a:r>
              <a:rPr lang="en-US" sz="4400" b="0" u="none" strike="noStrike">
                <a:solidFill>
                  <a:schemeClr val="dk1"/>
                </a:solidFill>
                <a:effectLst/>
                <a:uFillTx/>
                <a:latin typeface="Calibri"/>
              </a:rPr>
              <a:t>style</a:t>
            </a:r>
            <a:endParaRPr lang="en-US" sz="4400" b="0" u="none" strike="noStrike">
              <a:solidFill>
                <a:schemeClr val="dk1"/>
              </a:solidFill>
              <a:effectLst/>
              <a:uFillTx/>
              <a:latin typeface="Calibri"/>
            </a:endParaRPr>
          </a:p>
        </p:txBody>
      </p:sp>
      <p:sp>
        <p:nvSpPr>
          <p:cNvPr id="41" name="PlaceHolder 2"/>
          <p:cNvSpPr>
            <a:spLocks noGrp="1"/>
          </p:cNvSpPr>
          <p:nvPr>
            <p:ph type="dt" idx="22"/>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2" name="PlaceHolder 3"/>
          <p:cNvSpPr>
            <a:spLocks noGrp="1"/>
          </p:cNvSpPr>
          <p:nvPr>
            <p:ph type="ftr" idx="23"/>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43" name="PlaceHolder 4"/>
          <p:cNvSpPr>
            <a:spLocks noGrp="1"/>
          </p:cNvSpPr>
          <p:nvPr>
            <p:ph type="sldNum" idx="24"/>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1570F669-5440-4980-B1B7-295AE9E297A2}"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bg>
      <p:bgPr>
        <a:solidFill>
          <a:srgbClr val="FFFFFF"/>
        </a:solidFill>
      </p:bgPr>
    </p:bg>
    <p:spTree>
      <p:nvGrpSpPr>
        <p:cNvPr id="1" name=""/>
        <p:cNvGrpSpPr/>
        <p:nvPr/>
      </p:nvGrpSpPr>
      <p:grpSpPr>
        <a:xfrm>
          <a:off x="0" y="0"/>
          <a:ext cx="0" cy="0"/>
          <a:chOff x="0" y="0"/>
          <a:chExt cx="0" cy="0"/>
        </a:xfrm>
      </p:grpSpPr>
      <p:sp>
        <p:nvSpPr>
          <p:cNvPr id="44" name="PlaceHolder 1"/>
          <p:cNvSpPr>
            <a:spLocks noGrp="1"/>
          </p:cNvSpPr>
          <p:nvPr>
            <p:ph type="dt" idx="25"/>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5" name="PlaceHolder 2"/>
          <p:cNvSpPr>
            <a:spLocks noGrp="1"/>
          </p:cNvSpPr>
          <p:nvPr>
            <p:ph type="ftr" idx="26"/>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46" name="PlaceHolder 3"/>
          <p:cNvSpPr>
            <a:spLocks noGrp="1"/>
          </p:cNvSpPr>
          <p:nvPr>
            <p:ph type="sldNum" idx="27"/>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64F9F80D-BDF9-416B-ACB2-AC88998F8D8F}"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
        <p:nvSpPr>
          <p:cNvPr id="47" name="PlaceHolder 4"/>
          <p:cNvSpPr>
            <a:spLocks noGrp="1"/>
          </p:cNvSpPr>
          <p:nvPr>
            <p:ph type="title"/>
          </p:nvPr>
        </p:nvSpPr>
        <p:spPr>
          <a:xfrm>
            <a:off x="609480" y="273600"/>
            <a:ext cx="10972080" cy="1144800"/>
          </a:xfrm>
          <a:prstGeom prst="rect">
            <a:avLst/>
          </a:prstGeom>
          <a:noFill/>
          <a:ln w="0">
            <a:noFill/>
          </a:ln>
        </p:spPr>
        <p:txBody>
          <a:bodyPr lIns="0" tIns="0" rIns="0" bIns="0" anchor="ctr">
            <a:noAutofit/>
          </a:bodyPr>
          <a:lstStyle>
            <a:lvl1pPr indent="0" algn="ctr" defTabSz="457200">
              <a:buNone/>
              <a:defRPr lang="en-US" sz="4400" b="0" u="none" strike="noStrike">
                <a:solidFill>
                  <a:schemeClr val="dk1"/>
                </a:solidFill>
                <a:effectLst/>
                <a:uFillTx/>
                <a:latin typeface="Calibri"/>
              </a:defRPr>
            </a:lvl1pPr>
          </a:lstStyle>
          <a:p>
            <a:pPr indent="0" algn="ctr" defTabSz="457200">
              <a:buNone/>
            </a:pPr>
            <a:r>
              <a:rPr lang="en-US" sz="4400" b="0" u="none" strike="noStrike">
                <a:solidFill>
                  <a:schemeClr val="dk1"/>
                </a:solidFill>
                <a:effectLst/>
                <a:uFillTx/>
                <a:latin typeface="Calibri"/>
              </a:rPr>
              <a:t>Click to edit the title text format</a:t>
            </a:r>
            <a:endParaRPr lang="en-US" sz="4400" b="0" u="none" strike="noStrike">
              <a:solidFill>
                <a:schemeClr val="dk1"/>
              </a:solidFill>
              <a:effectLst/>
              <a:uFillTx/>
              <a:latin typeface="Calibri"/>
            </a:endParaRPr>
          </a:p>
        </p:txBody>
      </p:sp>
      <p:sp>
        <p:nvSpPr>
          <p:cNvPr id="48" name="PlaceHolder 5"/>
          <p:cNvSpPr>
            <a:spLocks noGrp="1"/>
          </p:cNvSpPr>
          <p:nvPr>
            <p:ph type="body"/>
          </p:nvPr>
        </p:nvSpPr>
        <p:spPr>
          <a:xfrm>
            <a:off x="609480" y="1604520"/>
            <a:ext cx="10972080" cy="3977280"/>
          </a:xfrm>
          <a:prstGeom prst="rect">
            <a:avLst/>
          </a:prstGeom>
          <a:noFill/>
          <a:ln w="0">
            <a:noFill/>
          </a:ln>
        </p:spPr>
        <p:txBody>
          <a:bodyPr lIns="0" tIns="0" rIns="0" bIns="0" anchor="t">
            <a:normAutofit/>
          </a:bodyPr>
          <a:lstStyle>
            <a:lvl1pPr algn="l" defTabSz="457200">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spcBef>
                <a:spcPts val="561"/>
              </a:spcBef>
              <a:buClr>
                <a:srgbClr val="000000"/>
              </a:buClr>
              <a:buSzPct val="75000"/>
              <a:buFont typeface="Symbol" charset="2"/>
              <a:buChar char=""/>
              <a:defRPr lang="en-US" sz="2800" b="0" u="none" strike="noStrike">
                <a:solidFill>
                  <a:schemeClr val="dk1"/>
                </a:solidFill>
                <a:effectLst/>
                <a:uFillTx/>
                <a:latin typeface="Calibri"/>
              </a:defRPr>
            </a:lvl2pPr>
            <a:lvl3pPr lvl="2" algn="l" defTabSz="457200">
              <a:spcBef>
                <a:spcPts val="479"/>
              </a:spcBef>
              <a:buClr>
                <a:srgbClr val="000000"/>
              </a:buClr>
              <a:buSzPct val="45000"/>
              <a:buFont typeface="Wingdings" charset="2"/>
              <a:buChar char=""/>
              <a:defRPr lang="en-US" sz="2400" b="0" u="none" strike="noStrike">
                <a:solidFill>
                  <a:schemeClr val="dk1"/>
                </a:solidFill>
                <a:effectLst/>
                <a:uFillTx/>
                <a:latin typeface="Calibri"/>
              </a:defRPr>
            </a:lvl3pPr>
            <a:lvl4pPr lvl="3" algn="l" defTabSz="457200">
              <a:spcBef>
                <a:spcPts val="400"/>
              </a:spcBef>
              <a:buClr>
                <a:srgbClr val="000000"/>
              </a:buClr>
              <a:buSzPct val="75000"/>
              <a:buFont typeface="Symbol" charset="2"/>
              <a:buChar char=""/>
              <a:defRPr lang="en-US" sz="2000" b="0" u="none" strike="noStrike">
                <a:solidFill>
                  <a:schemeClr val="dk1"/>
                </a:solidFill>
                <a:effectLst/>
                <a:uFillTx/>
                <a:latin typeface="Calibri"/>
              </a:defRPr>
            </a:lvl4pPr>
            <a:lvl5pPr lvl="4" algn="l" defTabSz="457200">
              <a:spcBef>
                <a:spcPts val="400"/>
              </a:spcBef>
              <a:buClr>
                <a:srgbClr val="000000"/>
              </a:buClr>
              <a:buSzPct val="45000"/>
              <a:buFont typeface="Wingdings" charset="2"/>
              <a:buChar char=""/>
              <a:defRPr lang="en-US" sz="2000" b="0" u="none" strike="noStrike">
                <a:solidFill>
                  <a:schemeClr val="dk1"/>
                </a:solidFill>
                <a:effectLst/>
                <a:uFillTx/>
                <a:latin typeface="Calibri"/>
              </a:defRPr>
            </a:lvl5pPr>
            <a:lvl6pPr lvl="5" algn="l" defTabSz="457200">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defTabSz="457200">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343080" indent="-343080" algn="l" defTabSz="457200">
              <a:spcBef>
                <a:spcPts val="641"/>
              </a:spcBef>
              <a:buClr>
                <a:srgbClr val="000000"/>
              </a:buClr>
              <a:buFont typeface="Arial"/>
              <a:buChar char="•"/>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864000" lvl="1" indent="-324000" algn="l" defTabSz="457200">
              <a:spcBef>
                <a:spcPts val="561"/>
              </a:spcBef>
              <a:buClr>
                <a:srgbClr val="000000"/>
              </a:buClr>
              <a:buSzPct val="75000"/>
              <a:buFont typeface="Symbol" charset="2"/>
              <a:buChar char=""/>
            </a:pPr>
            <a:r>
              <a:rPr lang="en-US" sz="2800" b="0" u="none" strike="noStrike">
                <a:solidFill>
                  <a:schemeClr val="dk1"/>
                </a:solidFill>
                <a:effectLst/>
                <a:uFillTx/>
                <a:latin typeface="Calibri"/>
              </a:rPr>
              <a:t>Second Outline Level</a:t>
            </a:r>
            <a:endParaRPr lang="en-US" sz="2800" b="0" u="none" strike="noStrike">
              <a:solidFill>
                <a:schemeClr val="dk1"/>
              </a:solidFill>
              <a:effectLst/>
              <a:uFillTx/>
              <a:latin typeface="Calibri"/>
            </a:endParaRPr>
          </a:p>
          <a:p>
            <a:pPr marL="1296000" lvl="2" indent="-288000" algn="l" defTabSz="457200">
              <a:spcBef>
                <a:spcPts val="479"/>
              </a:spcBef>
              <a:buClr>
                <a:srgbClr val="000000"/>
              </a:buClr>
              <a:buSzPct val="45000"/>
              <a:buFont typeface="Wingdings" charset="2"/>
              <a:buChar char=""/>
            </a:pPr>
            <a:r>
              <a:rPr lang="en-US" sz="2400" b="0" u="none" strike="noStrike">
                <a:solidFill>
                  <a:schemeClr val="dk1"/>
                </a:solidFill>
                <a:effectLst/>
                <a:uFillTx/>
                <a:latin typeface="Calibri"/>
              </a:rPr>
              <a:t>Third Outline Level</a:t>
            </a:r>
            <a:endParaRPr lang="en-US" sz="2400" b="0" u="none" strike="noStrike">
              <a:solidFill>
                <a:schemeClr val="dk1"/>
              </a:solidFill>
              <a:effectLst/>
              <a:uFillTx/>
              <a:latin typeface="Calibri"/>
            </a:endParaRPr>
          </a:p>
          <a:p>
            <a:pPr marL="1728000" lvl="3" indent="-216000" algn="l" defTabSz="457200">
              <a:spcBef>
                <a:spcPts val="400"/>
              </a:spcBef>
              <a:buClr>
                <a:srgbClr val="000000"/>
              </a:buClr>
              <a:buSzPct val="75000"/>
              <a:buFont typeface="Symbol" charset="2"/>
              <a:buChar char=""/>
            </a:pPr>
            <a:r>
              <a:rPr lang="en-US" sz="2000" b="0" u="none" strike="noStrike">
                <a:solidFill>
                  <a:schemeClr val="dk1"/>
                </a:solidFill>
                <a:effectLst/>
                <a:uFillTx/>
                <a:latin typeface="Calibri"/>
              </a:rPr>
              <a:t>Fourth Outline Level</a:t>
            </a:r>
            <a:endParaRPr lang="en-US" sz="2000" b="0" u="none" strike="noStrike">
              <a:solidFill>
                <a:schemeClr val="dk1"/>
              </a:solidFill>
              <a:effectLst/>
              <a:uFillTx/>
              <a:latin typeface="Calibri"/>
            </a:endParaRPr>
          </a:p>
          <a:p>
            <a:pPr marL="2160000" lvl="4" indent="-216000" algn="l" defTabSz="457200">
              <a:spcBef>
                <a:spcPts val="400"/>
              </a:spcBef>
              <a:buClr>
                <a:srgbClr val="000000"/>
              </a:buClr>
              <a:buSzPct val="45000"/>
              <a:buFont typeface="Wingdings" charset="2"/>
              <a:buChar char=""/>
            </a:pPr>
            <a:r>
              <a:rPr lang="en-US" sz="2000" b="0" u="none" strike="noStrike">
                <a:solidFill>
                  <a:schemeClr val="dk1"/>
                </a:solidFill>
                <a:effectLst/>
                <a:uFillTx/>
                <a:latin typeface="Calibri"/>
              </a:rPr>
              <a:t>Fifth Outline Level</a:t>
            </a:r>
            <a:endParaRPr lang="en-US" sz="2000" b="0" u="none" strike="noStrike">
              <a:solidFill>
                <a:schemeClr val="dk1"/>
              </a:solidFill>
              <a:effectLst/>
              <a:uFillTx/>
              <a:latin typeface="Calibri"/>
            </a:endParaRPr>
          </a:p>
          <a:p>
            <a:pPr marL="2592000" lvl="5" indent="-216000" algn="l" defTabSz="457200">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endParaRPr lang="en-US" sz="2000" b="0" u="none" strike="noStrike">
              <a:solidFill>
                <a:schemeClr val="dk1"/>
              </a:solidFill>
              <a:effectLst/>
              <a:uFillTx/>
              <a:latin typeface="Calibri"/>
            </a:endParaRPr>
          </a:p>
          <a:p>
            <a:pPr marL="3024000" lvl="6" indent="-216000" algn="l" defTabSz="457200">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endParaRPr lang="en-US" sz="2000" b="0" u="none" strike="noStrike">
              <a:solidFill>
                <a:schemeClr val="dk1"/>
              </a:solidFill>
              <a:effectLst/>
              <a:uFillTx/>
              <a:latin typeface="Calibri"/>
            </a:endParaRPr>
          </a:p>
        </p:txBody>
      </p:sp>
    </p:spTree>
  </p:cSld>
  <p:clrMapOvr>
    <a:masterClrMapping/>
  </p:clrMapOvr>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bg>
      <p:bgPr>
        <a:solidFill>
          <a:srgbClr val="FFFFFF"/>
        </a:solidFill>
      </p:bgPr>
    </p:bg>
    <p:spTree>
      <p:nvGrpSpPr>
        <p:cNvPr id="1" name=""/>
        <p:cNvGrpSpPr/>
        <p:nvPr/>
      </p:nvGrpSpPr>
      <p:grpSpPr>
        <a:xfrm>
          <a:off x="0" y="0"/>
          <a:ext cx="0" cy="0"/>
          <a:chOff x="0" y="0"/>
          <a:chExt cx="0" cy="0"/>
        </a:xfrm>
      </p:grpSpPr>
      <p:sp>
        <p:nvSpPr>
          <p:cNvPr id="49" name="PlaceHolder 1"/>
          <p:cNvSpPr>
            <a:spLocks noGrp="1"/>
          </p:cNvSpPr>
          <p:nvPr>
            <p:ph type="title"/>
          </p:nvPr>
        </p:nvSpPr>
        <p:spPr>
          <a:xfrm>
            <a:off x="457200" y="272880"/>
            <a:ext cx="3007800" cy="1161720"/>
          </a:xfrm>
          <a:prstGeom prst="rect">
            <a:avLst/>
          </a:prstGeom>
          <a:noFill/>
          <a:ln w="0">
            <a:noFill/>
          </a:ln>
        </p:spPr>
        <p:txBody>
          <a:bodyPr lIns="91440" tIns="45720" rIns="91440" bIns="45720" anchor="b">
            <a:noAutofit/>
          </a:bodyPr>
          <a:lstStyle>
            <a:lvl1pPr indent="0" algn="l" defTabSz="457200">
              <a:lnSpc>
                <a:spcPct val="100000"/>
              </a:lnSpc>
              <a:buNone/>
              <a:defRPr lang="en-US" sz="2000" b="1" u="none" strike="noStrike">
                <a:solidFill>
                  <a:schemeClr val="dk1"/>
                </a:solidFill>
                <a:effectLst/>
                <a:uFillTx/>
                <a:latin typeface="Calibri"/>
              </a:defRPr>
            </a:lvl1pPr>
          </a:lstStyle>
          <a:p>
            <a:pPr indent="0" algn="l" defTabSz="457200">
              <a:lnSpc>
                <a:spcPct val="100000"/>
              </a:lnSpc>
              <a:buNone/>
            </a:pPr>
            <a:r>
              <a:rPr lang="en-US" sz="2000" b="1" u="none" strike="noStrike">
                <a:solidFill>
                  <a:schemeClr val="dk1"/>
                </a:solidFill>
                <a:effectLst/>
                <a:uFillTx/>
                <a:latin typeface="Calibri"/>
              </a:rPr>
              <a:t>Click to edit Master title style</a:t>
            </a:r>
            <a:endParaRPr lang="en-US" sz="2000" b="1" u="none" strike="noStrike">
              <a:solidFill>
                <a:schemeClr val="dk1"/>
              </a:solidFill>
              <a:effectLst/>
              <a:uFillTx/>
              <a:latin typeface="Calibri"/>
            </a:endParaRPr>
          </a:p>
        </p:txBody>
      </p:sp>
      <p:sp>
        <p:nvSpPr>
          <p:cNvPr id="50" name="PlaceHolder 2"/>
          <p:cNvSpPr>
            <a:spLocks noGrp="1"/>
          </p:cNvSpPr>
          <p:nvPr>
            <p:ph type="body"/>
          </p:nvPr>
        </p:nvSpPr>
        <p:spPr>
          <a:xfrm>
            <a:off x="3575160" y="272880"/>
            <a:ext cx="5111280" cy="585288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51" name="PlaceHolder 3"/>
          <p:cNvSpPr>
            <a:spLocks noGrp="1"/>
          </p:cNvSpPr>
          <p:nvPr>
            <p:ph type="body"/>
          </p:nvPr>
        </p:nvSpPr>
        <p:spPr>
          <a:xfrm>
            <a:off x="457200" y="1434960"/>
            <a:ext cx="3007800" cy="4690800"/>
          </a:xfrm>
          <a:prstGeom prst="rect">
            <a:avLst/>
          </a:prstGeom>
          <a:noFill/>
          <a:ln w="0">
            <a:noFill/>
          </a:ln>
        </p:spPr>
        <p:txBody>
          <a:bodyPr lIns="91440" tIns="45720" rIns="91440" bIns="45720" anchor="t">
            <a:noAutofit/>
          </a:bodyPr>
          <a:lstStyle>
            <a:lvl1pPr indent="0" algn="l" defTabSz="457200">
              <a:lnSpc>
                <a:spcPct val="100000"/>
              </a:lnSpc>
              <a:spcBef>
                <a:spcPts val="281"/>
              </a:spcBef>
              <a:buNone/>
              <a:tabLst>
                <a:tab pos="0" algn="l"/>
              </a:tabLst>
              <a:defRPr lang="en-US" sz="1400" b="0" u="none" strike="noStrike">
                <a:solidFill>
                  <a:schemeClr val="dk1"/>
                </a:solidFill>
                <a:effectLst/>
                <a:uFillTx/>
                <a:latin typeface="Calibri"/>
              </a:defRPr>
            </a:lvl1pPr>
          </a:lstStyle>
          <a:p>
            <a:pPr indent="0" algn="l" defTabSz="457200">
              <a:lnSpc>
                <a:spcPct val="100000"/>
              </a:lnSpc>
              <a:spcBef>
                <a:spcPts val="281"/>
              </a:spcBef>
              <a:buNone/>
              <a:tabLst>
                <a:tab pos="0" algn="l"/>
              </a:tabLst>
            </a:pPr>
            <a:r>
              <a:rPr lang="en-US" sz="1400" b="0" u="none" strike="noStrike">
                <a:solidFill>
                  <a:schemeClr val="dk1"/>
                </a:solidFill>
                <a:effectLst/>
                <a:uFillTx/>
                <a:latin typeface="Calibri"/>
              </a:rPr>
              <a:t>Click to edit Master text styles</a:t>
            </a:r>
            <a:endParaRPr lang="en-US" sz="1400" b="0" u="none" strike="noStrike">
              <a:solidFill>
                <a:schemeClr val="dk1"/>
              </a:solidFill>
              <a:effectLst/>
              <a:uFillTx/>
              <a:latin typeface="Calibri"/>
            </a:endParaRPr>
          </a:p>
        </p:txBody>
      </p:sp>
      <p:sp>
        <p:nvSpPr>
          <p:cNvPr id="52" name="PlaceHolder 4"/>
          <p:cNvSpPr>
            <a:spLocks noGrp="1"/>
          </p:cNvSpPr>
          <p:nvPr>
            <p:ph type="dt" idx="28"/>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53" name="PlaceHolder 5"/>
          <p:cNvSpPr>
            <a:spLocks noGrp="1"/>
          </p:cNvSpPr>
          <p:nvPr>
            <p:ph type="ftr" idx="29"/>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54" name="PlaceHolder 6"/>
          <p:cNvSpPr>
            <a:spLocks noGrp="1"/>
          </p:cNvSpPr>
          <p:nvPr>
            <p:ph type="sldNum" idx="30"/>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E5042837-9793-4871-ACCA-CE1D541AF457}"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bg>
      <p:bgPr>
        <a:solidFill>
          <a:srgbClr val="FFFFFF"/>
        </a:solidFill>
      </p:bgPr>
    </p:bg>
    <p:spTree>
      <p:nvGrpSpPr>
        <p:cNvPr id="1" name=""/>
        <p:cNvGrpSpPr/>
        <p:nvPr/>
      </p:nvGrpSpPr>
      <p:grpSpPr>
        <a:xfrm>
          <a:off x="0" y="0"/>
          <a:ext cx="0" cy="0"/>
          <a:chOff x="0" y="0"/>
          <a:chExt cx="0" cy="0"/>
        </a:xfrm>
      </p:grpSpPr>
      <p:sp>
        <p:nvSpPr>
          <p:cNvPr id="55" name="PlaceHolder 1"/>
          <p:cNvSpPr>
            <a:spLocks noGrp="1"/>
          </p:cNvSpPr>
          <p:nvPr>
            <p:ph type="title"/>
          </p:nvPr>
        </p:nvSpPr>
        <p:spPr>
          <a:xfrm>
            <a:off x="1792440" y="4800600"/>
            <a:ext cx="5486040" cy="566280"/>
          </a:xfrm>
          <a:prstGeom prst="rect">
            <a:avLst/>
          </a:prstGeom>
          <a:noFill/>
          <a:ln w="0">
            <a:noFill/>
          </a:ln>
        </p:spPr>
        <p:txBody>
          <a:bodyPr lIns="91440" tIns="45720" rIns="91440" bIns="45720" anchor="b">
            <a:noAutofit/>
          </a:bodyPr>
          <a:lstStyle>
            <a:lvl1pPr indent="0" algn="l" defTabSz="457200">
              <a:lnSpc>
                <a:spcPct val="100000"/>
              </a:lnSpc>
              <a:buNone/>
              <a:defRPr lang="en-US" sz="2000" b="1" u="none" strike="noStrike">
                <a:solidFill>
                  <a:schemeClr val="dk1"/>
                </a:solidFill>
                <a:effectLst/>
                <a:uFillTx/>
                <a:latin typeface="Calibri"/>
              </a:defRPr>
            </a:lvl1pPr>
          </a:lstStyle>
          <a:p>
            <a:pPr indent="0" algn="l" defTabSz="457200">
              <a:lnSpc>
                <a:spcPct val="100000"/>
              </a:lnSpc>
              <a:buNone/>
            </a:pPr>
            <a:r>
              <a:rPr lang="en-US" sz="2000" b="1" u="none" strike="noStrike">
                <a:solidFill>
                  <a:schemeClr val="dk1"/>
                </a:solidFill>
                <a:effectLst/>
                <a:uFillTx/>
                <a:latin typeface="Calibri"/>
              </a:rPr>
              <a:t>Click to edit Master title style</a:t>
            </a:r>
            <a:endParaRPr lang="en-US" sz="2000" b="1" u="none" strike="noStrike">
              <a:solidFill>
                <a:schemeClr val="dk1"/>
              </a:solidFill>
              <a:effectLst/>
              <a:uFillTx/>
              <a:latin typeface="Calibri"/>
            </a:endParaRPr>
          </a:p>
        </p:txBody>
      </p:sp>
      <p:sp>
        <p:nvSpPr>
          <p:cNvPr id="56" name="PlaceHolder 2"/>
          <p:cNvSpPr>
            <a:spLocks noGrp="1"/>
          </p:cNvSpPr>
          <p:nvPr>
            <p:ph type="pic"/>
          </p:nvPr>
        </p:nvSpPr>
        <p:spPr>
          <a:xfrm>
            <a:off x="1792440" y="612720"/>
            <a:ext cx="5486040" cy="4114440"/>
          </a:xfrm>
          <a:prstGeom prst="rect">
            <a:avLst/>
          </a:prstGeom>
          <a:noFill/>
          <a:ln w="0">
            <a:noFill/>
          </a:ln>
        </p:spPr>
        <p:txBody>
          <a:bodyPr lIns="90000" tIns="45000" rIns="90000" bIns="45000" anchor="t">
            <a:noAutofit/>
          </a:bodyPr>
          <a:p>
            <a:pPr indent="0" algn="l">
              <a:buNone/>
            </a:pPr>
            <a:r>
              <a:rPr lang="en-US" sz="3200" b="0" u="none" strike="noStrike">
                <a:solidFill>
                  <a:srgbClr val="000000"/>
                </a:solidFill>
                <a:effectLst/>
                <a:uFillTx/>
                <a:latin typeface="Arial"/>
              </a:rPr>
              <a:t>Double-click to add an Image</a:t>
            </a:r>
            <a:endParaRPr lang="en-US" sz="3200" b="0" u="none" strike="noStrike">
              <a:solidFill>
                <a:srgbClr val="000000"/>
              </a:solidFill>
              <a:effectLst/>
              <a:uFillTx/>
              <a:latin typeface="Arial"/>
            </a:endParaRPr>
          </a:p>
        </p:txBody>
      </p:sp>
      <p:sp>
        <p:nvSpPr>
          <p:cNvPr id="57" name="PlaceHolder 3"/>
          <p:cNvSpPr>
            <a:spLocks noGrp="1"/>
          </p:cNvSpPr>
          <p:nvPr>
            <p:ph type="body"/>
          </p:nvPr>
        </p:nvSpPr>
        <p:spPr>
          <a:xfrm>
            <a:off x="1792440" y="5367240"/>
            <a:ext cx="5486040" cy="804600"/>
          </a:xfrm>
          <a:prstGeom prst="rect">
            <a:avLst/>
          </a:prstGeom>
          <a:noFill/>
          <a:ln w="0">
            <a:noFill/>
          </a:ln>
        </p:spPr>
        <p:txBody>
          <a:bodyPr lIns="91440" tIns="45720" rIns="91440" bIns="45720" anchor="t">
            <a:noAutofit/>
          </a:bodyPr>
          <a:lstStyle>
            <a:lvl1pPr indent="0" algn="l" defTabSz="457200">
              <a:lnSpc>
                <a:spcPct val="100000"/>
              </a:lnSpc>
              <a:spcBef>
                <a:spcPts val="281"/>
              </a:spcBef>
              <a:buNone/>
              <a:tabLst>
                <a:tab pos="0" algn="l"/>
              </a:tabLst>
              <a:defRPr lang="en-US" sz="1400" b="0" u="none" strike="noStrike">
                <a:solidFill>
                  <a:schemeClr val="dk1"/>
                </a:solidFill>
                <a:effectLst/>
                <a:uFillTx/>
                <a:latin typeface="Calibri"/>
              </a:defRPr>
            </a:lvl1pPr>
          </a:lstStyle>
          <a:p>
            <a:pPr indent="0" algn="l" defTabSz="457200">
              <a:lnSpc>
                <a:spcPct val="100000"/>
              </a:lnSpc>
              <a:spcBef>
                <a:spcPts val="281"/>
              </a:spcBef>
              <a:buNone/>
              <a:tabLst>
                <a:tab pos="0" algn="l"/>
              </a:tabLst>
            </a:pPr>
            <a:r>
              <a:rPr lang="en-US" sz="1400" b="0" u="none" strike="noStrike">
                <a:solidFill>
                  <a:schemeClr val="dk1"/>
                </a:solidFill>
                <a:effectLst/>
                <a:uFillTx/>
                <a:latin typeface="Calibri"/>
              </a:rPr>
              <a:t>Click to edit Master text styles</a:t>
            </a:r>
            <a:endParaRPr lang="en-US" sz="1400" b="0" u="none" strike="noStrike">
              <a:solidFill>
                <a:schemeClr val="dk1"/>
              </a:solidFill>
              <a:effectLst/>
              <a:uFillTx/>
              <a:latin typeface="Calibri"/>
            </a:endParaRPr>
          </a:p>
        </p:txBody>
      </p:sp>
      <p:sp>
        <p:nvSpPr>
          <p:cNvPr id="58" name="PlaceHolder 4"/>
          <p:cNvSpPr>
            <a:spLocks noGrp="1"/>
          </p:cNvSpPr>
          <p:nvPr>
            <p:ph type="dt" idx="31"/>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59" name="PlaceHolder 5"/>
          <p:cNvSpPr>
            <a:spLocks noGrp="1"/>
          </p:cNvSpPr>
          <p:nvPr>
            <p:ph type="ftr" idx="32"/>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60" name="PlaceHolder 6"/>
          <p:cNvSpPr>
            <a:spLocks noGrp="1"/>
          </p:cNvSpPr>
          <p:nvPr>
            <p:ph type="sldNum" idx="33"/>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6E0E599C-841C-48E6-BF1E-D83ED9A82001}"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clrMapOvr>
    <a:masterClrMapping/>
  </p:clrMapOvr>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9.xml"/><Relationship Id="rId3"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9.xml"/><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9.xml"/><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9.xml"/><Relationship Id="rId3"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72A"/>
        </a:solidFill>
      </p:bgPr>
    </p:bg>
    <p:spTree>
      <p:nvGrpSpPr>
        <p:cNvPr id="1" name=""/>
        <p:cNvGrpSpPr/>
        <p:nvPr/>
      </p:nvGrpSpPr>
      <p:grpSpPr>
        <a:xfrm>
          <a:off x="0" y="0"/>
          <a:ext cx="0" cy="0"/>
          <a:chOff x="0" y="0"/>
          <a:chExt cx="0" cy="0"/>
        </a:xfrm>
      </p:grpSpPr>
      <p:sp>
        <p:nvSpPr>
          <p:cNvPr id="67" name="Rounded Rectangle 1"/>
          <p:cNvSpPr/>
          <p:nvPr/>
        </p:nvSpPr>
        <p:spPr>
          <a:xfrm>
            <a:off x="914400" y="1097280"/>
            <a:ext cx="10362600" cy="4663080"/>
          </a:xfrm>
          <a:prstGeom prst="roundRect">
            <a:avLst>
              <a:gd name="adj" fmla="val 16667"/>
            </a:avLst>
          </a:prstGeom>
          <a:solidFill>
            <a:srgbClr val="1E293B"/>
          </a:solidFill>
          <a:ln w="12700">
            <a:solidFill>
              <a:srgbClr val="3B82F6"/>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68" name="TextBox 2"/>
          <p:cNvSpPr/>
          <p:nvPr/>
        </p:nvSpPr>
        <p:spPr>
          <a:xfrm>
            <a:off x="1371600" y="1463040"/>
            <a:ext cx="9448200" cy="29966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1400"/>
              </a:spcAft>
            </a:pPr>
            <a:r>
              <a:rPr lang="en-US" sz="1400" b="1" u="none" strike="noStrike">
                <a:solidFill>
                  <a:srgbClr val="3B82F6"/>
                </a:solidFill>
                <a:effectLst/>
                <a:uFillTx/>
                <a:latin typeface="Verdana"/>
              </a:rPr>
              <a:t>REDES DE ALTA VELOCIDAD</a:t>
            </a:r>
            <a:endParaRPr lang="en-US" sz="1400" b="0" u="none" strike="noStrike">
              <a:solidFill>
                <a:srgbClr val="FFFFFF"/>
              </a:solidFill>
              <a:effectLst/>
              <a:uFillTx/>
              <a:latin typeface="Arial"/>
            </a:endParaRPr>
          </a:p>
          <a:p>
            <a:pPr defTabSz="457200">
              <a:lnSpc>
                <a:spcPct val="100000"/>
              </a:lnSpc>
              <a:spcAft>
                <a:spcPts val="1400"/>
              </a:spcAft>
            </a:pPr>
            <a:r>
              <a:rPr lang="en-US" sz="3600" b="1" u="none" strike="noStrike">
                <a:solidFill>
                  <a:srgbClr val="FFFFFF"/>
                </a:solidFill>
                <a:effectLst/>
                <a:uFillTx/>
                <a:latin typeface="Georgia"/>
              </a:rPr>
              <a:t>Cable Módem y la Revolución del Internet de Banda Ancha</a:t>
            </a:r>
            <a:endParaRPr lang="en-US" sz="3600" b="0" u="none" strike="noStrike">
              <a:solidFill>
                <a:srgbClr val="FFFFFF"/>
              </a:solidFill>
              <a:effectLst/>
              <a:uFillTx/>
              <a:latin typeface="Arial"/>
            </a:endParaRPr>
          </a:p>
          <a:p>
            <a:pPr defTabSz="457200">
              <a:lnSpc>
                <a:spcPct val="100000"/>
              </a:lnSpc>
              <a:spcAft>
                <a:spcPts val="2801"/>
              </a:spcAft>
            </a:pPr>
            <a:r>
              <a:rPr lang="en-US" sz="1600" b="0" u="none" strike="noStrike">
                <a:solidFill>
                  <a:srgbClr val="94A3B8"/>
                </a:solidFill>
                <a:effectLst/>
                <a:uFillTx/>
                <a:latin typeface="Verdana"/>
              </a:rPr>
              <a:t>Origen histórico, arquitectura HFC, funcionamiento del estándar DOCSIS y la transición hacia la fibra óptica (FTTH).</a:t>
            </a:r>
            <a:endParaRPr lang="en-US" sz="1600" b="0" u="none" strike="noStrike">
              <a:solidFill>
                <a:srgbClr val="FFFFFF"/>
              </a:solidFill>
              <a:effectLst/>
              <a:uFillTx/>
              <a:latin typeface="Arial"/>
            </a:endParaRPr>
          </a:p>
          <a:p>
            <a:pPr defTabSz="457200">
              <a:lnSpc>
                <a:spcPct val="100000"/>
              </a:lnSpc>
            </a:pPr>
            <a:br>
              <a:rPr sz="1300"/>
            </a:br>
            <a:r>
              <a:rPr lang="en-US" sz="1300" b="0" u="none" strike="noStrike">
                <a:solidFill>
                  <a:srgbClr val="38BDF8"/>
                </a:solidFill>
                <a:effectLst/>
                <a:uFillTx/>
                <a:latin typeface="Verdana"/>
              </a:rPr>
              <a:t>Basado en las investigaciones de Rouzbeh Yassini-Fard, CableLabs y la ITU-T</a:t>
            </a:r>
            <a:endParaRPr lang="en-US" sz="13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69" name="TextBox 1"/>
          <p:cNvSpPr/>
          <p:nvPr/>
        </p:nvSpPr>
        <p:spPr>
          <a:xfrm>
            <a:off x="731520" y="365760"/>
            <a:ext cx="10698120" cy="3654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00" b="1" u="none" strike="noStrike">
                <a:solidFill>
                  <a:srgbClr val="3B82F6"/>
                </a:solidFill>
                <a:effectLst/>
                <a:uFillTx/>
                <a:latin typeface="Verdana"/>
              </a:rPr>
              <a:t>REDES DE ALTA VELOCIDAD — CABLE MÓDEM</a:t>
            </a:r>
            <a:endParaRPr lang="en-US" sz="1100" b="0" u="none" strike="noStrike">
              <a:solidFill>
                <a:srgbClr val="000000"/>
              </a:solidFill>
              <a:effectLst/>
              <a:uFillTx/>
              <a:latin typeface="Arial"/>
            </a:endParaRPr>
          </a:p>
        </p:txBody>
      </p:sp>
      <p:sp>
        <p:nvSpPr>
          <p:cNvPr id="70" name="TextBox 2"/>
          <p:cNvSpPr/>
          <p:nvPr/>
        </p:nvSpPr>
        <p:spPr>
          <a:xfrm>
            <a:off x="731520" y="685800"/>
            <a:ext cx="10698120" cy="7311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2400" b="1" u="none" strike="noStrike">
                <a:solidFill>
                  <a:srgbClr val="0F172A"/>
                </a:solidFill>
                <a:effectLst/>
                <a:uFillTx/>
                <a:latin typeface="Georgia"/>
              </a:rPr>
              <a:t>El Mundo en los Años 90: La Necesidad Humana de Estar Conectados</a:t>
            </a:r>
            <a:endParaRPr lang="en-US" sz="2400" b="0" u="none" strike="noStrike">
              <a:solidFill>
                <a:srgbClr val="000000"/>
              </a:solidFill>
              <a:effectLst/>
              <a:uFillTx/>
              <a:latin typeface="Arial"/>
            </a:endParaRPr>
          </a:p>
        </p:txBody>
      </p:sp>
      <p:sp>
        <p:nvSpPr>
          <p:cNvPr id="71" name="Rectangle 3"/>
          <p:cNvSpPr/>
          <p:nvPr/>
        </p:nvSpPr>
        <p:spPr>
          <a:xfrm>
            <a:off x="731520" y="1417320"/>
            <a:ext cx="10728360" cy="25200"/>
          </a:xfrm>
          <a:prstGeom prst="rect">
            <a:avLst/>
          </a:prstGeom>
          <a:solidFill>
            <a:srgbClr val="3B82F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19440" rIns="90000" bIns="-19440" anchor="ctr">
            <a:noAutofit/>
          </a:bodyPr>
          <a:p>
            <a:pPr/>
            <a:endParaRPr lang="en-US" sz="1800" b="0" u="none" strike="noStrike">
              <a:solidFill>
                <a:schemeClr val="lt1"/>
              </a:solidFill>
              <a:effectLst/>
              <a:uFillTx/>
              <a:latin typeface="Calibri"/>
            </a:endParaRPr>
          </a:p>
        </p:txBody>
      </p:sp>
      <p:sp>
        <p:nvSpPr>
          <p:cNvPr id="72" name="Rounded Rectangle 4"/>
          <p:cNvSpPr/>
          <p:nvPr/>
        </p:nvSpPr>
        <p:spPr>
          <a:xfrm>
            <a:off x="731520" y="1645920"/>
            <a:ext cx="3456000" cy="3840120"/>
          </a:xfrm>
          <a:prstGeom prst="roundRect">
            <a:avLst>
              <a:gd name="adj" fmla="val 16667"/>
            </a:avLst>
          </a:prstGeom>
          <a:solidFill>
            <a:srgbClr val="FFFFFF"/>
          </a:solidFill>
          <a:ln w="12700">
            <a:solidFill>
              <a:srgbClr val="E2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73" name="TextBox 5"/>
          <p:cNvSpPr/>
          <p:nvPr/>
        </p:nvSpPr>
        <p:spPr>
          <a:xfrm>
            <a:off x="914400" y="1828800"/>
            <a:ext cx="3090240" cy="3474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1199"/>
              </a:spcAft>
            </a:pPr>
            <a:r>
              <a:rPr lang="en-US" sz="1800" b="1" u="none" strike="noStrike">
                <a:solidFill>
                  <a:srgbClr val="1E40AF"/>
                </a:solidFill>
                <a:effectLst/>
                <a:uFillTx/>
                <a:latin typeface="Georgia"/>
              </a:rPr>
              <a:t>1. Hitos Geopolíticos</a:t>
            </a:r>
            <a:endParaRPr lang="en-US" sz="1800" b="0" u="none" strike="noStrike">
              <a:solidFill>
                <a:srgbClr val="000000"/>
              </a:solidFill>
              <a:effectLst/>
              <a:uFillTx/>
              <a:latin typeface="Arial"/>
            </a:endParaRPr>
          </a:p>
          <a:p>
            <a:pPr defTabSz="457200">
              <a:lnSpc>
                <a:spcPct val="100000"/>
              </a:lnSpc>
              <a:spcAft>
                <a:spcPts val="601"/>
              </a:spcAft>
            </a:pPr>
            <a:r>
              <a:rPr lang="en-US" sz="1300" b="0" u="none" strike="noStrike">
                <a:solidFill>
                  <a:srgbClr val="0F172A"/>
                </a:solidFill>
                <a:effectLst/>
                <a:uFillTx/>
                <a:latin typeface="Verdana"/>
              </a:rPr>
              <a:t>• Fin de la Guerra Fría (1989-1991) y Caída del Muro de Berlín.</a:t>
            </a:r>
            <a:endParaRPr lang="en-US" sz="1300" b="0" u="none" strike="noStrike">
              <a:solidFill>
                <a:srgbClr val="000000"/>
              </a:solidFill>
              <a:effectLst/>
              <a:uFillTx/>
              <a:latin typeface="Arial"/>
            </a:endParaRPr>
          </a:p>
          <a:p>
            <a:pPr defTabSz="457200">
              <a:lnSpc>
                <a:spcPct val="100000"/>
              </a:lnSpc>
              <a:spcAft>
                <a:spcPts val="601"/>
              </a:spcAft>
            </a:pPr>
            <a:r>
              <a:rPr lang="en-US" sz="1300" b="0" u="none" strike="noStrike">
                <a:solidFill>
                  <a:srgbClr val="0F172A"/>
                </a:solidFill>
                <a:effectLst/>
                <a:uFillTx/>
                <a:latin typeface="Verdana"/>
              </a:rPr>
              <a:t>• Guerra del Golfo Pérsico (1990-1991).</a:t>
            </a:r>
            <a:endParaRPr lang="en-US" sz="1300" b="0" u="none" strike="noStrike">
              <a:solidFill>
                <a:srgbClr val="000000"/>
              </a:solidFill>
              <a:effectLst/>
              <a:uFillTx/>
              <a:latin typeface="Arial"/>
            </a:endParaRPr>
          </a:p>
          <a:p>
            <a:pPr defTabSz="457200">
              <a:lnSpc>
                <a:spcPct val="100000"/>
              </a:lnSpc>
              <a:spcAft>
                <a:spcPts val="601"/>
              </a:spcAft>
            </a:pPr>
            <a:r>
              <a:rPr lang="en-US" sz="1300" b="0" u="none" strike="noStrike">
                <a:solidFill>
                  <a:srgbClr val="0F172A"/>
                </a:solidFill>
                <a:effectLst/>
                <a:uFillTx/>
                <a:latin typeface="Verdana"/>
              </a:rPr>
              <a:t>• La globalización económica acelerada exigía comunicaciones instantáneas entre continentes.</a:t>
            </a:r>
            <a:endParaRPr lang="en-US" sz="1300" b="0" u="none" strike="noStrike">
              <a:solidFill>
                <a:srgbClr val="000000"/>
              </a:solidFill>
              <a:effectLst/>
              <a:uFillTx/>
              <a:latin typeface="Arial"/>
            </a:endParaRPr>
          </a:p>
        </p:txBody>
      </p:sp>
      <p:sp>
        <p:nvSpPr>
          <p:cNvPr id="74" name="Rounded Rectangle 6"/>
          <p:cNvSpPr/>
          <p:nvPr/>
        </p:nvSpPr>
        <p:spPr>
          <a:xfrm>
            <a:off x="4370760" y="1645920"/>
            <a:ext cx="3456000" cy="3840120"/>
          </a:xfrm>
          <a:prstGeom prst="roundRect">
            <a:avLst>
              <a:gd name="adj" fmla="val 16667"/>
            </a:avLst>
          </a:prstGeom>
          <a:solidFill>
            <a:srgbClr val="FFFFFF"/>
          </a:solidFill>
          <a:ln w="12700">
            <a:solidFill>
              <a:srgbClr val="E2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75" name="TextBox 7"/>
          <p:cNvSpPr/>
          <p:nvPr/>
        </p:nvSpPr>
        <p:spPr>
          <a:xfrm>
            <a:off x="4553640" y="1828800"/>
            <a:ext cx="3090240" cy="3474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1199"/>
              </a:spcAft>
            </a:pPr>
            <a:r>
              <a:rPr lang="en-US" sz="1800" b="1" u="none" strike="noStrike">
                <a:solidFill>
                  <a:srgbClr val="1E40AF"/>
                </a:solidFill>
                <a:effectLst/>
                <a:uFillTx/>
                <a:latin typeface="Georgia"/>
              </a:rPr>
              <a:t>2. Revolución Tecnológica</a:t>
            </a:r>
            <a:endParaRPr lang="en-US" sz="1800" b="0" u="none" strike="noStrike">
              <a:solidFill>
                <a:srgbClr val="000000"/>
              </a:solidFill>
              <a:effectLst/>
              <a:uFillTx/>
              <a:latin typeface="Arial"/>
            </a:endParaRPr>
          </a:p>
          <a:p>
            <a:pPr defTabSz="457200">
              <a:lnSpc>
                <a:spcPct val="100000"/>
              </a:lnSpc>
              <a:spcAft>
                <a:spcPts val="601"/>
              </a:spcAft>
            </a:pPr>
            <a:r>
              <a:rPr lang="en-US" sz="1300" b="0" u="none" strike="noStrike">
                <a:solidFill>
                  <a:srgbClr val="0F172A"/>
                </a:solidFill>
                <a:effectLst/>
                <a:uFillTx/>
                <a:latin typeface="Verdana"/>
              </a:rPr>
              <a:t>• Explosión de la PC personal en hogares y escuelas.</a:t>
            </a:r>
            <a:endParaRPr lang="en-US" sz="1300" b="0" u="none" strike="noStrike">
              <a:solidFill>
                <a:srgbClr val="000000"/>
              </a:solidFill>
              <a:effectLst/>
              <a:uFillTx/>
              <a:latin typeface="Arial"/>
            </a:endParaRPr>
          </a:p>
          <a:p>
            <a:pPr defTabSz="457200">
              <a:lnSpc>
                <a:spcPct val="100000"/>
              </a:lnSpc>
              <a:spcAft>
                <a:spcPts val="601"/>
              </a:spcAft>
            </a:pPr>
            <a:r>
              <a:rPr lang="en-US" sz="1300" b="0" u="none" strike="noStrike">
                <a:solidFill>
                  <a:srgbClr val="0F172A"/>
                </a:solidFill>
                <a:effectLst/>
                <a:uFillTx/>
                <a:latin typeface="Verdana"/>
              </a:rPr>
              <a:t>• Nacimiento de la World Wide Web (1989-1994, Tim Berners-Lee, Netscape).</a:t>
            </a:r>
            <a:endParaRPr lang="en-US" sz="1300" b="0" u="none" strike="noStrike">
              <a:solidFill>
                <a:srgbClr val="000000"/>
              </a:solidFill>
              <a:effectLst/>
              <a:uFillTx/>
              <a:latin typeface="Arial"/>
            </a:endParaRPr>
          </a:p>
          <a:p>
            <a:pPr defTabSz="457200">
              <a:lnSpc>
                <a:spcPct val="100000"/>
              </a:lnSpc>
              <a:spcAft>
                <a:spcPts val="601"/>
              </a:spcAft>
            </a:pPr>
            <a:r>
              <a:rPr lang="en-US" sz="1300" b="0" u="none" strike="noStrike">
                <a:solidFill>
                  <a:srgbClr val="0F172A"/>
                </a:solidFill>
                <a:effectLst/>
                <a:uFillTx/>
                <a:latin typeface="Verdana"/>
              </a:rPr>
              <a:t>• La información pasó de ser estática a interactiva y multimedia.</a:t>
            </a:r>
            <a:endParaRPr lang="en-US" sz="1300" b="0" u="none" strike="noStrike">
              <a:solidFill>
                <a:srgbClr val="000000"/>
              </a:solidFill>
              <a:effectLst/>
              <a:uFillTx/>
              <a:latin typeface="Arial"/>
            </a:endParaRPr>
          </a:p>
        </p:txBody>
      </p:sp>
      <p:sp>
        <p:nvSpPr>
          <p:cNvPr id="76" name="Rounded Rectangle 8"/>
          <p:cNvSpPr/>
          <p:nvPr/>
        </p:nvSpPr>
        <p:spPr>
          <a:xfrm>
            <a:off x="8010000" y="1645920"/>
            <a:ext cx="3456000" cy="3840120"/>
          </a:xfrm>
          <a:prstGeom prst="roundRect">
            <a:avLst>
              <a:gd name="adj" fmla="val 16667"/>
            </a:avLst>
          </a:prstGeom>
          <a:solidFill>
            <a:srgbClr val="FFFFFF"/>
          </a:solidFill>
          <a:ln w="12700">
            <a:solidFill>
              <a:srgbClr val="E2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77" name="TextBox 9"/>
          <p:cNvSpPr/>
          <p:nvPr/>
        </p:nvSpPr>
        <p:spPr>
          <a:xfrm>
            <a:off x="8192880" y="1828800"/>
            <a:ext cx="3090240" cy="3474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1199"/>
              </a:spcAft>
            </a:pPr>
            <a:r>
              <a:rPr lang="en-US" sz="1800" b="1" u="none" strike="noStrike">
                <a:solidFill>
                  <a:srgbClr val="1E40AF"/>
                </a:solidFill>
                <a:effectLst/>
                <a:uFillTx/>
                <a:latin typeface="Georgia"/>
              </a:rPr>
              <a:t>3. La Necesidad Humana</a:t>
            </a:r>
            <a:endParaRPr lang="en-US" sz="1800" b="0" u="none" strike="noStrike">
              <a:solidFill>
                <a:srgbClr val="000000"/>
              </a:solidFill>
              <a:effectLst/>
              <a:uFillTx/>
              <a:latin typeface="Arial"/>
            </a:endParaRPr>
          </a:p>
          <a:p>
            <a:pPr defTabSz="457200">
              <a:lnSpc>
                <a:spcPct val="100000"/>
              </a:lnSpc>
              <a:spcAft>
                <a:spcPts val="601"/>
              </a:spcAft>
            </a:pPr>
            <a:r>
              <a:rPr lang="en-US" sz="1300" b="0" u="none" strike="noStrike">
                <a:solidFill>
                  <a:srgbClr val="0F172A"/>
                </a:solidFill>
                <a:effectLst/>
                <a:uFillTx/>
                <a:latin typeface="Verdana"/>
              </a:rPr>
              <a:t>• Las familias necesitaban Internet para trabajar y estudiar.</a:t>
            </a:r>
            <a:endParaRPr lang="en-US" sz="1300" b="0" u="none" strike="noStrike">
              <a:solidFill>
                <a:srgbClr val="000000"/>
              </a:solidFill>
              <a:effectLst/>
              <a:uFillTx/>
              <a:latin typeface="Arial"/>
            </a:endParaRPr>
          </a:p>
          <a:p>
            <a:pPr defTabSz="457200">
              <a:lnSpc>
                <a:spcPct val="100000"/>
              </a:lnSpc>
              <a:spcAft>
                <a:spcPts val="601"/>
              </a:spcAft>
            </a:pPr>
            <a:r>
              <a:rPr lang="en-US" sz="1300" b="0" u="none" strike="noStrike">
                <a:solidFill>
                  <a:srgbClr val="0F172A"/>
                </a:solidFill>
                <a:effectLst/>
                <a:uFillTx/>
                <a:latin typeface="Verdana"/>
              </a:rPr>
              <a:t>• Conectarse bloqueaba la línea de teléfono de la casa por horas.</a:t>
            </a:r>
            <a:endParaRPr lang="en-US" sz="1300" b="0" u="none" strike="noStrike">
              <a:solidFill>
                <a:srgbClr val="000000"/>
              </a:solidFill>
              <a:effectLst/>
              <a:uFillTx/>
              <a:latin typeface="Arial"/>
            </a:endParaRPr>
          </a:p>
          <a:p>
            <a:pPr defTabSz="457200">
              <a:lnSpc>
                <a:spcPct val="100000"/>
              </a:lnSpc>
              <a:spcAft>
                <a:spcPts val="601"/>
              </a:spcAft>
            </a:pPr>
            <a:r>
              <a:rPr lang="en-US" sz="1300" b="0" u="none" strike="noStrike">
                <a:solidFill>
                  <a:srgbClr val="0F172A"/>
                </a:solidFill>
                <a:effectLst/>
                <a:uFillTx/>
                <a:latin typeface="Verdana"/>
              </a:rPr>
              <a:t>• El marcado telefónico era lento (56 kbps) y se cobraba por minuto.</a:t>
            </a:r>
            <a:endParaRPr lang="en-US" sz="1300" b="0" u="none" strike="noStrike">
              <a:solidFill>
                <a:srgbClr val="000000"/>
              </a:solidFill>
              <a:effectLst/>
              <a:uFillTx/>
              <a:latin typeface="Arial"/>
            </a:endParaRPr>
          </a:p>
        </p:txBody>
      </p:sp>
      <p:sp>
        <p:nvSpPr>
          <p:cNvPr id="78" name="Rounded Rectangle 10"/>
          <p:cNvSpPr/>
          <p:nvPr/>
        </p:nvSpPr>
        <p:spPr>
          <a:xfrm>
            <a:off x="731520" y="5623560"/>
            <a:ext cx="10728360" cy="868320"/>
          </a:xfrm>
          <a:prstGeom prst="roundRect">
            <a:avLst>
              <a:gd name="adj" fmla="val 16667"/>
            </a:avLst>
          </a:prstGeom>
          <a:solidFill>
            <a:srgbClr val="EEF2FF"/>
          </a:solidFill>
          <a:ln w="12700">
            <a:solidFill>
              <a:srgbClr val="3B82F6"/>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79" name="TextBox 11"/>
          <p:cNvSpPr/>
          <p:nvPr/>
        </p:nvSpPr>
        <p:spPr>
          <a:xfrm>
            <a:off x="822960" y="5669280"/>
            <a:ext cx="10545480" cy="7768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200" b="0" u="none" strike="noStrike">
                <a:solidFill>
                  <a:srgbClr val="475569"/>
                </a:solidFill>
                <a:effectLst/>
                <a:uFillTx/>
                <a:latin typeface="Verdana"/>
              </a:rPr>
              <a:t>Contexto de Uso Residencial (1990s): En esta época naciente de la Web, los hogares experimentaron por primera vez la necesidad de acceder a enciclopedias digitales, correo electrónico y portales de noticias sin interrumpir las llamadas familiares.</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80" name="TextBox 1"/>
          <p:cNvSpPr/>
          <p:nvPr/>
        </p:nvSpPr>
        <p:spPr>
          <a:xfrm>
            <a:off x="731520" y="365760"/>
            <a:ext cx="10698120" cy="3654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00" b="1" u="none" strike="noStrike">
                <a:solidFill>
                  <a:srgbClr val="3B82F6"/>
                </a:solidFill>
                <a:effectLst/>
                <a:uFillTx/>
                <a:latin typeface="Verdana"/>
              </a:rPr>
              <a:t>REDES DE ALTA VELOCIDAD — CABLE MÓDEM</a:t>
            </a:r>
            <a:endParaRPr lang="en-US" sz="1100" b="0" u="none" strike="noStrike">
              <a:solidFill>
                <a:srgbClr val="000000"/>
              </a:solidFill>
              <a:effectLst/>
              <a:uFillTx/>
              <a:latin typeface="Arial"/>
            </a:endParaRPr>
          </a:p>
        </p:txBody>
      </p:sp>
      <p:sp>
        <p:nvSpPr>
          <p:cNvPr id="81" name="TextBox 2"/>
          <p:cNvSpPr/>
          <p:nvPr/>
        </p:nvSpPr>
        <p:spPr>
          <a:xfrm>
            <a:off x="731520" y="685800"/>
            <a:ext cx="10698120" cy="7311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2400" b="1" u="none" strike="noStrike">
                <a:solidFill>
                  <a:srgbClr val="0F172A"/>
                </a:solidFill>
                <a:effectLst/>
                <a:uFillTx/>
                <a:latin typeface="Georgia"/>
              </a:rPr>
              <a:t>El Inventor: Dr. Rouzbeh Yassini-Fard y la Fundación de LANcity</a:t>
            </a:r>
            <a:endParaRPr lang="en-US" sz="2400" b="0" u="none" strike="noStrike">
              <a:solidFill>
                <a:srgbClr val="000000"/>
              </a:solidFill>
              <a:effectLst/>
              <a:uFillTx/>
              <a:latin typeface="Arial"/>
            </a:endParaRPr>
          </a:p>
        </p:txBody>
      </p:sp>
      <p:sp>
        <p:nvSpPr>
          <p:cNvPr id="82" name="Rectangle 3"/>
          <p:cNvSpPr/>
          <p:nvPr/>
        </p:nvSpPr>
        <p:spPr>
          <a:xfrm>
            <a:off x="731520" y="1417320"/>
            <a:ext cx="10728360" cy="25200"/>
          </a:xfrm>
          <a:prstGeom prst="rect">
            <a:avLst/>
          </a:prstGeom>
          <a:solidFill>
            <a:srgbClr val="3B82F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19440" rIns="90000" bIns="-19440" anchor="ctr">
            <a:noAutofit/>
          </a:bodyPr>
          <a:p>
            <a:pPr/>
            <a:endParaRPr lang="en-US" sz="1800" b="0" u="none" strike="noStrike">
              <a:solidFill>
                <a:schemeClr val="lt1"/>
              </a:solidFill>
              <a:effectLst/>
              <a:uFillTx/>
              <a:latin typeface="Calibri"/>
            </a:endParaRPr>
          </a:p>
        </p:txBody>
      </p:sp>
      <p:sp>
        <p:nvSpPr>
          <p:cNvPr id="83" name="Rounded Rectangle 4"/>
          <p:cNvSpPr/>
          <p:nvPr/>
        </p:nvSpPr>
        <p:spPr>
          <a:xfrm>
            <a:off x="731520" y="1645920"/>
            <a:ext cx="6217560" cy="4845960"/>
          </a:xfrm>
          <a:prstGeom prst="roundRect">
            <a:avLst>
              <a:gd name="adj" fmla="val 16667"/>
            </a:avLst>
          </a:prstGeom>
          <a:solidFill>
            <a:srgbClr val="FFFFFF"/>
          </a:solidFill>
          <a:ln w="12700">
            <a:solidFill>
              <a:srgbClr val="E2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84" name="TextBox 5"/>
          <p:cNvSpPr/>
          <p:nvPr/>
        </p:nvSpPr>
        <p:spPr>
          <a:xfrm>
            <a:off x="914400" y="1828800"/>
            <a:ext cx="5851800" cy="44802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1199"/>
              </a:spcAft>
            </a:pPr>
            <a:r>
              <a:rPr lang="en-US" sz="2000" b="1" u="none" strike="noStrike">
                <a:solidFill>
                  <a:srgbClr val="1E40AF"/>
                </a:solidFill>
                <a:effectLst/>
                <a:uFillTx/>
                <a:latin typeface="Georgia"/>
              </a:rPr>
              <a:t>De $750 Dólares a la Revolución Mundial</a:t>
            </a:r>
            <a:endParaRPr lang="en-US" sz="2000" b="0" u="none" strike="noStrike">
              <a:solidFill>
                <a:srgbClr val="000000"/>
              </a:solidFill>
              <a:effectLst/>
              <a:uFillTx/>
              <a:latin typeface="Arial"/>
            </a:endParaRPr>
          </a:p>
          <a:p>
            <a:pPr defTabSz="457200">
              <a:lnSpc>
                <a:spcPct val="100000"/>
              </a:lnSpc>
              <a:spcAft>
                <a:spcPts val="799"/>
              </a:spcAft>
            </a:pPr>
            <a:r>
              <a:rPr lang="en-US" sz="1300" b="0" u="none" strike="noStrike">
                <a:solidFill>
                  <a:srgbClr val="0F172A"/>
                </a:solidFill>
                <a:effectLst/>
                <a:uFillTx/>
                <a:latin typeface="Verdana"/>
              </a:rPr>
              <a:t>• Origen Humano: Rouzbeh Yassini llegó a EE.UU. en 1977 con $750 en ahorros familiares para estudiar ingeniería eléctrica en West Virginia University.</a:t>
            </a:r>
            <a:endParaRPr lang="en-US" sz="1300" b="0" u="none" strike="noStrike">
              <a:solidFill>
                <a:srgbClr val="000000"/>
              </a:solidFill>
              <a:effectLst/>
              <a:uFillTx/>
              <a:latin typeface="Arial"/>
            </a:endParaRPr>
          </a:p>
          <a:p>
            <a:pPr defTabSz="457200">
              <a:lnSpc>
                <a:spcPct val="100000"/>
              </a:lnSpc>
              <a:spcAft>
                <a:spcPts val="799"/>
              </a:spcAft>
            </a:pPr>
            <a:r>
              <a:rPr lang="en-US" sz="1300" b="0" u="none" strike="noStrike">
                <a:solidFill>
                  <a:srgbClr val="0F172A"/>
                </a:solidFill>
                <a:effectLst/>
                <a:uFillTx/>
                <a:latin typeface="Verdana"/>
              </a:rPr>
              <a:t>• Experiencia Combinada Única: Trabajó en General Electric (televisión por cable coaxial) y en Proteon (redes de datos Ethernet).</a:t>
            </a:r>
            <a:endParaRPr lang="en-US" sz="1300" b="0" u="none" strike="noStrike">
              <a:solidFill>
                <a:srgbClr val="000000"/>
              </a:solidFill>
              <a:effectLst/>
              <a:uFillTx/>
              <a:latin typeface="Arial"/>
            </a:endParaRPr>
          </a:p>
          <a:p>
            <a:pPr defTabSz="457200">
              <a:lnSpc>
                <a:spcPct val="100000"/>
              </a:lnSpc>
              <a:spcAft>
                <a:spcPts val="799"/>
              </a:spcAft>
            </a:pPr>
            <a:r>
              <a:rPr lang="en-US" sz="1300" b="0" u="none" strike="noStrike">
                <a:solidFill>
                  <a:srgbClr val="0F172A"/>
                </a:solidFill>
                <a:effectLst/>
                <a:uFillTx/>
                <a:latin typeface="Verdana"/>
              </a:rPr>
              <a:t>• La Pregunta Visionaria (1987): '¿Por qué tener cables separados para datos, voz y video si el cable coaxial de TV tiene un enorme ancho de banda analógico?'</a:t>
            </a:r>
            <a:endParaRPr lang="en-US" sz="1300" b="0" u="none" strike="noStrike">
              <a:solidFill>
                <a:srgbClr val="000000"/>
              </a:solidFill>
              <a:effectLst/>
              <a:uFillTx/>
              <a:latin typeface="Arial"/>
            </a:endParaRPr>
          </a:p>
          <a:p>
            <a:pPr defTabSz="457200">
              <a:lnSpc>
                <a:spcPct val="100000"/>
              </a:lnSpc>
              <a:spcAft>
                <a:spcPts val="799"/>
              </a:spcAft>
            </a:pPr>
            <a:r>
              <a:rPr lang="en-US" sz="1300" b="0" u="none" strike="noStrike">
                <a:solidFill>
                  <a:srgbClr val="0F172A"/>
                </a:solidFill>
                <a:effectLst/>
                <a:uFillTx/>
                <a:latin typeface="Verdana"/>
              </a:rPr>
              <a:t>• Nacimiento de LANcity (1990): Fundó la pequeña empresa LANcity junto a un equipo inicial de solo 13 ingenieros y 7 consultores.</a:t>
            </a:r>
            <a:endParaRPr lang="en-US" sz="1300" b="0" u="none" strike="noStrike">
              <a:solidFill>
                <a:srgbClr val="000000"/>
              </a:solidFill>
              <a:effectLst/>
              <a:uFillTx/>
              <a:latin typeface="Arial"/>
            </a:endParaRPr>
          </a:p>
          <a:p>
            <a:pPr defTabSz="457200">
              <a:lnSpc>
                <a:spcPct val="100000"/>
              </a:lnSpc>
              <a:spcAft>
                <a:spcPts val="799"/>
              </a:spcAft>
            </a:pPr>
            <a:r>
              <a:rPr lang="en-US" sz="1300" b="0" u="none" strike="noStrike">
                <a:solidFill>
                  <a:srgbClr val="0F172A"/>
                </a:solidFill>
                <a:effectLst/>
                <a:uFillTx/>
                <a:latin typeface="Verdana"/>
              </a:rPr>
              <a:t>• Meta Audaz: Reducir el costo de transmisión de datos a gran escala y llevar conectividad estilo LAN a ciudades enteras ('LANcity').</a:t>
            </a:r>
            <a:endParaRPr lang="en-US" sz="1300" b="0" u="none" strike="noStrike">
              <a:solidFill>
                <a:srgbClr val="000000"/>
              </a:solidFill>
              <a:effectLst/>
              <a:uFillTx/>
              <a:latin typeface="Arial"/>
            </a:endParaRPr>
          </a:p>
        </p:txBody>
      </p:sp>
      <p:sp>
        <p:nvSpPr>
          <p:cNvPr id="85" name="Rounded Rectangle 6"/>
          <p:cNvSpPr/>
          <p:nvPr/>
        </p:nvSpPr>
        <p:spPr>
          <a:xfrm>
            <a:off x="7132320" y="1645920"/>
            <a:ext cx="4327560" cy="4845960"/>
          </a:xfrm>
          <a:prstGeom prst="roundRect">
            <a:avLst>
              <a:gd name="adj" fmla="val 16667"/>
            </a:avLst>
          </a:prstGeom>
          <a:solidFill>
            <a:srgbClr val="FFFFFF"/>
          </a:solidFill>
          <a:ln w="12700">
            <a:solidFill>
              <a:srgbClr val="E2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pic>
        <p:nvPicPr>
          <p:cNvPr id="86" name="Picture 7" descr="rouzbeh_yassini_lancity_lab.png"/>
          <p:cNvPicPr/>
          <p:nvPr/>
        </p:nvPicPr>
        <p:blipFill>
          <a:blip r:embed="rId1"/>
          <a:stretch/>
        </p:blipFill>
        <p:spPr>
          <a:xfrm>
            <a:off x="7315200" y="1828800"/>
            <a:ext cx="3961800" cy="2971440"/>
          </a:xfrm>
          <a:prstGeom prst="rect">
            <a:avLst/>
          </a:prstGeom>
          <a:noFill/>
          <a:ln w="0">
            <a:noFill/>
          </a:ln>
        </p:spPr>
      </p:pic>
      <p:sp>
        <p:nvSpPr>
          <p:cNvPr id="87" name="TextBox 8"/>
          <p:cNvSpPr/>
          <p:nvPr/>
        </p:nvSpPr>
        <p:spPr>
          <a:xfrm>
            <a:off x="7315200" y="4892040"/>
            <a:ext cx="3961800" cy="14626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100" b="0" u="none" strike="noStrike">
                <a:solidFill>
                  <a:srgbClr val="475569"/>
                </a:solidFill>
                <a:effectLst/>
                <a:uFillTx/>
                <a:latin typeface="Verdana"/>
              </a:rPr>
              <a:t>Figura 3.1: Dr. Rouzbeh Yassini-Fard en el laboratorio de LANcity (1992) junto a prototipos iniciales de módems de cable y equipos de prueba de radiofrecuencia [Fuente: Archivo Histórico LANcity / YAS Broadband] [1].</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88" name="TextBox 1"/>
          <p:cNvSpPr/>
          <p:nvPr/>
        </p:nvSpPr>
        <p:spPr>
          <a:xfrm>
            <a:off x="731520" y="365760"/>
            <a:ext cx="10698120" cy="3654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00" b="1" u="none" strike="noStrike">
                <a:solidFill>
                  <a:srgbClr val="3B82F6"/>
                </a:solidFill>
                <a:effectLst/>
                <a:uFillTx/>
                <a:latin typeface="Verdana"/>
              </a:rPr>
              <a:t>REDES DE ALTA VELOCIDAD — CABLE MÓDEM</a:t>
            </a:r>
            <a:endParaRPr lang="en-US" sz="1100" b="0" u="none" strike="noStrike">
              <a:solidFill>
                <a:srgbClr val="000000"/>
              </a:solidFill>
              <a:effectLst/>
              <a:uFillTx/>
              <a:latin typeface="Arial"/>
            </a:endParaRPr>
          </a:p>
        </p:txBody>
      </p:sp>
      <p:sp>
        <p:nvSpPr>
          <p:cNvPr id="89" name="TextBox 2"/>
          <p:cNvSpPr/>
          <p:nvPr/>
        </p:nvSpPr>
        <p:spPr>
          <a:xfrm>
            <a:off x="731520" y="685800"/>
            <a:ext cx="10698120" cy="7311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2400" b="1" u="none" strike="noStrike">
                <a:solidFill>
                  <a:srgbClr val="0F172A"/>
                </a:solidFill>
                <a:effectLst/>
                <a:uFillTx/>
                <a:latin typeface="Georgia"/>
              </a:rPr>
              <a:t>Chisme Tecnológico: Escepticismo, Calibraciones Infierno y la Jugada Libre de Regalías</a:t>
            </a:r>
            <a:endParaRPr lang="en-US" sz="2400" b="0" u="none" strike="noStrike">
              <a:solidFill>
                <a:srgbClr val="000000"/>
              </a:solidFill>
              <a:effectLst/>
              <a:uFillTx/>
              <a:latin typeface="Arial"/>
            </a:endParaRPr>
          </a:p>
        </p:txBody>
      </p:sp>
      <p:sp>
        <p:nvSpPr>
          <p:cNvPr id="90" name="Rectangle 3"/>
          <p:cNvSpPr/>
          <p:nvPr/>
        </p:nvSpPr>
        <p:spPr>
          <a:xfrm>
            <a:off x="731520" y="1417320"/>
            <a:ext cx="10728360" cy="25200"/>
          </a:xfrm>
          <a:prstGeom prst="rect">
            <a:avLst/>
          </a:prstGeom>
          <a:solidFill>
            <a:srgbClr val="3B82F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19440" rIns="90000" bIns="-19440" anchor="ctr">
            <a:noAutofit/>
          </a:bodyPr>
          <a:p>
            <a:pPr/>
            <a:endParaRPr lang="en-US" sz="1800" b="0" u="none" strike="noStrike">
              <a:solidFill>
                <a:schemeClr val="lt1"/>
              </a:solidFill>
              <a:effectLst/>
              <a:uFillTx/>
              <a:latin typeface="Calibri"/>
            </a:endParaRPr>
          </a:p>
        </p:txBody>
      </p:sp>
      <p:sp>
        <p:nvSpPr>
          <p:cNvPr id="91" name="Rounded Rectangle 4"/>
          <p:cNvSpPr/>
          <p:nvPr/>
        </p:nvSpPr>
        <p:spPr>
          <a:xfrm>
            <a:off x="731520" y="1645920"/>
            <a:ext cx="10728360" cy="1444320"/>
          </a:xfrm>
          <a:prstGeom prst="roundRect">
            <a:avLst>
              <a:gd name="adj" fmla="val 16667"/>
            </a:avLst>
          </a:prstGeom>
          <a:solidFill>
            <a:srgbClr val="FFFFFF"/>
          </a:solidFill>
          <a:ln w="12700">
            <a:solidFill>
              <a:srgbClr val="E2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92" name="TextBox 5"/>
          <p:cNvSpPr/>
          <p:nvPr/>
        </p:nvSpPr>
        <p:spPr>
          <a:xfrm>
            <a:off x="914400" y="1755720"/>
            <a:ext cx="10362600" cy="12340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400"/>
              </a:spcAft>
            </a:pPr>
            <a:r>
              <a:rPr lang="en-US" sz="1700" b="1" u="none" strike="noStrike">
                <a:solidFill>
                  <a:srgbClr val="1E40AF"/>
                </a:solidFill>
                <a:effectLst/>
                <a:uFillTx/>
                <a:latin typeface="Georgia"/>
              </a:rPr>
              <a:t>1. Rechazo e Increduación Inicial</a:t>
            </a:r>
            <a:endParaRPr lang="en-US" sz="1700" b="0" u="none" strike="noStrike">
              <a:solidFill>
                <a:srgbClr val="000000"/>
              </a:solidFill>
              <a:effectLst/>
              <a:uFillTx/>
              <a:latin typeface="Arial"/>
            </a:endParaRPr>
          </a:p>
          <a:p>
            <a:pPr defTabSz="457200">
              <a:lnSpc>
                <a:spcPct val="100000"/>
              </a:lnSpc>
            </a:pPr>
            <a:r>
              <a:rPr lang="en-US" sz="1300" b="0" u="none" strike="noStrike">
                <a:solidFill>
                  <a:srgbClr val="0F172A"/>
                </a:solidFill>
                <a:effectLst/>
                <a:uFillTx/>
                <a:latin typeface="Verdana"/>
              </a:rPr>
              <a:t>Banqueros y firmas de capital de riesgo rechazaron a Yassini: 'Las familias jamás van a necesitar ni pagar por datos en casa; Internet es solo para científicos e industrias'. Las empresas de cable pensaban que su único negocio era transmitir películas.</a:t>
            </a:r>
            <a:endParaRPr lang="en-US" sz="1300" b="0" u="none" strike="noStrike">
              <a:solidFill>
                <a:srgbClr val="000000"/>
              </a:solidFill>
              <a:effectLst/>
              <a:uFillTx/>
              <a:latin typeface="Arial"/>
            </a:endParaRPr>
          </a:p>
        </p:txBody>
      </p:sp>
      <p:sp>
        <p:nvSpPr>
          <p:cNvPr id="93" name="Rounded Rectangle 6"/>
          <p:cNvSpPr/>
          <p:nvPr/>
        </p:nvSpPr>
        <p:spPr>
          <a:xfrm>
            <a:off x="731520" y="3246120"/>
            <a:ext cx="10728360" cy="1444320"/>
          </a:xfrm>
          <a:prstGeom prst="roundRect">
            <a:avLst>
              <a:gd name="adj" fmla="val 16667"/>
            </a:avLst>
          </a:prstGeom>
          <a:solidFill>
            <a:srgbClr val="FFFFFF"/>
          </a:solidFill>
          <a:ln w="12700">
            <a:solidFill>
              <a:srgbClr val="E2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94" name="TextBox 7"/>
          <p:cNvSpPr/>
          <p:nvPr/>
        </p:nvSpPr>
        <p:spPr>
          <a:xfrm>
            <a:off x="914400" y="3355920"/>
            <a:ext cx="10362600" cy="12340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400"/>
              </a:spcAft>
            </a:pPr>
            <a:r>
              <a:rPr lang="en-US" sz="1700" b="1" u="none" strike="noStrike">
                <a:solidFill>
                  <a:srgbClr val="1E40AF"/>
                </a:solidFill>
                <a:effectLst/>
                <a:uFillTx/>
                <a:latin typeface="Georgia"/>
              </a:rPr>
              <a:t>2. La Pesadilla de 45 Calibraciones</a:t>
            </a:r>
            <a:endParaRPr lang="en-US" sz="1700" b="0" u="none" strike="noStrike">
              <a:solidFill>
                <a:srgbClr val="000000"/>
              </a:solidFill>
              <a:effectLst/>
              <a:uFillTx/>
              <a:latin typeface="Arial"/>
            </a:endParaRPr>
          </a:p>
          <a:p>
            <a:pPr defTabSz="457200">
              <a:lnSpc>
                <a:spcPct val="100000"/>
              </a:lnSpc>
            </a:pPr>
            <a:r>
              <a:rPr lang="en-US" sz="1300" b="0" u="none" strike="noStrike">
                <a:solidFill>
                  <a:srgbClr val="0F172A"/>
                </a:solidFill>
                <a:effectLst/>
                <a:uFillTx/>
                <a:latin typeface="Verdana"/>
              </a:rPr>
              <a:t>Los primeros prototipos eran ultra inestables. ¡Tomaba un día entero a dos ingenieros hacer 45 alineaciones manuales para calibrar 1 solo módem! Si la temperatura cambiaba, se descalibraba. El equipo de Paul Nikolich y Yassini usó DSP para automatizarlo a 45 °C.</a:t>
            </a:r>
            <a:endParaRPr lang="en-US" sz="1300" b="0" u="none" strike="noStrike">
              <a:solidFill>
                <a:srgbClr val="000000"/>
              </a:solidFill>
              <a:effectLst/>
              <a:uFillTx/>
              <a:latin typeface="Arial"/>
            </a:endParaRPr>
          </a:p>
        </p:txBody>
      </p:sp>
      <p:sp>
        <p:nvSpPr>
          <p:cNvPr id="95" name="Rounded Rectangle 8"/>
          <p:cNvSpPr/>
          <p:nvPr/>
        </p:nvSpPr>
        <p:spPr>
          <a:xfrm>
            <a:off x="731520" y="4846320"/>
            <a:ext cx="10728360" cy="1444320"/>
          </a:xfrm>
          <a:prstGeom prst="roundRect">
            <a:avLst>
              <a:gd name="adj" fmla="val 16667"/>
            </a:avLst>
          </a:prstGeom>
          <a:solidFill>
            <a:srgbClr val="FFFFFF"/>
          </a:solidFill>
          <a:ln w="12700">
            <a:solidFill>
              <a:srgbClr val="E2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96" name="TextBox 9"/>
          <p:cNvSpPr/>
          <p:nvPr/>
        </p:nvSpPr>
        <p:spPr>
          <a:xfrm>
            <a:off x="914400" y="4956120"/>
            <a:ext cx="10362600" cy="12340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400"/>
              </a:spcAft>
            </a:pPr>
            <a:r>
              <a:rPr lang="en-US" sz="1700" b="1" u="none" strike="noStrike">
                <a:solidFill>
                  <a:srgbClr val="047857"/>
                </a:solidFill>
                <a:effectLst/>
                <a:uFillTx/>
                <a:latin typeface="Georgia"/>
              </a:rPr>
              <a:t>3. La Jugada Maestra 'Royalty-Free'</a:t>
            </a:r>
            <a:endParaRPr lang="en-US" sz="1700" b="0" u="none" strike="noStrike">
              <a:solidFill>
                <a:srgbClr val="000000"/>
              </a:solidFill>
              <a:effectLst/>
              <a:uFillTx/>
              <a:latin typeface="Arial"/>
            </a:endParaRPr>
          </a:p>
          <a:p>
            <a:pPr defTabSz="457200">
              <a:lnSpc>
                <a:spcPct val="100000"/>
              </a:lnSpc>
            </a:pPr>
            <a:r>
              <a:rPr lang="en-US" sz="1300" b="0" u="none" strike="noStrike">
                <a:solidFill>
                  <a:srgbClr val="0F172A"/>
                </a:solidFill>
                <a:effectLst/>
                <a:uFillTx/>
                <a:latin typeface="Verdana"/>
              </a:rPr>
              <a:t>De costar $18,000 USD en 1990, LANcity bajó el costo a $300 en 1995. En lugar de monopolizar las patentes, Yassini regaló la tecnología de LANcity GRATIS y sin regalías a CableLabs. Esto permitió crear el estándar abierto DOCSIS y bajar el módem a $25 USD.</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97" name="TextBox 1"/>
          <p:cNvSpPr/>
          <p:nvPr/>
        </p:nvSpPr>
        <p:spPr>
          <a:xfrm>
            <a:off x="731520" y="365760"/>
            <a:ext cx="10698120" cy="3654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00" b="1" u="none" strike="noStrike">
                <a:solidFill>
                  <a:srgbClr val="3B82F6"/>
                </a:solidFill>
                <a:effectLst/>
                <a:uFillTx/>
                <a:latin typeface="Verdana"/>
              </a:rPr>
              <a:t>REDES DE ALTA VELOCIDAD — CABLE MÓDEM</a:t>
            </a:r>
            <a:endParaRPr lang="en-US" sz="1100" b="0" u="none" strike="noStrike">
              <a:solidFill>
                <a:srgbClr val="000000"/>
              </a:solidFill>
              <a:effectLst/>
              <a:uFillTx/>
              <a:latin typeface="Arial"/>
            </a:endParaRPr>
          </a:p>
        </p:txBody>
      </p:sp>
      <p:sp>
        <p:nvSpPr>
          <p:cNvPr id="98" name="TextBox 2"/>
          <p:cNvSpPr/>
          <p:nvPr/>
        </p:nvSpPr>
        <p:spPr>
          <a:xfrm>
            <a:off x="731520" y="685800"/>
            <a:ext cx="10698120" cy="7311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2400" b="1" u="none" strike="noStrike">
                <a:solidFill>
                  <a:srgbClr val="0F172A"/>
                </a:solidFill>
                <a:effectLst/>
                <a:uFillTx/>
                <a:latin typeface="Georgia"/>
              </a:rPr>
              <a:t>Análisis Comparativo: Lo que el Cable Módem Resolvió que el Dial-Up NO PUDO</a:t>
            </a:r>
            <a:endParaRPr lang="en-US" sz="2400" b="0" u="none" strike="noStrike">
              <a:solidFill>
                <a:srgbClr val="000000"/>
              </a:solidFill>
              <a:effectLst/>
              <a:uFillTx/>
              <a:latin typeface="Arial"/>
            </a:endParaRPr>
          </a:p>
        </p:txBody>
      </p:sp>
      <p:sp>
        <p:nvSpPr>
          <p:cNvPr id="99" name="Rectangle 3"/>
          <p:cNvSpPr/>
          <p:nvPr/>
        </p:nvSpPr>
        <p:spPr>
          <a:xfrm>
            <a:off x="731520" y="1417320"/>
            <a:ext cx="10728360" cy="25200"/>
          </a:xfrm>
          <a:prstGeom prst="rect">
            <a:avLst/>
          </a:prstGeom>
          <a:solidFill>
            <a:srgbClr val="3B82F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19440" rIns="90000" bIns="-19440" anchor="ctr">
            <a:noAutofit/>
          </a:bodyPr>
          <a:p>
            <a:pPr/>
            <a:endParaRPr lang="en-US" sz="1800" b="0" u="none" strike="noStrike">
              <a:solidFill>
                <a:schemeClr val="lt1"/>
              </a:solidFill>
              <a:effectLst/>
              <a:uFillTx/>
              <a:latin typeface="Calibri"/>
            </a:endParaRPr>
          </a:p>
        </p:txBody>
      </p:sp>
      <p:graphicFrame>
        <p:nvGraphicFramePr>
          <p:cNvPr id="100" name="Table 4"/>
          <p:cNvGraphicFramePr/>
          <p:nvPr/>
        </p:nvGraphicFramePr>
        <p:xfrm>
          <a:off x="731520" y="1645920"/>
          <a:ext cx="10728360" cy="4663440"/>
        </p:xfrm>
        <a:graphic>
          <a:graphicData uri="http://schemas.openxmlformats.org/drawingml/2006/table">
            <a:tbl>
              <a:tblPr/>
              <a:tblGrid>
                <a:gridCol w="2681640"/>
                <a:gridCol w="4023360"/>
                <a:gridCol w="4023360"/>
              </a:tblGrid>
              <a:tr h="777240">
                <a:tc>
                  <a:txBody>
                    <a:bodyPr anchor="t">
                      <a:noAutofit/>
                    </a:bodyPr>
                    <a:p>
                      <a:pPr defTabSz="457200">
                        <a:lnSpc>
                          <a:spcPct val="100000"/>
                        </a:lnSpc>
                      </a:pPr>
                      <a:r>
                        <a:rPr lang="en-US" sz="1400" b="1" u="none" strike="noStrike">
                          <a:solidFill>
                            <a:srgbClr val="FFFFFF"/>
                          </a:solidFill>
                          <a:effectLst/>
                          <a:uFillTx/>
                          <a:latin typeface="Georgia"/>
                        </a:rPr>
                        <a:t>Criterio Técnico</a:t>
                      </a:r>
                      <a:endParaRPr lang="en-US" sz="1400" b="0" u="none" strike="noStrike">
                        <a:solidFill>
                          <a:srgbClr val="FFFFFF"/>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E40AF"/>
                    </a:solidFill>
                  </a:tcPr>
                </a:tc>
                <a:tc>
                  <a:txBody>
                    <a:bodyPr anchor="t">
                      <a:noAutofit/>
                    </a:bodyPr>
                    <a:p>
                      <a:pPr defTabSz="457200">
                        <a:lnSpc>
                          <a:spcPct val="100000"/>
                        </a:lnSpc>
                      </a:pPr>
                      <a:r>
                        <a:rPr lang="en-US" sz="1400" b="1" u="none" strike="noStrike">
                          <a:solidFill>
                            <a:srgbClr val="FFFFFF"/>
                          </a:solidFill>
                          <a:effectLst/>
                          <a:uFillTx/>
                          <a:latin typeface="Georgia"/>
                        </a:rPr>
                        <a:t>Antecesor Directo: Dial-Up (Línea Telefónica PSTN)</a:t>
                      </a:r>
                      <a:endParaRPr lang="en-US" sz="1400" b="0" u="none" strike="noStrike">
                        <a:solidFill>
                          <a:srgbClr val="FFFFFF"/>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E40AF"/>
                    </a:solidFill>
                  </a:tcPr>
                </a:tc>
                <a:tc>
                  <a:txBody>
                    <a:bodyPr anchor="t">
                      <a:noAutofit/>
                    </a:bodyPr>
                    <a:p>
                      <a:pPr defTabSz="457200">
                        <a:lnSpc>
                          <a:spcPct val="100000"/>
                        </a:lnSpc>
                      </a:pPr>
                      <a:r>
                        <a:rPr lang="en-US" sz="1400" b="1" u="none" strike="noStrike">
                          <a:solidFill>
                            <a:srgbClr val="FFFFFF"/>
                          </a:solidFill>
                          <a:effectLst/>
                          <a:uFillTx/>
                          <a:latin typeface="Georgia"/>
                        </a:rPr>
                        <a:t>Revolución: Cable Módem (Red Coaxial / HFC)</a:t>
                      </a:r>
                      <a:endParaRPr lang="en-US" sz="1400" b="0" u="none" strike="noStrike">
                        <a:solidFill>
                          <a:srgbClr val="FFFFFF"/>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47857"/>
                    </a:solidFill>
                  </a:tcPr>
                </a:tc>
              </a:tr>
              <a:tr h="777240">
                <a:tc>
                  <a:txBody>
                    <a:bodyPr anchor="t">
                      <a:noAutofit/>
                    </a:bodyPr>
                    <a:p>
                      <a:pPr defTabSz="457200">
                        <a:lnSpc>
                          <a:spcPct val="100000"/>
                        </a:lnSpc>
                      </a:pPr>
                      <a:r>
                        <a:rPr lang="en-US" sz="1200" b="1" u="none" strike="noStrike">
                          <a:solidFill>
                            <a:srgbClr val="0F172A"/>
                          </a:solidFill>
                          <a:effectLst/>
                          <a:uFillTx/>
                          <a:latin typeface="Verdana"/>
                        </a:rPr>
                        <a:t>Medio Físico y Señal</a:t>
                      </a:r>
                      <a:endParaRPr lang="en-US" sz="12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nchor="t">
                      <a:noAutofit/>
                    </a:bodyPr>
                    <a:p>
                      <a:pPr defTabSz="457200">
                        <a:lnSpc>
                          <a:spcPct val="100000"/>
                        </a:lnSpc>
                      </a:pPr>
                      <a:r>
                        <a:rPr lang="en-US" sz="1200" b="0" u="none" strike="noStrike">
                          <a:solidFill>
                            <a:srgbClr val="0F172A"/>
                          </a:solidFill>
                          <a:effectLst/>
                          <a:uFillTx/>
                          <a:latin typeface="Verdana"/>
                        </a:rPr>
                        <a:t>Par trenzado de cobre no blindado.</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0F172A"/>
                          </a:solidFill>
                          <a:effectLst/>
                          <a:uFillTx/>
                          <a:latin typeface="Verdana"/>
                        </a:rPr>
                        <a:t>Banda base analógica de voz (300 Hz - 3.4 kHz).</a:t>
                      </a:r>
                      <a:endParaRPr lang="en-US" sz="12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nchor="t">
                      <a:noAutofit/>
                    </a:bodyPr>
                    <a:p>
                      <a:pPr defTabSz="457200">
                        <a:lnSpc>
                          <a:spcPct val="100000"/>
                        </a:lnSpc>
                      </a:pPr>
                      <a:r>
                        <a:rPr lang="en-US" sz="1200" b="0" u="none" strike="noStrike">
                          <a:solidFill>
                            <a:srgbClr val="0F172A"/>
                          </a:solidFill>
                          <a:effectLst/>
                          <a:uFillTx/>
                          <a:latin typeface="Verdana"/>
                        </a:rPr>
                        <a:t>Cable coaxial blindado / Híbrido de Fibra.</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0F172A"/>
                          </a:solidFill>
                          <a:effectLst/>
                          <a:uFillTx/>
                          <a:latin typeface="Verdana"/>
                        </a:rPr>
                        <a:t>Ondas de Radiofrecuencia (RF) canalizadas.</a:t>
                      </a:r>
                      <a:endParaRPr lang="en-US" sz="12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777240">
                <a:tc>
                  <a:txBody>
                    <a:bodyPr anchor="t">
                      <a:noAutofit/>
                    </a:bodyPr>
                    <a:p>
                      <a:pPr defTabSz="457200">
                        <a:lnSpc>
                          <a:spcPct val="100000"/>
                        </a:lnSpc>
                      </a:pPr>
                      <a:r>
                        <a:rPr lang="en-US" sz="1200" b="1" u="none" strike="noStrike">
                          <a:solidFill>
                            <a:srgbClr val="0F172A"/>
                          </a:solidFill>
                          <a:effectLst/>
                          <a:uFillTx/>
                          <a:latin typeface="Verdana"/>
                        </a:rPr>
                        <a:t>Velocidad Máxima</a:t>
                      </a:r>
                      <a:endParaRPr lang="en-US" sz="12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1F5F9"/>
                    </a:solidFill>
                  </a:tcPr>
                </a:tc>
                <a:tc>
                  <a:txBody>
                    <a:bodyPr anchor="t">
                      <a:noAutofit/>
                    </a:bodyPr>
                    <a:p>
                      <a:pPr defTabSz="457200">
                        <a:lnSpc>
                          <a:spcPct val="100000"/>
                        </a:lnSpc>
                      </a:pPr>
                      <a:r>
                        <a:rPr lang="en-US" sz="1200" b="0" u="none" strike="noStrike">
                          <a:solidFill>
                            <a:srgbClr val="0F172A"/>
                          </a:solidFill>
                          <a:effectLst/>
                          <a:uFillTx/>
                          <a:latin typeface="Verdana"/>
                        </a:rPr>
                        <a:t>28.8 kbps a 56 kbps (Límite físico del cobre telefónico).</a:t>
                      </a:r>
                      <a:endParaRPr lang="en-US" sz="12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1F5F9"/>
                    </a:solidFill>
                  </a:tcPr>
                </a:tc>
                <a:tc>
                  <a:txBody>
                    <a:bodyPr anchor="t">
                      <a:noAutofit/>
                    </a:bodyPr>
                    <a:p>
                      <a:pPr defTabSz="457200">
                        <a:lnSpc>
                          <a:spcPct val="100000"/>
                        </a:lnSpc>
                      </a:pPr>
                      <a:r>
                        <a:rPr lang="en-US" sz="1200" b="0" u="none" strike="noStrike">
                          <a:solidFill>
                            <a:srgbClr val="0F172A"/>
                          </a:solidFill>
                          <a:effectLst/>
                          <a:uFillTx/>
                          <a:latin typeface="Verdana"/>
                        </a:rPr>
                        <a:t>10 Mbps a 1,000 Mbps (¡Más de 200 veces más rápido desde el inicio!).</a:t>
                      </a:r>
                      <a:endParaRPr lang="en-US" sz="12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1F5F9"/>
                    </a:solidFill>
                  </a:tcPr>
                </a:tc>
              </a:tr>
              <a:tr h="777240">
                <a:tc>
                  <a:txBody>
                    <a:bodyPr anchor="t">
                      <a:noAutofit/>
                    </a:bodyPr>
                    <a:p>
                      <a:pPr defTabSz="457200">
                        <a:lnSpc>
                          <a:spcPct val="100000"/>
                        </a:lnSpc>
                      </a:pPr>
                      <a:r>
                        <a:rPr lang="en-US" sz="1200" b="1" u="none" strike="noStrike">
                          <a:solidFill>
                            <a:srgbClr val="0F172A"/>
                          </a:solidFill>
                          <a:effectLst/>
                          <a:uFillTx/>
                          <a:latin typeface="Verdana"/>
                        </a:rPr>
                        <a:t>Uso del Teléfono</a:t>
                      </a:r>
                      <a:endParaRPr lang="en-US" sz="12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nchor="t">
                      <a:noAutofit/>
                    </a:bodyPr>
                    <a:p>
                      <a:pPr defTabSz="457200">
                        <a:lnSpc>
                          <a:spcPct val="100000"/>
                        </a:lnSpc>
                      </a:pPr>
                      <a:r>
                        <a:rPr lang="en-US" sz="1200" b="0" u="none" strike="noStrike">
                          <a:solidFill>
                            <a:srgbClr val="0F172A"/>
                          </a:solidFill>
                          <a:effectLst/>
                          <a:uFillTx/>
                          <a:latin typeface="Verdana"/>
                        </a:rPr>
                        <a:t>[NO] Bloqueaba la línea telefónica. Si alguien llamaba, se caía Internet.</a:t>
                      </a:r>
                      <a:endParaRPr lang="en-US" sz="12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nchor="t">
                      <a:noAutofit/>
                    </a:bodyPr>
                    <a:p>
                      <a:pPr defTabSz="457200">
                        <a:lnSpc>
                          <a:spcPct val="100000"/>
                        </a:lnSpc>
                      </a:pPr>
                      <a:r>
                        <a:rPr lang="en-US" sz="1200" b="0" u="none" strike="noStrike">
                          <a:solidFill>
                            <a:srgbClr val="0F172A"/>
                          </a:solidFill>
                          <a:effectLst/>
                          <a:uFillTx/>
                          <a:latin typeface="Verdana"/>
                        </a:rPr>
                        <a:t>[SÍ] Totalmente independiente. Permite hablar por teléfono y ver TV simultáneamente.</a:t>
                      </a:r>
                      <a:endParaRPr lang="en-US" sz="12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777240">
                <a:tc>
                  <a:txBody>
                    <a:bodyPr anchor="t">
                      <a:noAutofit/>
                    </a:bodyPr>
                    <a:p>
                      <a:pPr defTabSz="457200">
                        <a:lnSpc>
                          <a:spcPct val="100000"/>
                        </a:lnSpc>
                      </a:pPr>
                      <a:r>
                        <a:rPr lang="en-US" sz="1200" b="1" u="none" strike="noStrike">
                          <a:solidFill>
                            <a:srgbClr val="0F172A"/>
                          </a:solidFill>
                          <a:effectLst/>
                          <a:uFillTx/>
                          <a:latin typeface="Verdana"/>
                        </a:rPr>
                        <a:t>Tipo de Conexión</a:t>
                      </a:r>
                      <a:endParaRPr lang="en-US" sz="12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1F5F9"/>
                    </a:solidFill>
                  </a:tcPr>
                </a:tc>
                <a:tc>
                  <a:txBody>
                    <a:bodyPr anchor="t">
                      <a:noAutofit/>
                    </a:bodyPr>
                    <a:p>
                      <a:pPr defTabSz="457200">
                        <a:lnSpc>
                          <a:spcPct val="100000"/>
                        </a:lnSpc>
                      </a:pPr>
                      <a:r>
                        <a:rPr lang="en-US" sz="1200" b="0" u="none" strike="noStrike">
                          <a:solidFill>
                            <a:srgbClr val="0F172A"/>
                          </a:solidFill>
                          <a:effectLst/>
                          <a:uFillTx/>
                          <a:latin typeface="Verdana"/>
                        </a:rPr>
                        <a:t>Marcado manual por llamada (Dial-up), tardaba 30-60 segundos. Pago por minuto.</a:t>
                      </a:r>
                      <a:endParaRPr lang="en-US" sz="12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1F5F9"/>
                    </a:solidFill>
                  </a:tcPr>
                </a:tc>
                <a:tc>
                  <a:txBody>
                    <a:bodyPr anchor="t">
                      <a:noAutofit/>
                    </a:bodyPr>
                    <a:p>
                      <a:pPr defTabSz="457200">
                        <a:lnSpc>
                          <a:spcPct val="100000"/>
                        </a:lnSpc>
                      </a:pPr>
                      <a:r>
                        <a:rPr lang="en-US" sz="1200" b="0" u="none" strike="noStrike">
                          <a:solidFill>
                            <a:srgbClr val="0F172A"/>
                          </a:solidFill>
                          <a:effectLst/>
                          <a:uFillTx/>
                          <a:latin typeface="Verdana"/>
                        </a:rPr>
                        <a:t>Conexión Permanente (Always-On). Encendías la PC y ya estabas conectado. Tarifa plana.</a:t>
                      </a:r>
                      <a:endParaRPr lang="en-US" sz="12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1F5F9"/>
                    </a:solidFill>
                  </a:tcPr>
                </a:tc>
              </a:tr>
              <a:tr h="777240">
                <a:tc>
                  <a:txBody>
                    <a:bodyPr anchor="t">
                      <a:noAutofit/>
                    </a:bodyPr>
                    <a:p>
                      <a:pPr defTabSz="457200">
                        <a:lnSpc>
                          <a:spcPct val="100000"/>
                        </a:lnSpc>
                      </a:pPr>
                      <a:r>
                        <a:rPr lang="en-US" sz="1200" b="1" u="none" strike="noStrike">
                          <a:solidFill>
                            <a:srgbClr val="0F172A"/>
                          </a:solidFill>
                          <a:effectLst/>
                          <a:uFillTx/>
                          <a:latin typeface="Verdana"/>
                        </a:rPr>
                        <a:t>Lo que Resolvió</a:t>
                      </a:r>
                      <a:endParaRPr lang="en-US" sz="12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nchor="t">
                      <a:noAutofit/>
                    </a:bodyPr>
                    <a:p>
                      <a:pPr defTabSz="457200">
                        <a:lnSpc>
                          <a:spcPct val="100000"/>
                        </a:lnSpc>
                      </a:pPr>
                      <a:r>
                        <a:rPr lang="en-US" sz="1200" b="0" u="none" strike="noStrike">
                          <a:solidFill>
                            <a:srgbClr val="0F172A"/>
                          </a:solidFill>
                          <a:effectLst/>
                          <a:uFillTx/>
                          <a:latin typeface="Verdana"/>
                        </a:rPr>
                        <a:t>La sofocante restriction de ancho de banda de la red de voz de 100 años de antigüedad.</a:t>
                      </a:r>
                      <a:endParaRPr lang="en-US" sz="12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nchor="t">
                      <a:noAutofit/>
                    </a:bodyPr>
                    <a:p>
                      <a:pPr defTabSz="457200">
                        <a:lnSpc>
                          <a:spcPct val="100000"/>
                        </a:lnSpc>
                      </a:pPr>
                      <a:r>
                        <a:rPr lang="en-US" sz="1200" b="0" u="none" strike="noStrike">
                          <a:solidFill>
                            <a:srgbClr val="0F172A"/>
                          </a:solidFill>
                          <a:effectLst/>
                          <a:uFillTx/>
                          <a:latin typeface="Verdana"/>
                        </a:rPr>
                        <a:t>Aprovechó el enorme ancho de banda del cable de TV sin necesidad de romper las calles.</a:t>
                      </a:r>
                      <a:endParaRPr lang="en-US" sz="12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01" name="TextBox 1"/>
          <p:cNvSpPr/>
          <p:nvPr/>
        </p:nvSpPr>
        <p:spPr>
          <a:xfrm>
            <a:off x="731520" y="365760"/>
            <a:ext cx="10698120" cy="3654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00" b="1" u="none" strike="noStrike">
                <a:solidFill>
                  <a:srgbClr val="3B82F6"/>
                </a:solidFill>
                <a:effectLst/>
                <a:uFillTx/>
                <a:latin typeface="Verdana"/>
              </a:rPr>
              <a:t>REDES DE ALTA VELOCIDAD — CABLE MÓDEM</a:t>
            </a:r>
            <a:endParaRPr lang="en-US" sz="1100" b="0" u="none" strike="noStrike">
              <a:solidFill>
                <a:srgbClr val="000000"/>
              </a:solidFill>
              <a:effectLst/>
              <a:uFillTx/>
              <a:latin typeface="Arial"/>
            </a:endParaRPr>
          </a:p>
        </p:txBody>
      </p:sp>
      <p:sp>
        <p:nvSpPr>
          <p:cNvPr id="102" name="TextBox 2"/>
          <p:cNvSpPr/>
          <p:nvPr/>
        </p:nvSpPr>
        <p:spPr>
          <a:xfrm>
            <a:off x="731520" y="685800"/>
            <a:ext cx="10698120" cy="7311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2400" b="1" u="none" strike="noStrike">
                <a:solidFill>
                  <a:srgbClr val="0F172A"/>
                </a:solidFill>
                <a:effectLst/>
                <a:uFillTx/>
                <a:latin typeface="Georgia"/>
              </a:rPr>
              <a:t>Arquitectura de Red HFC: Cómo Viajan los Datos por la Fibra y el Coaxial</a:t>
            </a:r>
            <a:endParaRPr lang="en-US" sz="2400" b="0" u="none" strike="noStrike">
              <a:solidFill>
                <a:srgbClr val="000000"/>
              </a:solidFill>
              <a:effectLst/>
              <a:uFillTx/>
              <a:latin typeface="Arial"/>
            </a:endParaRPr>
          </a:p>
        </p:txBody>
      </p:sp>
      <p:sp>
        <p:nvSpPr>
          <p:cNvPr id="103" name="Rectangle 3"/>
          <p:cNvSpPr/>
          <p:nvPr/>
        </p:nvSpPr>
        <p:spPr>
          <a:xfrm>
            <a:off x="731520" y="1417320"/>
            <a:ext cx="10728360" cy="25200"/>
          </a:xfrm>
          <a:prstGeom prst="rect">
            <a:avLst/>
          </a:prstGeom>
          <a:solidFill>
            <a:srgbClr val="3B82F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19440" rIns="90000" bIns="-19440" anchor="ctr">
            <a:noAutofit/>
          </a:bodyPr>
          <a:p>
            <a:pPr/>
            <a:endParaRPr lang="en-US" sz="1800" b="0" u="none" strike="noStrike">
              <a:solidFill>
                <a:schemeClr val="lt1"/>
              </a:solidFill>
              <a:effectLst/>
              <a:uFillTx/>
              <a:latin typeface="Calibri"/>
            </a:endParaRPr>
          </a:p>
        </p:txBody>
      </p:sp>
      <p:sp>
        <p:nvSpPr>
          <p:cNvPr id="104" name="Rounded Rectangle 4"/>
          <p:cNvSpPr/>
          <p:nvPr/>
        </p:nvSpPr>
        <p:spPr>
          <a:xfrm>
            <a:off x="731520" y="1645920"/>
            <a:ext cx="6217560" cy="1115280"/>
          </a:xfrm>
          <a:prstGeom prst="roundRect">
            <a:avLst>
              <a:gd name="adj" fmla="val 16667"/>
            </a:avLst>
          </a:prstGeom>
          <a:solidFill>
            <a:srgbClr val="FFFFFF"/>
          </a:solidFill>
          <a:ln w="12700">
            <a:solidFill>
              <a:srgbClr val="E2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05" name="TextBox 5"/>
          <p:cNvSpPr/>
          <p:nvPr/>
        </p:nvSpPr>
        <p:spPr>
          <a:xfrm>
            <a:off x="868680" y="1719000"/>
            <a:ext cx="5943240" cy="9597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500" b="1" u="none" strike="noStrike">
                <a:solidFill>
                  <a:srgbClr val="1E40AF"/>
                </a:solidFill>
                <a:effectLst/>
                <a:uFillTx/>
                <a:latin typeface="Georgia"/>
              </a:rPr>
              <a:t>1. Cabecera (Headend)</a:t>
            </a:r>
            <a:endParaRPr lang="en-US" sz="1500" b="0" u="none" strike="noStrike">
              <a:solidFill>
                <a:srgbClr val="000000"/>
              </a:solidFill>
              <a:effectLst/>
              <a:uFillTx/>
              <a:latin typeface="Arial"/>
            </a:endParaRPr>
          </a:p>
          <a:p>
            <a:pPr defTabSz="457200">
              <a:lnSpc>
                <a:spcPct val="100000"/>
              </a:lnSpc>
            </a:pPr>
            <a:r>
              <a:rPr lang="en-US" sz="1200" b="0" u="none" strike="noStrike">
                <a:solidFill>
                  <a:srgbClr val="0F172A"/>
                </a:solidFill>
                <a:effectLst/>
                <a:uFillTx/>
                <a:latin typeface="Verdana"/>
              </a:rPr>
              <a:t>Centro de mando del operador donde se recibe el tráfico IP de Internet y se convierte a radiofrecuencia (RF).</a:t>
            </a:r>
            <a:endParaRPr lang="en-US" sz="1200" b="0" u="none" strike="noStrike">
              <a:solidFill>
                <a:srgbClr val="000000"/>
              </a:solidFill>
              <a:effectLst/>
              <a:uFillTx/>
              <a:latin typeface="Arial"/>
            </a:endParaRPr>
          </a:p>
        </p:txBody>
      </p:sp>
      <p:sp>
        <p:nvSpPr>
          <p:cNvPr id="106" name="Rounded Rectangle 6"/>
          <p:cNvSpPr/>
          <p:nvPr/>
        </p:nvSpPr>
        <p:spPr>
          <a:xfrm>
            <a:off x="731520" y="2853000"/>
            <a:ext cx="6217560" cy="1115280"/>
          </a:xfrm>
          <a:prstGeom prst="roundRect">
            <a:avLst>
              <a:gd name="adj" fmla="val 16667"/>
            </a:avLst>
          </a:prstGeom>
          <a:solidFill>
            <a:srgbClr val="FFFFFF"/>
          </a:solidFill>
          <a:ln w="12700">
            <a:solidFill>
              <a:srgbClr val="E2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07" name="TextBox 7"/>
          <p:cNvSpPr/>
          <p:nvPr/>
        </p:nvSpPr>
        <p:spPr>
          <a:xfrm>
            <a:off x="868680" y="2926080"/>
            <a:ext cx="5943240" cy="9597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500" b="1" u="none" strike="noStrike">
                <a:solidFill>
                  <a:srgbClr val="1E40AF"/>
                </a:solidFill>
                <a:effectLst/>
                <a:uFillTx/>
                <a:latin typeface="Georgia"/>
              </a:rPr>
              <a:t>2. Troncal de Fibra Óptica</a:t>
            </a:r>
            <a:endParaRPr lang="en-US" sz="1500" b="0" u="none" strike="noStrike">
              <a:solidFill>
                <a:srgbClr val="000000"/>
              </a:solidFill>
              <a:effectLst/>
              <a:uFillTx/>
              <a:latin typeface="Arial"/>
            </a:endParaRPr>
          </a:p>
          <a:p>
            <a:pPr defTabSz="457200">
              <a:lnSpc>
                <a:spcPct val="100000"/>
              </a:lnSpc>
            </a:pPr>
            <a:r>
              <a:rPr lang="en-US" sz="1200" b="0" u="none" strike="noStrike">
                <a:solidFill>
                  <a:srgbClr val="0F172A"/>
                </a:solidFill>
                <a:effectLst/>
                <a:uFillTx/>
                <a:latin typeface="Verdana"/>
              </a:rPr>
              <a:t>Lleva la señal en forma de pulsos de luz láser a largas distancias (hasta 100 millas) con atenuación casi nula.</a:t>
            </a:r>
            <a:endParaRPr lang="en-US" sz="1200" b="0" u="none" strike="noStrike">
              <a:solidFill>
                <a:srgbClr val="000000"/>
              </a:solidFill>
              <a:effectLst/>
              <a:uFillTx/>
              <a:latin typeface="Arial"/>
            </a:endParaRPr>
          </a:p>
        </p:txBody>
      </p:sp>
      <p:sp>
        <p:nvSpPr>
          <p:cNvPr id="108" name="Rounded Rectangle 8"/>
          <p:cNvSpPr/>
          <p:nvPr/>
        </p:nvSpPr>
        <p:spPr>
          <a:xfrm>
            <a:off x="731520" y="4060080"/>
            <a:ext cx="6217560" cy="1115280"/>
          </a:xfrm>
          <a:prstGeom prst="roundRect">
            <a:avLst>
              <a:gd name="adj" fmla="val 16667"/>
            </a:avLst>
          </a:prstGeom>
          <a:solidFill>
            <a:srgbClr val="FFFFFF"/>
          </a:solidFill>
          <a:ln w="12700">
            <a:solidFill>
              <a:srgbClr val="E2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09" name="TextBox 9"/>
          <p:cNvSpPr/>
          <p:nvPr/>
        </p:nvSpPr>
        <p:spPr>
          <a:xfrm>
            <a:off x="868680" y="4133160"/>
            <a:ext cx="5943240" cy="9597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500" b="1" u="none" strike="noStrike">
                <a:solidFill>
                  <a:srgbClr val="1E40AF"/>
                </a:solidFill>
                <a:effectLst/>
                <a:uFillTx/>
                <a:latin typeface="Georgia"/>
              </a:rPr>
              <a:t>3. Nodo Óptico de Barrio</a:t>
            </a:r>
            <a:endParaRPr lang="en-US" sz="1500" b="0" u="none" strike="noStrike">
              <a:solidFill>
                <a:srgbClr val="000000"/>
              </a:solidFill>
              <a:effectLst/>
              <a:uFillTx/>
              <a:latin typeface="Arial"/>
            </a:endParaRPr>
          </a:p>
          <a:p>
            <a:pPr defTabSz="457200">
              <a:lnSpc>
                <a:spcPct val="100000"/>
              </a:lnSpc>
            </a:pPr>
            <a:r>
              <a:rPr lang="en-US" sz="1200" b="0" u="none" strike="noStrike">
                <a:solidFill>
                  <a:srgbClr val="0F172A"/>
                </a:solidFill>
                <a:effectLst/>
                <a:uFillTx/>
                <a:latin typeface="Verdana"/>
              </a:rPr>
              <a:t>Convierte las señales de luz en ondas electromagnéticas de RF para distribuirlas por los cables coaxiales de la calle.</a:t>
            </a:r>
            <a:endParaRPr lang="en-US" sz="1200" b="0" u="none" strike="noStrike">
              <a:solidFill>
                <a:srgbClr val="000000"/>
              </a:solidFill>
              <a:effectLst/>
              <a:uFillTx/>
              <a:latin typeface="Arial"/>
            </a:endParaRPr>
          </a:p>
        </p:txBody>
      </p:sp>
      <p:sp>
        <p:nvSpPr>
          <p:cNvPr id="110" name="Rounded Rectangle 10"/>
          <p:cNvSpPr/>
          <p:nvPr/>
        </p:nvSpPr>
        <p:spPr>
          <a:xfrm>
            <a:off x="731520" y="5266800"/>
            <a:ext cx="6217560" cy="1115280"/>
          </a:xfrm>
          <a:prstGeom prst="roundRect">
            <a:avLst>
              <a:gd name="adj" fmla="val 16667"/>
            </a:avLst>
          </a:prstGeom>
          <a:solidFill>
            <a:srgbClr val="FFFFFF"/>
          </a:solidFill>
          <a:ln w="12700">
            <a:solidFill>
              <a:srgbClr val="E2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11" name="TextBox 11"/>
          <p:cNvSpPr/>
          <p:nvPr/>
        </p:nvSpPr>
        <p:spPr>
          <a:xfrm>
            <a:off x="868680" y="5340240"/>
            <a:ext cx="5943240" cy="9597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500" b="1" u="none" strike="noStrike">
                <a:solidFill>
                  <a:srgbClr val="1E40AF"/>
                </a:solidFill>
                <a:effectLst/>
                <a:uFillTx/>
                <a:latin typeface="Georgia"/>
              </a:rPr>
              <a:t>4. Coaxial y Cable Módem</a:t>
            </a:r>
            <a:endParaRPr lang="en-US" sz="1500" b="0" u="none" strike="noStrike">
              <a:solidFill>
                <a:srgbClr val="000000"/>
              </a:solidFill>
              <a:effectLst/>
              <a:uFillTx/>
              <a:latin typeface="Arial"/>
            </a:endParaRPr>
          </a:p>
          <a:p>
            <a:pPr defTabSz="457200">
              <a:lnSpc>
                <a:spcPct val="100000"/>
              </a:lnSpc>
            </a:pPr>
            <a:r>
              <a:rPr lang="en-US" sz="1200" b="0" u="none" strike="noStrike">
                <a:solidFill>
                  <a:srgbClr val="0F172A"/>
                </a:solidFill>
                <a:effectLst/>
                <a:uFillTx/>
                <a:latin typeface="Verdana"/>
              </a:rPr>
              <a:t>El cable coaxial entra al hogar. El Cable Módem demodula las ondas RF y entrega Internet por puerto Ethernet a las PCs/Wi-Fi.</a:t>
            </a:r>
            <a:endParaRPr lang="en-US" sz="1200" b="0" u="none" strike="noStrike">
              <a:solidFill>
                <a:srgbClr val="000000"/>
              </a:solidFill>
              <a:effectLst/>
              <a:uFillTx/>
              <a:latin typeface="Arial"/>
            </a:endParaRPr>
          </a:p>
        </p:txBody>
      </p:sp>
      <p:sp>
        <p:nvSpPr>
          <p:cNvPr id="112" name="Rounded Rectangle 12"/>
          <p:cNvSpPr/>
          <p:nvPr/>
        </p:nvSpPr>
        <p:spPr>
          <a:xfrm>
            <a:off x="7132320" y="1645920"/>
            <a:ext cx="4327560" cy="4845960"/>
          </a:xfrm>
          <a:prstGeom prst="roundRect">
            <a:avLst>
              <a:gd name="adj" fmla="val 16667"/>
            </a:avLst>
          </a:prstGeom>
          <a:solidFill>
            <a:srgbClr val="FFFFFF"/>
          </a:solidFill>
          <a:ln w="12700">
            <a:solidFill>
              <a:srgbClr val="E2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pic>
        <p:nvPicPr>
          <p:cNvPr id="113" name="Picture 13" descr="hfc_field_technician.png"/>
          <p:cNvPicPr/>
          <p:nvPr/>
        </p:nvPicPr>
        <p:blipFill>
          <a:blip r:embed="rId1"/>
          <a:stretch/>
        </p:blipFill>
        <p:spPr>
          <a:xfrm>
            <a:off x="7315200" y="1828800"/>
            <a:ext cx="3961800" cy="2971440"/>
          </a:xfrm>
          <a:prstGeom prst="rect">
            <a:avLst/>
          </a:prstGeom>
          <a:noFill/>
          <a:ln w="0">
            <a:noFill/>
          </a:ln>
        </p:spPr>
      </p:pic>
      <p:sp>
        <p:nvSpPr>
          <p:cNvPr id="114" name="TextBox 14"/>
          <p:cNvSpPr/>
          <p:nvPr/>
        </p:nvSpPr>
        <p:spPr>
          <a:xfrm>
            <a:off x="7315200" y="4892040"/>
            <a:ext cx="3961800" cy="14626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100" b="0" u="none" strike="noStrike">
                <a:solidFill>
                  <a:srgbClr val="475569"/>
                </a:solidFill>
                <a:effectLst/>
                <a:uFillTx/>
                <a:latin typeface="Verdana"/>
              </a:rPr>
              <a:t>Figura 6.1: Técnico de campo en canastilla aérea dando mantenimiento a un nodo óptico HFC y amplificadores de radiofrecuencia en calle [Fuente: Fotografías de Operación de Campo HFC / CableLabs] [15].</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15" name="TextBox 1"/>
          <p:cNvSpPr/>
          <p:nvPr/>
        </p:nvSpPr>
        <p:spPr>
          <a:xfrm>
            <a:off x="731520" y="365760"/>
            <a:ext cx="10698120" cy="3654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00" b="1" u="none" strike="noStrike">
                <a:solidFill>
                  <a:srgbClr val="3B82F6"/>
                </a:solidFill>
                <a:effectLst/>
                <a:uFillTx/>
                <a:latin typeface="Verdana"/>
              </a:rPr>
              <a:t>REDES DE ALTA VELOCIDAD — CABLE MÓDEM</a:t>
            </a:r>
            <a:endParaRPr lang="en-US" sz="1100" b="0" u="none" strike="noStrike">
              <a:solidFill>
                <a:srgbClr val="000000"/>
              </a:solidFill>
              <a:effectLst/>
              <a:uFillTx/>
              <a:latin typeface="Arial"/>
            </a:endParaRPr>
          </a:p>
        </p:txBody>
      </p:sp>
      <p:sp>
        <p:nvSpPr>
          <p:cNvPr id="116" name="TextBox 2"/>
          <p:cNvSpPr/>
          <p:nvPr/>
        </p:nvSpPr>
        <p:spPr>
          <a:xfrm>
            <a:off x="731520" y="685800"/>
            <a:ext cx="10698120" cy="7311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2400" b="1" u="none" strike="noStrike">
                <a:solidFill>
                  <a:srgbClr val="0F172A"/>
                </a:solidFill>
                <a:effectLst/>
                <a:uFillTx/>
                <a:latin typeface="Georgia"/>
              </a:rPr>
              <a:t>Equipos Activos Clave: El Maestro (CMTS) y el Cliente (Cable Módem)</a:t>
            </a:r>
            <a:endParaRPr lang="en-US" sz="2400" b="0" u="none" strike="noStrike">
              <a:solidFill>
                <a:srgbClr val="000000"/>
              </a:solidFill>
              <a:effectLst/>
              <a:uFillTx/>
              <a:latin typeface="Arial"/>
            </a:endParaRPr>
          </a:p>
        </p:txBody>
      </p:sp>
      <p:sp>
        <p:nvSpPr>
          <p:cNvPr id="117" name="Rectangle 3"/>
          <p:cNvSpPr/>
          <p:nvPr/>
        </p:nvSpPr>
        <p:spPr>
          <a:xfrm>
            <a:off x="731520" y="1417320"/>
            <a:ext cx="10728360" cy="25200"/>
          </a:xfrm>
          <a:prstGeom prst="rect">
            <a:avLst/>
          </a:prstGeom>
          <a:solidFill>
            <a:srgbClr val="3B82F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19440" rIns="90000" bIns="-19440" anchor="ctr">
            <a:noAutofit/>
          </a:bodyPr>
          <a:p>
            <a:pPr/>
            <a:endParaRPr lang="en-US" sz="1800" b="0" u="none" strike="noStrike">
              <a:solidFill>
                <a:schemeClr val="lt1"/>
              </a:solidFill>
              <a:effectLst/>
              <a:uFillTx/>
              <a:latin typeface="Calibri"/>
            </a:endParaRPr>
          </a:p>
        </p:txBody>
      </p:sp>
      <p:sp>
        <p:nvSpPr>
          <p:cNvPr id="118" name="Rounded Rectangle 4"/>
          <p:cNvSpPr/>
          <p:nvPr/>
        </p:nvSpPr>
        <p:spPr>
          <a:xfrm>
            <a:off x="731520" y="1645920"/>
            <a:ext cx="4327560" cy="4845960"/>
          </a:xfrm>
          <a:prstGeom prst="roundRect">
            <a:avLst>
              <a:gd name="adj" fmla="val 16667"/>
            </a:avLst>
          </a:prstGeom>
          <a:solidFill>
            <a:srgbClr val="FFFFFF"/>
          </a:solidFill>
          <a:ln w="12700">
            <a:solidFill>
              <a:srgbClr val="E2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pic>
        <p:nvPicPr>
          <p:cNvPr id="119" name="Picture 5" descr="cmts_headend_rack.png"/>
          <p:cNvPicPr/>
          <p:nvPr/>
        </p:nvPicPr>
        <p:blipFill>
          <a:blip r:embed="rId1"/>
          <a:stretch/>
        </p:blipFill>
        <p:spPr>
          <a:xfrm>
            <a:off x="914400" y="1828800"/>
            <a:ext cx="3961800" cy="2971440"/>
          </a:xfrm>
          <a:prstGeom prst="rect">
            <a:avLst/>
          </a:prstGeom>
          <a:noFill/>
          <a:ln w="0">
            <a:noFill/>
          </a:ln>
        </p:spPr>
      </p:pic>
      <p:sp>
        <p:nvSpPr>
          <p:cNvPr id="120" name="TextBox 6"/>
          <p:cNvSpPr/>
          <p:nvPr/>
        </p:nvSpPr>
        <p:spPr>
          <a:xfrm>
            <a:off x="914400" y="4892040"/>
            <a:ext cx="3961800" cy="14626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100" b="0" u="none" strike="noStrike">
                <a:solidFill>
                  <a:srgbClr val="475569"/>
                </a:solidFill>
                <a:effectLst/>
                <a:uFillTx/>
                <a:latin typeface="Verdana"/>
              </a:rPr>
              <a:t>Figura 7.1: Bastidor industrial con chasis CMTS (Cable Modem Termination System) en la cabecera central del operador [Fuente: Archivo de Infraestructura de Cabecera / RFC 4036] [9, 15].</a:t>
            </a:r>
            <a:endParaRPr lang="en-US" sz="1100" b="0" u="none" strike="noStrike">
              <a:solidFill>
                <a:srgbClr val="000000"/>
              </a:solidFill>
              <a:effectLst/>
              <a:uFillTx/>
              <a:latin typeface="Arial"/>
            </a:endParaRPr>
          </a:p>
        </p:txBody>
      </p:sp>
      <p:sp>
        <p:nvSpPr>
          <p:cNvPr id="121" name="Rounded Rectangle 7"/>
          <p:cNvSpPr/>
          <p:nvPr/>
        </p:nvSpPr>
        <p:spPr>
          <a:xfrm>
            <a:off x="5303520" y="1645920"/>
            <a:ext cx="6156360" cy="2285640"/>
          </a:xfrm>
          <a:prstGeom prst="roundRect">
            <a:avLst>
              <a:gd name="adj" fmla="val 16667"/>
            </a:avLst>
          </a:prstGeom>
          <a:solidFill>
            <a:srgbClr val="FFFFFF"/>
          </a:solidFill>
          <a:ln w="12700">
            <a:solidFill>
              <a:srgbClr val="E2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22" name="TextBox 8"/>
          <p:cNvSpPr/>
          <p:nvPr/>
        </p:nvSpPr>
        <p:spPr>
          <a:xfrm>
            <a:off x="5486400" y="1755720"/>
            <a:ext cx="5790600" cy="2066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1" u="none" strike="noStrike">
                <a:solidFill>
                  <a:srgbClr val="1E40AF"/>
                </a:solidFill>
                <a:effectLst/>
                <a:uFillTx/>
                <a:latin typeface="Georgia"/>
              </a:rPr>
              <a:t>1. CMTS (Cable Modem Termination System)</a:t>
            </a:r>
            <a:endParaRPr lang="en-US" sz="1600" b="0" u="none" strike="noStrike">
              <a:solidFill>
                <a:srgbClr val="000000"/>
              </a:solidFill>
              <a:effectLst/>
              <a:uFillTx/>
              <a:latin typeface="Arial"/>
            </a:endParaRPr>
          </a:p>
          <a:p>
            <a:pPr defTabSz="457200">
              <a:lnSpc>
                <a:spcPct val="100000"/>
              </a:lnSpc>
              <a:spcAft>
                <a:spcPts val="201"/>
              </a:spcAft>
            </a:pPr>
            <a:r>
              <a:rPr lang="en-US" sz="1200" b="0" u="none" strike="noStrike">
                <a:solidFill>
                  <a:srgbClr val="0F172A"/>
                </a:solidFill>
                <a:effectLst/>
                <a:uFillTx/>
                <a:latin typeface="Verdana"/>
              </a:rPr>
              <a:t>• Ubicación: Cabecera del operador (Headend).</a:t>
            </a:r>
            <a:endParaRPr lang="en-US" sz="1200" b="0" u="none" strike="noStrike">
              <a:solidFill>
                <a:srgbClr val="000000"/>
              </a:solidFill>
              <a:effectLst/>
              <a:uFillTx/>
              <a:latin typeface="Arial"/>
            </a:endParaRPr>
          </a:p>
          <a:p>
            <a:pPr defTabSz="457200">
              <a:lnSpc>
                <a:spcPct val="100000"/>
              </a:lnSpc>
              <a:spcAft>
                <a:spcPts val="201"/>
              </a:spcAft>
            </a:pPr>
            <a:r>
              <a:rPr lang="en-US" sz="1200" b="0" u="none" strike="noStrike">
                <a:solidFill>
                  <a:srgbClr val="0F172A"/>
                </a:solidFill>
                <a:effectLst/>
                <a:uFillTx/>
                <a:latin typeface="Verdana"/>
              </a:rPr>
              <a:t>• Función: Es el nodo maestro. Recibe la red troncal de Internet y asigna frecuencias y tiempos a miles de módems.</a:t>
            </a:r>
            <a:endParaRPr lang="en-US" sz="1200" b="0" u="none" strike="noStrike">
              <a:solidFill>
                <a:srgbClr val="000000"/>
              </a:solidFill>
              <a:effectLst/>
              <a:uFillTx/>
              <a:latin typeface="Arial"/>
            </a:endParaRPr>
          </a:p>
          <a:p>
            <a:pPr defTabSz="457200">
              <a:lnSpc>
                <a:spcPct val="100000"/>
              </a:lnSpc>
              <a:spcAft>
                <a:spcPts val="201"/>
              </a:spcAft>
            </a:pPr>
            <a:r>
              <a:rPr lang="en-US" sz="1200" b="0" u="none" strike="noStrike">
                <a:solidFill>
                  <a:srgbClr val="0F172A"/>
                </a:solidFill>
                <a:effectLst/>
                <a:uFillTx/>
                <a:latin typeface="Verdana"/>
              </a:rPr>
              <a:t>• Evita Colisiones: Usa TDMA (Multiplexación por División de Tiempo) y S-CDMA para organizar las transmisiones de subida de los usuarios.</a:t>
            </a:r>
            <a:endParaRPr lang="en-US" sz="1200" b="0" u="none" strike="noStrike">
              <a:solidFill>
                <a:srgbClr val="000000"/>
              </a:solidFill>
              <a:effectLst/>
              <a:uFillTx/>
              <a:latin typeface="Arial"/>
            </a:endParaRPr>
          </a:p>
        </p:txBody>
      </p:sp>
      <p:sp>
        <p:nvSpPr>
          <p:cNvPr id="123" name="Rounded Rectangle 9"/>
          <p:cNvSpPr/>
          <p:nvPr/>
        </p:nvSpPr>
        <p:spPr>
          <a:xfrm>
            <a:off x="5303520" y="4114800"/>
            <a:ext cx="6156360" cy="2285640"/>
          </a:xfrm>
          <a:prstGeom prst="roundRect">
            <a:avLst>
              <a:gd name="adj" fmla="val 16667"/>
            </a:avLst>
          </a:prstGeom>
          <a:solidFill>
            <a:srgbClr val="FFFFFF"/>
          </a:solidFill>
          <a:ln w="12700">
            <a:solidFill>
              <a:srgbClr val="E2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24" name="TextBox 10"/>
          <p:cNvSpPr/>
          <p:nvPr/>
        </p:nvSpPr>
        <p:spPr>
          <a:xfrm>
            <a:off x="5486400" y="4224600"/>
            <a:ext cx="5790600" cy="2066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1" u="none" strike="noStrike">
                <a:solidFill>
                  <a:srgbClr val="1E40AF"/>
                </a:solidFill>
                <a:effectLst/>
                <a:uFillTx/>
                <a:latin typeface="Georgia"/>
              </a:rPr>
              <a:t>2. Cable Módem (CM - Lado del Usuario)</a:t>
            </a:r>
            <a:endParaRPr lang="en-US" sz="1600" b="0" u="none" strike="noStrike">
              <a:solidFill>
                <a:srgbClr val="000000"/>
              </a:solidFill>
              <a:effectLst/>
              <a:uFillTx/>
              <a:latin typeface="Arial"/>
            </a:endParaRPr>
          </a:p>
          <a:p>
            <a:pPr defTabSz="457200">
              <a:lnSpc>
                <a:spcPct val="100000"/>
              </a:lnSpc>
              <a:spcAft>
                <a:spcPts val="201"/>
              </a:spcAft>
            </a:pPr>
            <a:r>
              <a:rPr lang="en-US" sz="1200" b="0" u="none" strike="noStrike">
                <a:solidFill>
                  <a:srgbClr val="0F172A"/>
                </a:solidFill>
                <a:effectLst/>
                <a:uFillTx/>
                <a:latin typeface="Verdana"/>
              </a:rPr>
              <a:t>• Ubicación: Hogar del suscriptor.</a:t>
            </a:r>
            <a:endParaRPr lang="en-US" sz="1200" b="0" u="none" strike="noStrike">
              <a:solidFill>
                <a:srgbClr val="000000"/>
              </a:solidFill>
              <a:effectLst/>
              <a:uFillTx/>
              <a:latin typeface="Arial"/>
            </a:endParaRPr>
          </a:p>
          <a:p>
            <a:pPr defTabSz="457200">
              <a:lnSpc>
                <a:spcPct val="100000"/>
              </a:lnSpc>
              <a:spcAft>
                <a:spcPts val="201"/>
              </a:spcAft>
            </a:pPr>
            <a:r>
              <a:rPr lang="en-US" sz="1200" b="0" u="none" strike="noStrike">
                <a:solidFill>
                  <a:srgbClr val="0F172A"/>
                </a:solidFill>
                <a:effectLst/>
                <a:uFillTx/>
                <a:latin typeface="Verdana"/>
              </a:rPr>
              <a:t>• Función: Es un puente de red (bridge). Demodula la señal de radiofrecuencia (RF) del cable coaxial a tramas Ethernet IP.</a:t>
            </a:r>
            <a:endParaRPr lang="en-US" sz="1200" b="0" u="none" strike="noStrike">
              <a:solidFill>
                <a:srgbClr val="000000"/>
              </a:solidFill>
              <a:effectLst/>
              <a:uFillTx/>
              <a:latin typeface="Arial"/>
            </a:endParaRPr>
          </a:p>
          <a:p>
            <a:pPr defTabSz="457200">
              <a:lnSpc>
                <a:spcPct val="100000"/>
              </a:lnSpc>
              <a:spcAft>
                <a:spcPts val="201"/>
              </a:spcAft>
            </a:pPr>
            <a:r>
              <a:rPr lang="en-US" sz="1200" b="0" u="none" strike="noStrike">
                <a:solidFill>
                  <a:srgbClr val="0F172A"/>
                </a:solidFill>
                <a:effectLst/>
                <a:uFillTx/>
                <a:latin typeface="Verdana"/>
              </a:rPr>
              <a:t>• Asimetría de Frecuencias:</a:t>
            </a:r>
            <a:endParaRPr lang="en-US" sz="1200" b="0" u="none" strike="noStrike">
              <a:solidFill>
                <a:srgbClr val="000000"/>
              </a:solidFill>
              <a:effectLst/>
              <a:uFillTx/>
              <a:latin typeface="Arial"/>
            </a:endParaRPr>
          </a:p>
          <a:p>
            <a:pPr defTabSz="457200">
              <a:lnSpc>
                <a:spcPct val="100000"/>
              </a:lnSpc>
              <a:spcAft>
                <a:spcPts val="201"/>
              </a:spcAft>
            </a:pPr>
            <a:r>
              <a:rPr lang="en-US" sz="1200" b="0" u="none" strike="noStrike">
                <a:solidFill>
                  <a:srgbClr val="0F172A"/>
                </a:solidFill>
                <a:effectLst/>
                <a:uFillTx/>
                <a:latin typeface="Verdana"/>
              </a:rPr>
              <a:t>  - Downstream (Bajada): 50-860 MHz (64/256-QAM o OFDM).</a:t>
            </a:r>
            <a:endParaRPr lang="en-US" sz="1200" b="0" u="none" strike="noStrike">
              <a:solidFill>
                <a:srgbClr val="000000"/>
              </a:solidFill>
              <a:effectLst/>
              <a:uFillTx/>
              <a:latin typeface="Arial"/>
            </a:endParaRPr>
          </a:p>
          <a:p>
            <a:pPr defTabSz="457200">
              <a:lnSpc>
                <a:spcPct val="100000"/>
              </a:lnSpc>
              <a:spcAft>
                <a:spcPts val="201"/>
              </a:spcAft>
            </a:pPr>
            <a:r>
              <a:rPr lang="en-US" sz="1200" b="0" u="none" strike="noStrike">
                <a:solidFill>
                  <a:srgbClr val="0F172A"/>
                </a:solidFill>
                <a:effectLst/>
                <a:uFillTx/>
                <a:latin typeface="Verdana"/>
              </a:rPr>
              <a:t>  - Upstream (Subida): 5-42 MHz (QPSK / 16-QAM o OFDMA).</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25" name="TextBox 1"/>
          <p:cNvSpPr/>
          <p:nvPr/>
        </p:nvSpPr>
        <p:spPr>
          <a:xfrm>
            <a:off x="731520" y="365760"/>
            <a:ext cx="10698120" cy="3654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00" b="1" u="none" strike="noStrike">
                <a:solidFill>
                  <a:srgbClr val="3B82F6"/>
                </a:solidFill>
                <a:effectLst/>
                <a:uFillTx/>
                <a:latin typeface="Verdana"/>
              </a:rPr>
              <a:t>REDES DE ALTA VELOCIDAD — CABLE MÓDEM</a:t>
            </a:r>
            <a:endParaRPr lang="en-US" sz="1100" b="0" u="none" strike="noStrike">
              <a:solidFill>
                <a:srgbClr val="000000"/>
              </a:solidFill>
              <a:effectLst/>
              <a:uFillTx/>
              <a:latin typeface="Arial"/>
            </a:endParaRPr>
          </a:p>
        </p:txBody>
      </p:sp>
      <p:sp>
        <p:nvSpPr>
          <p:cNvPr id="126" name="TextBox 2"/>
          <p:cNvSpPr/>
          <p:nvPr/>
        </p:nvSpPr>
        <p:spPr>
          <a:xfrm>
            <a:off x="731520" y="685800"/>
            <a:ext cx="10698120" cy="7311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2400" b="1" u="none" strike="noStrike">
                <a:solidFill>
                  <a:srgbClr val="0F172A"/>
                </a:solidFill>
                <a:effectLst/>
                <a:uFillTx/>
                <a:latin typeface="Georgia"/>
              </a:rPr>
              <a:t>Estandarización Global: De LANcity a CableLabs (DOCSIS) y la ITU-T</a:t>
            </a:r>
            <a:endParaRPr lang="en-US" sz="2400" b="0" u="none" strike="noStrike">
              <a:solidFill>
                <a:srgbClr val="000000"/>
              </a:solidFill>
              <a:effectLst/>
              <a:uFillTx/>
              <a:latin typeface="Arial"/>
            </a:endParaRPr>
          </a:p>
        </p:txBody>
      </p:sp>
      <p:sp>
        <p:nvSpPr>
          <p:cNvPr id="127" name="Rectangle 3"/>
          <p:cNvSpPr/>
          <p:nvPr/>
        </p:nvSpPr>
        <p:spPr>
          <a:xfrm>
            <a:off x="731520" y="1417320"/>
            <a:ext cx="10728360" cy="25200"/>
          </a:xfrm>
          <a:prstGeom prst="rect">
            <a:avLst/>
          </a:prstGeom>
          <a:solidFill>
            <a:srgbClr val="3B82F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19440" rIns="90000" bIns="-19440" anchor="ctr">
            <a:noAutofit/>
          </a:bodyPr>
          <a:p>
            <a:pPr/>
            <a:endParaRPr lang="en-US" sz="1800" b="0" u="none" strike="noStrike">
              <a:solidFill>
                <a:schemeClr val="lt1"/>
              </a:solidFill>
              <a:effectLst/>
              <a:uFillTx/>
              <a:latin typeface="Calibri"/>
            </a:endParaRPr>
          </a:p>
        </p:txBody>
      </p:sp>
      <p:sp>
        <p:nvSpPr>
          <p:cNvPr id="128" name="Rounded Rectangle 4"/>
          <p:cNvSpPr/>
          <p:nvPr/>
        </p:nvSpPr>
        <p:spPr>
          <a:xfrm>
            <a:off x="731520" y="1645920"/>
            <a:ext cx="10728360" cy="1444320"/>
          </a:xfrm>
          <a:prstGeom prst="roundRect">
            <a:avLst>
              <a:gd name="adj" fmla="val 16667"/>
            </a:avLst>
          </a:prstGeom>
          <a:solidFill>
            <a:srgbClr val="FFFFFF"/>
          </a:solidFill>
          <a:ln w="12700">
            <a:solidFill>
              <a:srgbClr val="E2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29" name="TextBox 5"/>
          <p:cNvSpPr/>
          <p:nvPr/>
        </p:nvSpPr>
        <p:spPr>
          <a:xfrm>
            <a:off x="914400" y="1755720"/>
            <a:ext cx="10362600" cy="12340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400"/>
              </a:spcAft>
            </a:pPr>
            <a:r>
              <a:rPr lang="en-US" sz="1700" b="1" u="none" strike="noStrike">
                <a:solidFill>
                  <a:srgbClr val="1E40AF"/>
                </a:solidFill>
                <a:effectLst/>
                <a:uFillTx/>
                <a:latin typeface="Georgia"/>
              </a:rPr>
              <a:t>1. Fundación de CableLabs</a:t>
            </a:r>
            <a:endParaRPr lang="en-US" sz="1700" b="0" u="none" strike="noStrike">
              <a:solidFill>
                <a:srgbClr val="000000"/>
              </a:solidFill>
              <a:effectLst/>
              <a:uFillTx/>
              <a:latin typeface="Arial"/>
            </a:endParaRPr>
          </a:p>
          <a:p>
            <a:pPr defTabSz="457200">
              <a:lnSpc>
                <a:spcPct val="100000"/>
              </a:lnSpc>
            </a:pPr>
            <a:r>
              <a:rPr lang="en-US" sz="1300" b="0" u="none" strike="noStrike">
                <a:solidFill>
                  <a:srgbClr val="0F172A"/>
                </a:solidFill>
                <a:effectLst/>
                <a:uFillTx/>
                <a:latin typeface="Verdana"/>
              </a:rPr>
              <a:t>Los grandes operadores de cable (Comcast, Cox, Time Warner) se unieron para evitar que cada fabricante creara un sistema propietario incompatible.</a:t>
            </a:r>
            <a:endParaRPr lang="en-US" sz="1300" b="0" u="none" strike="noStrike">
              <a:solidFill>
                <a:srgbClr val="000000"/>
              </a:solidFill>
              <a:effectLst/>
              <a:uFillTx/>
              <a:latin typeface="Arial"/>
            </a:endParaRPr>
          </a:p>
        </p:txBody>
      </p:sp>
      <p:sp>
        <p:nvSpPr>
          <p:cNvPr id="130" name="Rounded Rectangle 6"/>
          <p:cNvSpPr/>
          <p:nvPr/>
        </p:nvSpPr>
        <p:spPr>
          <a:xfrm>
            <a:off x="731520" y="3246120"/>
            <a:ext cx="10728360" cy="1444320"/>
          </a:xfrm>
          <a:prstGeom prst="roundRect">
            <a:avLst>
              <a:gd name="adj" fmla="val 16667"/>
            </a:avLst>
          </a:prstGeom>
          <a:solidFill>
            <a:srgbClr val="FFFFFF"/>
          </a:solidFill>
          <a:ln w="12700">
            <a:solidFill>
              <a:srgbClr val="E2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31" name="TextBox 7"/>
          <p:cNvSpPr/>
          <p:nvPr/>
        </p:nvSpPr>
        <p:spPr>
          <a:xfrm>
            <a:off x="914400" y="3355920"/>
            <a:ext cx="10362600" cy="12340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400"/>
              </a:spcAft>
            </a:pPr>
            <a:r>
              <a:rPr lang="en-US" sz="1700" b="1" u="none" strike="noStrike">
                <a:solidFill>
                  <a:srgbClr val="1E40AF"/>
                </a:solidFill>
                <a:effectLst/>
                <a:uFillTx/>
                <a:latin typeface="Georgia"/>
              </a:rPr>
              <a:t>2. Adopción del Estándar DOCSIS 1.0 (1997)</a:t>
            </a:r>
            <a:endParaRPr lang="en-US" sz="1700" b="0" u="none" strike="noStrike">
              <a:solidFill>
                <a:srgbClr val="000000"/>
              </a:solidFill>
              <a:effectLst/>
              <a:uFillTx/>
              <a:latin typeface="Arial"/>
            </a:endParaRPr>
          </a:p>
          <a:p>
            <a:pPr defTabSz="457200">
              <a:lnSpc>
                <a:spcPct val="100000"/>
              </a:lnSpc>
            </a:pPr>
            <a:r>
              <a:rPr lang="en-US" sz="1300" b="0" u="none" strike="noStrike">
                <a:solidFill>
                  <a:srgbClr val="0F172A"/>
                </a:solidFill>
                <a:effectLst/>
                <a:uFillTx/>
                <a:latin typeface="Verdana"/>
              </a:rPr>
              <a:t>LANcity donó su protocolo MAC (UNI Link) libre de regalías. DOCSIS (Data Over Cable Service Interface Specification) garantizó que cualquier módem funcionara en cualquier red.</a:t>
            </a:r>
            <a:endParaRPr lang="en-US" sz="1300" b="0" u="none" strike="noStrike">
              <a:solidFill>
                <a:srgbClr val="000000"/>
              </a:solidFill>
              <a:effectLst/>
              <a:uFillTx/>
              <a:latin typeface="Arial"/>
            </a:endParaRPr>
          </a:p>
        </p:txBody>
      </p:sp>
      <p:sp>
        <p:nvSpPr>
          <p:cNvPr id="132" name="Rounded Rectangle 8"/>
          <p:cNvSpPr/>
          <p:nvPr/>
        </p:nvSpPr>
        <p:spPr>
          <a:xfrm>
            <a:off x="731520" y="4846320"/>
            <a:ext cx="10728360" cy="1444320"/>
          </a:xfrm>
          <a:prstGeom prst="roundRect">
            <a:avLst>
              <a:gd name="adj" fmla="val 16667"/>
            </a:avLst>
          </a:prstGeom>
          <a:solidFill>
            <a:srgbClr val="FFFFFF"/>
          </a:solidFill>
          <a:ln w="12700">
            <a:solidFill>
              <a:srgbClr val="E2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33" name="TextBox 9"/>
          <p:cNvSpPr/>
          <p:nvPr/>
        </p:nvSpPr>
        <p:spPr>
          <a:xfrm>
            <a:off x="914400" y="4956120"/>
            <a:ext cx="10362600" cy="12340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400"/>
              </a:spcAft>
            </a:pPr>
            <a:r>
              <a:rPr lang="en-US" sz="1700" b="1" u="none" strike="noStrike">
                <a:solidFill>
                  <a:srgbClr val="1E40AF"/>
                </a:solidFill>
                <a:effectLst/>
                <a:uFillTx/>
                <a:latin typeface="Georgia"/>
              </a:rPr>
              <a:t>3. Ratificación Internacional ITU-T</a:t>
            </a:r>
            <a:endParaRPr lang="en-US" sz="1700" b="0" u="none" strike="noStrike">
              <a:solidFill>
                <a:srgbClr val="000000"/>
              </a:solidFill>
              <a:effectLst/>
              <a:uFillTx/>
              <a:latin typeface="Arial"/>
            </a:endParaRPr>
          </a:p>
          <a:p>
            <a:pPr defTabSz="457200">
              <a:lnSpc>
                <a:spcPct val="100000"/>
              </a:lnSpc>
            </a:pPr>
            <a:r>
              <a:rPr lang="en-US" sz="1300" b="0" u="none" strike="noStrike">
                <a:solidFill>
                  <a:srgbClr val="0F172A"/>
                </a:solidFill>
                <a:effectLst/>
                <a:uFillTx/>
                <a:latin typeface="Verdana"/>
              </a:rPr>
              <a:t>La Unión Internacional de Telecomunicaciones aprobó DOCSIS a nivel mundial en las Recomendaciones Serie J (ITU-T J.112, J.122, J.222, J.224).</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34" name="TextBox 1"/>
          <p:cNvSpPr/>
          <p:nvPr/>
        </p:nvSpPr>
        <p:spPr>
          <a:xfrm>
            <a:off x="731520" y="365760"/>
            <a:ext cx="10698120" cy="3654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00" b="1" u="none" strike="noStrike">
                <a:solidFill>
                  <a:srgbClr val="3B82F6"/>
                </a:solidFill>
                <a:effectLst/>
                <a:uFillTx/>
                <a:latin typeface="Verdana"/>
              </a:rPr>
              <a:t>REDES DE ALTA VELOCIDAD — CABLE MÓDEM</a:t>
            </a:r>
            <a:endParaRPr lang="en-US" sz="1100" b="0" u="none" strike="noStrike">
              <a:solidFill>
                <a:srgbClr val="000000"/>
              </a:solidFill>
              <a:effectLst/>
              <a:uFillTx/>
              <a:latin typeface="Arial"/>
            </a:endParaRPr>
          </a:p>
        </p:txBody>
      </p:sp>
      <p:sp>
        <p:nvSpPr>
          <p:cNvPr id="135" name="TextBox 2"/>
          <p:cNvSpPr/>
          <p:nvPr/>
        </p:nvSpPr>
        <p:spPr>
          <a:xfrm>
            <a:off x="731520" y="685800"/>
            <a:ext cx="10698120" cy="7311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2400" b="1" u="none" strike="noStrike">
                <a:solidFill>
                  <a:srgbClr val="0F172A"/>
                </a:solidFill>
                <a:effectLst/>
                <a:uFillTx/>
                <a:latin typeface="Georgia"/>
              </a:rPr>
              <a:t>Evolución Tecnológica de DOCSIS: De 38 Mbps a 10 Gbps Simétricos</a:t>
            </a:r>
            <a:endParaRPr lang="en-US" sz="2400" b="0" u="none" strike="noStrike">
              <a:solidFill>
                <a:srgbClr val="000000"/>
              </a:solidFill>
              <a:effectLst/>
              <a:uFillTx/>
              <a:latin typeface="Arial"/>
            </a:endParaRPr>
          </a:p>
        </p:txBody>
      </p:sp>
      <p:sp>
        <p:nvSpPr>
          <p:cNvPr id="136" name="Rectangle 3"/>
          <p:cNvSpPr/>
          <p:nvPr/>
        </p:nvSpPr>
        <p:spPr>
          <a:xfrm>
            <a:off x="731520" y="1417320"/>
            <a:ext cx="10728360" cy="25200"/>
          </a:xfrm>
          <a:prstGeom prst="rect">
            <a:avLst/>
          </a:prstGeom>
          <a:solidFill>
            <a:srgbClr val="3B82F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19440" rIns="90000" bIns="-19440" anchor="ctr">
            <a:noAutofit/>
          </a:bodyPr>
          <a:p>
            <a:pPr/>
            <a:endParaRPr lang="en-US" sz="1800" b="0" u="none" strike="noStrike">
              <a:solidFill>
                <a:schemeClr val="lt1"/>
              </a:solidFill>
              <a:effectLst/>
              <a:uFillTx/>
              <a:latin typeface="Calibri"/>
            </a:endParaRPr>
          </a:p>
        </p:txBody>
      </p:sp>
      <p:graphicFrame>
        <p:nvGraphicFramePr>
          <p:cNvPr id="137" name="Table 4"/>
          <p:cNvGraphicFramePr/>
          <p:nvPr/>
        </p:nvGraphicFramePr>
        <p:xfrm>
          <a:off x="731520" y="1645920"/>
          <a:ext cx="10728360" cy="4663080"/>
        </p:xfrm>
        <a:graphic>
          <a:graphicData uri="http://schemas.openxmlformats.org/drawingml/2006/table">
            <a:tbl>
              <a:tblPr/>
              <a:tblGrid>
                <a:gridCol w="1645920"/>
                <a:gridCol w="1097280"/>
                <a:gridCol w="2011680"/>
                <a:gridCol w="2011680"/>
                <a:gridCol w="3961800"/>
              </a:tblGrid>
              <a:tr h="666000">
                <a:tc>
                  <a:txBody>
                    <a:bodyPr anchor="t">
                      <a:noAutofit/>
                    </a:bodyPr>
                    <a:p>
                      <a:pPr defTabSz="457200">
                        <a:lnSpc>
                          <a:spcPct val="100000"/>
                        </a:lnSpc>
                      </a:pPr>
                      <a:r>
                        <a:rPr lang="en-US" sz="1300" b="1" u="none" strike="noStrike">
                          <a:solidFill>
                            <a:srgbClr val="FFFFFF"/>
                          </a:solidFill>
                          <a:effectLst/>
                          <a:uFillTx/>
                          <a:latin typeface="Georgia"/>
                        </a:rPr>
                        <a:t>Versión</a:t>
                      </a:r>
                      <a:endParaRPr lang="en-US" sz="1300" b="0" u="none" strike="noStrike">
                        <a:solidFill>
                          <a:srgbClr val="FFFFFF"/>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E40AF"/>
                    </a:solidFill>
                  </a:tcPr>
                </a:tc>
                <a:tc>
                  <a:txBody>
                    <a:bodyPr anchor="t">
                      <a:noAutofit/>
                    </a:bodyPr>
                    <a:p>
                      <a:pPr defTabSz="457200">
                        <a:lnSpc>
                          <a:spcPct val="100000"/>
                        </a:lnSpc>
                      </a:pPr>
                      <a:r>
                        <a:rPr lang="en-US" sz="1300" b="1" u="none" strike="noStrike">
                          <a:solidFill>
                            <a:srgbClr val="FFFFFF"/>
                          </a:solidFill>
                          <a:effectLst/>
                          <a:uFillTx/>
                          <a:latin typeface="Georgia"/>
                        </a:rPr>
                        <a:t>Año</a:t>
                      </a:r>
                      <a:endParaRPr lang="en-US" sz="1300" b="0" u="none" strike="noStrike">
                        <a:solidFill>
                          <a:srgbClr val="FFFFFF"/>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E40AF"/>
                    </a:solidFill>
                  </a:tcPr>
                </a:tc>
                <a:tc>
                  <a:txBody>
                    <a:bodyPr anchor="t">
                      <a:noAutofit/>
                    </a:bodyPr>
                    <a:p>
                      <a:pPr defTabSz="457200">
                        <a:lnSpc>
                          <a:spcPct val="100000"/>
                        </a:lnSpc>
                      </a:pPr>
                      <a:r>
                        <a:rPr lang="en-US" sz="1300" b="1" u="none" strike="noStrike">
                          <a:solidFill>
                            <a:srgbClr val="FFFFFF"/>
                          </a:solidFill>
                          <a:effectLst/>
                          <a:uFillTx/>
                          <a:latin typeface="Georgia"/>
                        </a:rPr>
                        <a:t>Bajada (Downstream)</a:t>
                      </a:r>
                      <a:endParaRPr lang="en-US" sz="1300" b="0" u="none" strike="noStrike">
                        <a:solidFill>
                          <a:srgbClr val="FFFFFF"/>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E40AF"/>
                    </a:solidFill>
                  </a:tcPr>
                </a:tc>
                <a:tc>
                  <a:txBody>
                    <a:bodyPr anchor="t">
                      <a:noAutofit/>
                    </a:bodyPr>
                    <a:p>
                      <a:pPr defTabSz="457200">
                        <a:lnSpc>
                          <a:spcPct val="100000"/>
                        </a:lnSpc>
                      </a:pPr>
                      <a:r>
                        <a:rPr lang="en-US" sz="1300" b="1" u="none" strike="noStrike">
                          <a:solidFill>
                            <a:srgbClr val="FFFFFF"/>
                          </a:solidFill>
                          <a:effectLst/>
                          <a:uFillTx/>
                          <a:latin typeface="Georgia"/>
                        </a:rPr>
                        <a:t>Subida (Upstream)</a:t>
                      </a:r>
                      <a:endParaRPr lang="en-US" sz="1300" b="0" u="none" strike="noStrike">
                        <a:solidFill>
                          <a:srgbClr val="FFFFFF"/>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E40AF"/>
                    </a:solidFill>
                  </a:tcPr>
                </a:tc>
                <a:tc>
                  <a:txBody>
                    <a:bodyPr anchor="t">
                      <a:noAutofit/>
                    </a:bodyPr>
                    <a:p>
                      <a:pPr defTabSz="457200">
                        <a:lnSpc>
                          <a:spcPct val="100000"/>
                        </a:lnSpc>
                      </a:pPr>
                      <a:r>
                        <a:rPr lang="en-US" sz="1300" b="1" u="none" strike="noStrike">
                          <a:solidFill>
                            <a:srgbClr val="FFFFFF"/>
                          </a:solidFill>
                          <a:effectLst/>
                          <a:uFillTx/>
                          <a:latin typeface="Georgia"/>
                        </a:rPr>
                        <a:t>Innovación Tecnológica Clave</a:t>
                      </a:r>
                      <a:endParaRPr lang="en-US" sz="1300" b="0" u="none" strike="noStrike">
                        <a:solidFill>
                          <a:srgbClr val="FFFFFF"/>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E40AF"/>
                    </a:solidFill>
                  </a:tcPr>
                </a:tc>
              </a:tr>
              <a:tr h="666000">
                <a:tc>
                  <a:txBody>
                    <a:bodyPr anchor="t">
                      <a:noAutofit/>
                    </a:bodyPr>
                    <a:p>
                      <a:pPr defTabSz="457200">
                        <a:lnSpc>
                          <a:spcPct val="100000"/>
                        </a:lnSpc>
                      </a:pPr>
                      <a:r>
                        <a:rPr lang="en-US" sz="1100" b="1" u="none" strike="noStrike">
                          <a:solidFill>
                            <a:srgbClr val="0F172A"/>
                          </a:solidFill>
                          <a:effectLst/>
                          <a:uFillTx/>
                          <a:latin typeface="Verdana"/>
                        </a:rPr>
                        <a:t>DOCSIS 1.0 / 1.1</a:t>
                      </a:r>
                      <a:endParaRPr lang="en-US" sz="11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nchor="t">
                      <a:noAutofit/>
                    </a:bodyPr>
                    <a:p>
                      <a:pPr defTabSz="457200">
                        <a:lnSpc>
                          <a:spcPct val="100000"/>
                        </a:lnSpc>
                      </a:pPr>
                      <a:r>
                        <a:rPr lang="en-US" sz="1100" b="1" u="none" strike="noStrike">
                          <a:solidFill>
                            <a:srgbClr val="0F172A"/>
                          </a:solidFill>
                          <a:effectLst/>
                          <a:uFillTx/>
                          <a:latin typeface="Verdana"/>
                        </a:rPr>
                        <a:t>1997-99</a:t>
                      </a:r>
                      <a:endParaRPr lang="en-US" sz="11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nchor="t">
                      <a:noAutofit/>
                    </a:bodyPr>
                    <a:p>
                      <a:pPr defTabSz="457200">
                        <a:lnSpc>
                          <a:spcPct val="100000"/>
                        </a:lnSpc>
                      </a:pPr>
                      <a:r>
                        <a:rPr lang="en-US" sz="1100" b="0" u="none" strike="noStrike">
                          <a:solidFill>
                            <a:srgbClr val="0F172A"/>
                          </a:solidFill>
                          <a:effectLst/>
                          <a:uFillTx/>
                          <a:latin typeface="Verdana"/>
                        </a:rPr>
                        <a:t>38 Mbps</a:t>
                      </a:r>
                      <a:endParaRPr lang="en-US" sz="11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nchor="t">
                      <a:noAutofit/>
                    </a:bodyPr>
                    <a:p>
                      <a:pPr defTabSz="457200">
                        <a:lnSpc>
                          <a:spcPct val="100000"/>
                        </a:lnSpc>
                      </a:pPr>
                      <a:r>
                        <a:rPr lang="en-US" sz="1100" b="0" u="none" strike="noStrike">
                          <a:solidFill>
                            <a:srgbClr val="0F172A"/>
                          </a:solidFill>
                          <a:effectLst/>
                          <a:uFillTx/>
                          <a:latin typeface="Verdana"/>
                        </a:rPr>
                        <a:t>10 Mbps</a:t>
                      </a:r>
                      <a:endParaRPr lang="en-US" sz="11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nchor="t">
                      <a:noAutofit/>
                    </a:bodyPr>
                    <a:p>
                      <a:pPr defTabSz="457200">
                        <a:lnSpc>
                          <a:spcPct val="100000"/>
                        </a:lnSpc>
                      </a:pPr>
                      <a:r>
                        <a:rPr lang="en-US" sz="1100" b="0" u="none" strike="noStrike">
                          <a:solidFill>
                            <a:srgbClr val="0F172A"/>
                          </a:solidFill>
                          <a:effectLst/>
                          <a:uFillTx/>
                          <a:latin typeface="Verdana"/>
                        </a:rPr>
                        <a:t>Primer estándar abierto de datos sobre HFC. Adición de QoS para llamadas de Voz sobre IP (VoIP).</a:t>
                      </a:r>
                      <a:endParaRPr lang="en-US" sz="11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666000">
                <a:tc>
                  <a:txBody>
                    <a:bodyPr anchor="t">
                      <a:noAutofit/>
                    </a:bodyPr>
                    <a:p>
                      <a:pPr defTabSz="457200">
                        <a:lnSpc>
                          <a:spcPct val="100000"/>
                        </a:lnSpc>
                      </a:pPr>
                      <a:r>
                        <a:rPr lang="en-US" sz="1100" b="1" u="none" strike="noStrike">
                          <a:solidFill>
                            <a:srgbClr val="0F172A"/>
                          </a:solidFill>
                          <a:effectLst/>
                          <a:uFillTx/>
                          <a:latin typeface="Verdana"/>
                        </a:rPr>
                        <a:t>DOCSIS 2.0</a:t>
                      </a:r>
                      <a:endParaRPr lang="en-US" sz="11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1F5F9"/>
                    </a:solidFill>
                  </a:tcPr>
                </a:tc>
                <a:tc>
                  <a:txBody>
                    <a:bodyPr anchor="t">
                      <a:noAutofit/>
                    </a:bodyPr>
                    <a:p>
                      <a:pPr defTabSz="457200">
                        <a:lnSpc>
                          <a:spcPct val="100000"/>
                        </a:lnSpc>
                      </a:pPr>
                      <a:r>
                        <a:rPr lang="en-US" sz="1100" b="1" u="none" strike="noStrike">
                          <a:solidFill>
                            <a:srgbClr val="0F172A"/>
                          </a:solidFill>
                          <a:effectLst/>
                          <a:uFillTx/>
                          <a:latin typeface="Verdana"/>
                        </a:rPr>
                        <a:t>2001</a:t>
                      </a:r>
                      <a:endParaRPr lang="en-US" sz="11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1F5F9"/>
                    </a:solidFill>
                  </a:tcPr>
                </a:tc>
                <a:tc>
                  <a:txBody>
                    <a:bodyPr anchor="t">
                      <a:noAutofit/>
                    </a:bodyPr>
                    <a:p>
                      <a:pPr defTabSz="457200">
                        <a:lnSpc>
                          <a:spcPct val="100000"/>
                        </a:lnSpc>
                      </a:pPr>
                      <a:r>
                        <a:rPr lang="en-US" sz="1100" b="0" u="none" strike="noStrike">
                          <a:solidFill>
                            <a:srgbClr val="0F172A"/>
                          </a:solidFill>
                          <a:effectLst/>
                          <a:uFillTx/>
                          <a:latin typeface="Verdana"/>
                        </a:rPr>
                        <a:t>38 Mbps</a:t>
                      </a:r>
                      <a:endParaRPr lang="en-US" sz="11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1F5F9"/>
                    </a:solidFill>
                  </a:tcPr>
                </a:tc>
                <a:tc>
                  <a:txBody>
                    <a:bodyPr anchor="t">
                      <a:noAutofit/>
                    </a:bodyPr>
                    <a:p>
                      <a:pPr defTabSz="457200">
                        <a:lnSpc>
                          <a:spcPct val="100000"/>
                        </a:lnSpc>
                      </a:pPr>
                      <a:r>
                        <a:rPr lang="en-US" sz="1100" b="0" u="none" strike="noStrike">
                          <a:solidFill>
                            <a:srgbClr val="0F172A"/>
                          </a:solidFill>
                          <a:effectLst/>
                          <a:uFillTx/>
                          <a:latin typeface="Verdana"/>
                        </a:rPr>
                        <a:t>30 Mbps</a:t>
                      </a:r>
                      <a:endParaRPr lang="en-US" sz="11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1F5F9"/>
                    </a:solidFill>
                  </a:tcPr>
                </a:tc>
                <a:tc>
                  <a:txBody>
                    <a:bodyPr anchor="t">
                      <a:noAutofit/>
                    </a:bodyPr>
                    <a:p>
                      <a:pPr defTabSz="457200">
                        <a:lnSpc>
                          <a:spcPct val="100000"/>
                        </a:lnSpc>
                      </a:pPr>
                      <a:r>
                        <a:rPr lang="en-US" sz="1100" b="0" u="none" strike="noStrike">
                          <a:solidFill>
                            <a:srgbClr val="0F172A"/>
                          </a:solidFill>
                          <a:effectLst/>
                          <a:uFillTx/>
                          <a:latin typeface="Verdana"/>
                        </a:rPr>
                        <a:t>Introdujo modulación S-CDMA para mayor velocidad e inmunidad al ruido en el canal de subida.</a:t>
                      </a:r>
                      <a:endParaRPr lang="en-US" sz="11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1F5F9"/>
                    </a:solidFill>
                  </a:tcPr>
                </a:tc>
              </a:tr>
              <a:tr h="666000">
                <a:tc>
                  <a:txBody>
                    <a:bodyPr anchor="t">
                      <a:noAutofit/>
                    </a:bodyPr>
                    <a:p>
                      <a:pPr defTabSz="457200">
                        <a:lnSpc>
                          <a:spcPct val="100000"/>
                        </a:lnSpc>
                      </a:pPr>
                      <a:r>
                        <a:rPr lang="en-US" sz="1100" b="1" u="none" strike="noStrike">
                          <a:solidFill>
                            <a:srgbClr val="0F172A"/>
                          </a:solidFill>
                          <a:effectLst/>
                          <a:uFillTx/>
                          <a:latin typeface="Verdana"/>
                        </a:rPr>
                        <a:t>DOCSIS 3.0</a:t>
                      </a:r>
                      <a:endParaRPr lang="en-US" sz="11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nchor="t">
                      <a:noAutofit/>
                    </a:bodyPr>
                    <a:p>
                      <a:pPr defTabSz="457200">
                        <a:lnSpc>
                          <a:spcPct val="100000"/>
                        </a:lnSpc>
                      </a:pPr>
                      <a:r>
                        <a:rPr lang="en-US" sz="1100" b="1" u="none" strike="noStrike">
                          <a:solidFill>
                            <a:srgbClr val="0F172A"/>
                          </a:solidFill>
                          <a:effectLst/>
                          <a:uFillTx/>
                          <a:latin typeface="Verdana"/>
                        </a:rPr>
                        <a:t>2006</a:t>
                      </a:r>
                      <a:endParaRPr lang="en-US" sz="11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nchor="t">
                      <a:noAutofit/>
                    </a:bodyPr>
                    <a:p>
                      <a:pPr defTabSz="457200">
                        <a:lnSpc>
                          <a:spcPct val="100000"/>
                        </a:lnSpc>
                      </a:pPr>
                      <a:r>
                        <a:rPr lang="en-US" sz="1100" b="0" u="none" strike="noStrike">
                          <a:solidFill>
                            <a:srgbClr val="0F172A"/>
                          </a:solidFill>
                          <a:effectLst/>
                          <a:uFillTx/>
                          <a:latin typeface="Verdana"/>
                        </a:rPr>
                        <a:t>1,000 Mbps (1 Gbps)</a:t>
                      </a:r>
                      <a:endParaRPr lang="en-US" sz="11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nchor="t">
                      <a:noAutofit/>
                    </a:bodyPr>
                    <a:p>
                      <a:pPr defTabSz="457200">
                        <a:lnSpc>
                          <a:spcPct val="100000"/>
                        </a:lnSpc>
                      </a:pPr>
                      <a:r>
                        <a:rPr lang="en-US" sz="1100" b="0" u="none" strike="noStrike">
                          <a:solidFill>
                            <a:srgbClr val="0F172A"/>
                          </a:solidFill>
                          <a:effectLst/>
                          <a:uFillTx/>
                          <a:latin typeface="Verdana"/>
                        </a:rPr>
                        <a:t>200 Mbps</a:t>
                      </a:r>
                      <a:endParaRPr lang="en-US" sz="11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nchor="t">
                      <a:noAutofit/>
                    </a:bodyPr>
                    <a:p>
                      <a:pPr defTabSz="457200">
                        <a:lnSpc>
                          <a:spcPct val="100000"/>
                        </a:lnSpc>
                      </a:pPr>
                      <a:r>
                        <a:rPr lang="en-US" sz="1100" b="0" u="none" strike="noStrike">
                          <a:solidFill>
                            <a:srgbClr val="0F172A"/>
                          </a:solidFill>
                          <a:effectLst/>
                          <a:uFillTx/>
                          <a:latin typeface="Verdana"/>
                        </a:rPr>
                        <a:t>Agregación de Canales (Channel Bonding): Unió múltiples canales de 6 MHz. Soporte para IPv6.</a:t>
                      </a:r>
                      <a:endParaRPr lang="en-US" sz="11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666000">
                <a:tc>
                  <a:txBody>
                    <a:bodyPr anchor="t">
                      <a:noAutofit/>
                    </a:bodyPr>
                    <a:p>
                      <a:pPr defTabSz="457200">
                        <a:lnSpc>
                          <a:spcPct val="100000"/>
                        </a:lnSpc>
                      </a:pPr>
                      <a:r>
                        <a:rPr lang="en-US" sz="1100" b="1" u="none" strike="noStrike">
                          <a:solidFill>
                            <a:srgbClr val="0F172A"/>
                          </a:solidFill>
                          <a:effectLst/>
                          <a:uFillTx/>
                          <a:latin typeface="Verdana"/>
                        </a:rPr>
                        <a:t>DOCSIS 3.1</a:t>
                      </a:r>
                      <a:endParaRPr lang="en-US" sz="11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1F5F9"/>
                    </a:solidFill>
                  </a:tcPr>
                </a:tc>
                <a:tc>
                  <a:txBody>
                    <a:bodyPr anchor="t">
                      <a:noAutofit/>
                    </a:bodyPr>
                    <a:p>
                      <a:pPr defTabSz="457200">
                        <a:lnSpc>
                          <a:spcPct val="100000"/>
                        </a:lnSpc>
                      </a:pPr>
                      <a:r>
                        <a:rPr lang="en-US" sz="1100" b="1" u="none" strike="noStrike">
                          <a:solidFill>
                            <a:srgbClr val="0F172A"/>
                          </a:solidFill>
                          <a:effectLst/>
                          <a:uFillTx/>
                          <a:latin typeface="Verdana"/>
                        </a:rPr>
                        <a:t>2013</a:t>
                      </a:r>
                      <a:endParaRPr lang="en-US" sz="11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1F5F9"/>
                    </a:solidFill>
                  </a:tcPr>
                </a:tc>
                <a:tc>
                  <a:txBody>
                    <a:bodyPr anchor="t">
                      <a:noAutofit/>
                    </a:bodyPr>
                    <a:p>
                      <a:pPr defTabSz="457200">
                        <a:lnSpc>
                          <a:spcPct val="100000"/>
                        </a:lnSpc>
                      </a:pPr>
                      <a:r>
                        <a:rPr lang="en-US" sz="1100" b="0" u="none" strike="noStrike">
                          <a:solidFill>
                            <a:srgbClr val="0F172A"/>
                          </a:solidFill>
                          <a:effectLst/>
                          <a:uFillTx/>
                          <a:latin typeface="Verdana"/>
                        </a:rPr>
                        <a:t>10,000 Mbps (10 Gbps)</a:t>
                      </a:r>
                      <a:endParaRPr lang="en-US" sz="11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1F5F9"/>
                    </a:solidFill>
                  </a:tcPr>
                </a:tc>
                <a:tc>
                  <a:txBody>
                    <a:bodyPr anchor="t">
                      <a:noAutofit/>
                    </a:bodyPr>
                    <a:p>
                      <a:pPr defTabSz="457200">
                        <a:lnSpc>
                          <a:spcPct val="100000"/>
                        </a:lnSpc>
                      </a:pPr>
                      <a:r>
                        <a:rPr lang="en-US" sz="1100" b="0" u="none" strike="noStrike">
                          <a:solidFill>
                            <a:srgbClr val="0F172A"/>
                          </a:solidFill>
                          <a:effectLst/>
                          <a:uFillTx/>
                          <a:latin typeface="Verdana"/>
                        </a:rPr>
                        <a:t>1,000-2,000 Mbps</a:t>
                      </a:r>
                      <a:endParaRPr lang="en-US" sz="11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1F5F9"/>
                    </a:solidFill>
                  </a:tcPr>
                </a:tc>
                <a:tc>
                  <a:txBody>
                    <a:bodyPr anchor="t">
                      <a:noAutofit/>
                    </a:bodyPr>
                    <a:p>
                      <a:pPr defTabSz="457200">
                        <a:lnSpc>
                          <a:spcPct val="100000"/>
                        </a:lnSpc>
                      </a:pPr>
                      <a:r>
                        <a:rPr lang="en-US" sz="1100" b="0" u="none" strike="noStrike">
                          <a:solidFill>
                            <a:srgbClr val="0F172A"/>
                          </a:solidFill>
                          <a:effectLst/>
                          <a:uFillTx/>
                          <a:latin typeface="Verdana"/>
                        </a:rPr>
                        <a:t>Sustituyó portadoras individuales por subportadoras OFDM (4096-QAM), multiplicando la eficiencia.</a:t>
                      </a:r>
                      <a:endParaRPr lang="en-US" sz="11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1F5F9"/>
                    </a:solidFill>
                  </a:tcPr>
                </a:tc>
              </a:tr>
              <a:tr h="666000">
                <a:tc>
                  <a:txBody>
                    <a:bodyPr anchor="t">
                      <a:noAutofit/>
                    </a:bodyPr>
                    <a:p>
                      <a:pPr defTabSz="457200">
                        <a:lnSpc>
                          <a:spcPct val="100000"/>
                        </a:lnSpc>
                      </a:pPr>
                      <a:r>
                        <a:rPr lang="en-US" sz="1100" b="1" u="none" strike="noStrike">
                          <a:solidFill>
                            <a:srgbClr val="0F172A"/>
                          </a:solidFill>
                          <a:effectLst/>
                          <a:uFillTx/>
                          <a:latin typeface="Verdana"/>
                        </a:rPr>
                        <a:t>DOCSIS 4.0 (FDX)</a:t>
                      </a:r>
                      <a:endParaRPr lang="en-US" sz="11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nchor="t">
                      <a:noAutofit/>
                    </a:bodyPr>
                    <a:p>
                      <a:pPr defTabSz="457200">
                        <a:lnSpc>
                          <a:spcPct val="100000"/>
                        </a:lnSpc>
                      </a:pPr>
                      <a:r>
                        <a:rPr lang="en-US" sz="1100" b="1" u="none" strike="noStrike">
                          <a:solidFill>
                            <a:srgbClr val="0F172A"/>
                          </a:solidFill>
                          <a:effectLst/>
                          <a:uFillTx/>
                          <a:latin typeface="Verdana"/>
                        </a:rPr>
                        <a:t>2017-19</a:t>
                      </a:r>
                      <a:endParaRPr lang="en-US" sz="11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nchor="t">
                      <a:noAutofit/>
                    </a:bodyPr>
                    <a:p>
                      <a:pPr defTabSz="457200">
                        <a:lnSpc>
                          <a:spcPct val="100000"/>
                        </a:lnSpc>
                      </a:pPr>
                      <a:r>
                        <a:rPr lang="en-US" sz="1100" b="0" u="none" strike="noStrike">
                          <a:solidFill>
                            <a:srgbClr val="0F172A"/>
                          </a:solidFill>
                          <a:effectLst/>
                          <a:uFillTx/>
                          <a:latin typeface="Verdana"/>
                        </a:rPr>
                        <a:t>10,000 Mbps (10 Gbps)</a:t>
                      </a:r>
                      <a:endParaRPr lang="en-US" sz="11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nchor="t">
                      <a:noAutofit/>
                    </a:bodyPr>
                    <a:p>
                      <a:pPr defTabSz="457200">
                        <a:lnSpc>
                          <a:spcPct val="100000"/>
                        </a:lnSpc>
                      </a:pPr>
                      <a:r>
                        <a:rPr lang="en-US" sz="1100" b="0" u="none" strike="noStrike">
                          <a:solidFill>
                            <a:srgbClr val="0F172A"/>
                          </a:solidFill>
                          <a:effectLst/>
                          <a:uFillTx/>
                          <a:latin typeface="Verdana"/>
                        </a:rPr>
                        <a:t>6,000 Mbps</a:t>
                      </a:r>
                      <a:endParaRPr lang="en-US" sz="11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nchor="t">
                      <a:noAutofit/>
                    </a:bodyPr>
                    <a:p>
                      <a:pPr defTabSz="457200">
                        <a:lnSpc>
                          <a:spcPct val="100000"/>
                        </a:lnSpc>
                      </a:pPr>
                      <a:r>
                        <a:rPr lang="en-US" sz="1100" b="0" u="none" strike="noStrike">
                          <a:solidFill>
                            <a:srgbClr val="0F172A"/>
                          </a:solidFill>
                          <a:effectLst/>
                          <a:uFillTx/>
                          <a:latin typeface="Verdana"/>
                        </a:rPr>
                        <a:t>Full Duplex (FDX): Permite transmitir bajada y subida en la misma frecuencia simultáneamente sobre 1.8 GHz.</a:t>
                      </a:r>
                      <a:endParaRPr lang="en-US" sz="11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666000">
                <a:tc>
                  <a:txBody>
                    <a:bodyPr anchor="t">
                      <a:noAutofit/>
                    </a:bodyPr>
                    <a:p>
                      <a:pPr defTabSz="457200">
                        <a:lnSpc>
                          <a:spcPct val="100000"/>
                        </a:lnSpc>
                      </a:pPr>
                      <a:r>
                        <a:rPr lang="en-US" sz="1100" b="1" u="none" strike="noStrike">
                          <a:solidFill>
                            <a:srgbClr val="0F172A"/>
                          </a:solidFill>
                          <a:effectLst/>
                          <a:uFillTx/>
                          <a:latin typeface="Verdana"/>
                        </a:rPr>
                        <a:t>Recomendaciones ITU</a:t>
                      </a:r>
                      <a:endParaRPr lang="en-US" sz="11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1F5F9"/>
                    </a:solidFill>
                  </a:tcPr>
                </a:tc>
                <a:tc>
                  <a:txBody>
                    <a:bodyPr anchor="t">
                      <a:noAutofit/>
                    </a:bodyPr>
                    <a:p>
                      <a:pPr defTabSz="457200">
                        <a:lnSpc>
                          <a:spcPct val="100000"/>
                        </a:lnSpc>
                      </a:pPr>
                      <a:r>
                        <a:rPr lang="en-US" sz="1100" b="1" u="none" strike="noStrike">
                          <a:solidFill>
                            <a:srgbClr val="0F172A"/>
                          </a:solidFill>
                          <a:effectLst/>
                          <a:uFillTx/>
                          <a:latin typeface="Verdana"/>
                        </a:rPr>
                        <a:t>1998-2022</a:t>
                      </a:r>
                      <a:endParaRPr lang="en-US" sz="11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1F5F9"/>
                    </a:solidFill>
                  </a:tcPr>
                </a:tc>
                <a:tc>
                  <a:txBody>
                    <a:bodyPr anchor="t">
                      <a:noAutofit/>
                    </a:bodyPr>
                    <a:p>
                      <a:pPr defTabSz="457200">
                        <a:lnSpc>
                          <a:spcPct val="100000"/>
                        </a:lnSpc>
                      </a:pPr>
                      <a:r>
                        <a:rPr lang="en-US" sz="1100" b="0" u="none" strike="noStrike">
                          <a:solidFill>
                            <a:srgbClr val="0F172A"/>
                          </a:solidFill>
                          <a:effectLst/>
                          <a:uFillTx/>
                          <a:latin typeface="Verdana"/>
                        </a:rPr>
                        <a:t>Estándares Globales</a:t>
                      </a:r>
                      <a:endParaRPr lang="en-US" sz="11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1F5F9"/>
                    </a:solidFill>
                  </a:tcPr>
                </a:tc>
                <a:tc>
                  <a:txBody>
                    <a:bodyPr anchor="t">
                      <a:noAutofit/>
                    </a:bodyPr>
                    <a:p>
                      <a:pPr defTabSz="457200">
                        <a:lnSpc>
                          <a:spcPct val="100000"/>
                        </a:lnSpc>
                      </a:pPr>
                      <a:r>
                        <a:rPr lang="en-US" sz="1100" b="0" u="none" strike="noStrike">
                          <a:solidFill>
                            <a:srgbClr val="0F172A"/>
                          </a:solidFill>
                          <a:effectLst/>
                          <a:uFillTx/>
                          <a:latin typeface="Verdana"/>
                        </a:rPr>
                        <a:t>ITU-T J.112 - J.224</a:t>
                      </a:r>
                      <a:endParaRPr lang="en-US" sz="11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1F5F9"/>
                    </a:solidFill>
                  </a:tcPr>
                </a:tc>
                <a:tc>
                  <a:txBody>
                    <a:bodyPr anchor="t">
                      <a:noAutofit/>
                    </a:bodyPr>
                    <a:p>
                      <a:pPr defTabSz="457200">
                        <a:lnSpc>
                          <a:spcPct val="100000"/>
                        </a:lnSpc>
                      </a:pPr>
                      <a:r>
                        <a:rPr lang="en-US" sz="1100" b="0" u="none" strike="noStrike">
                          <a:solidFill>
                            <a:srgbClr val="0F172A"/>
                          </a:solidFill>
                          <a:effectLst/>
                          <a:uFillTx/>
                          <a:latin typeface="Verdana"/>
                        </a:rPr>
                        <a:t>Adopción de DOCSIS por la Unión Internacional de Telecomunicaciones para despliegues mundiales.</a:t>
                      </a:r>
                      <a:endParaRPr lang="en-US" sz="11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1F5F9"/>
                    </a:solidFill>
                  </a:tcPr>
                </a:tc>
              </a:tr>
            </a:tbl>
          </a:graphicData>
        </a:graphic>
      </p:graphicFrame>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38" name="TextBox 1"/>
          <p:cNvSpPr/>
          <p:nvPr/>
        </p:nvSpPr>
        <p:spPr>
          <a:xfrm>
            <a:off x="731520" y="365760"/>
            <a:ext cx="10698120" cy="3654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00" b="1" u="none" strike="noStrike">
                <a:solidFill>
                  <a:srgbClr val="3B82F6"/>
                </a:solidFill>
                <a:effectLst/>
                <a:uFillTx/>
                <a:latin typeface="Verdana"/>
              </a:rPr>
              <a:t>REDES DE ALTA VELOCIDAD — CABLE MÓDEM</a:t>
            </a:r>
            <a:endParaRPr lang="en-US" sz="1100" b="0" u="none" strike="noStrike">
              <a:solidFill>
                <a:srgbClr val="000000"/>
              </a:solidFill>
              <a:effectLst/>
              <a:uFillTx/>
              <a:latin typeface="Arial"/>
            </a:endParaRPr>
          </a:p>
        </p:txBody>
      </p:sp>
      <p:sp>
        <p:nvSpPr>
          <p:cNvPr id="139" name="TextBox 2"/>
          <p:cNvSpPr/>
          <p:nvPr/>
        </p:nvSpPr>
        <p:spPr>
          <a:xfrm>
            <a:off x="731520" y="685800"/>
            <a:ext cx="10698120" cy="7311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2400" b="1" u="none" strike="noStrike">
                <a:solidFill>
                  <a:srgbClr val="0F172A"/>
                </a:solidFill>
                <a:effectLst/>
                <a:uFillTx/>
                <a:latin typeface="Georgia"/>
              </a:rPr>
              <a:t>El Límite Físico: Los Desafíos Insuperables del Cable Coaxial</a:t>
            </a:r>
            <a:endParaRPr lang="en-US" sz="2400" b="0" u="none" strike="noStrike">
              <a:solidFill>
                <a:srgbClr val="000000"/>
              </a:solidFill>
              <a:effectLst/>
              <a:uFillTx/>
              <a:latin typeface="Arial"/>
            </a:endParaRPr>
          </a:p>
        </p:txBody>
      </p:sp>
      <p:sp>
        <p:nvSpPr>
          <p:cNvPr id="140" name="Rectangle 3"/>
          <p:cNvSpPr/>
          <p:nvPr/>
        </p:nvSpPr>
        <p:spPr>
          <a:xfrm>
            <a:off x="731520" y="1417320"/>
            <a:ext cx="10728360" cy="25200"/>
          </a:xfrm>
          <a:prstGeom prst="rect">
            <a:avLst/>
          </a:prstGeom>
          <a:solidFill>
            <a:srgbClr val="3B82F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19440" rIns="90000" bIns="-19440" anchor="ctr">
            <a:noAutofit/>
          </a:bodyPr>
          <a:p>
            <a:pPr/>
            <a:endParaRPr lang="en-US" sz="1800" b="0" u="none" strike="noStrike">
              <a:solidFill>
                <a:schemeClr val="lt1"/>
              </a:solidFill>
              <a:effectLst/>
              <a:uFillTx/>
              <a:latin typeface="Calibri"/>
            </a:endParaRPr>
          </a:p>
        </p:txBody>
      </p:sp>
      <p:sp>
        <p:nvSpPr>
          <p:cNvPr id="141" name="Rounded Rectangle 4"/>
          <p:cNvSpPr/>
          <p:nvPr/>
        </p:nvSpPr>
        <p:spPr>
          <a:xfrm>
            <a:off x="731520" y="1645920"/>
            <a:ext cx="10728360" cy="1444320"/>
          </a:xfrm>
          <a:prstGeom prst="roundRect">
            <a:avLst>
              <a:gd name="adj" fmla="val 16667"/>
            </a:avLst>
          </a:prstGeom>
          <a:solidFill>
            <a:srgbClr val="FFF1F1"/>
          </a:solidFill>
          <a:ln w="12700">
            <a:solidFill>
              <a:srgbClr val="B91C1C"/>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42" name="TextBox 5"/>
          <p:cNvSpPr/>
          <p:nvPr/>
        </p:nvSpPr>
        <p:spPr>
          <a:xfrm>
            <a:off x="914400" y="1755720"/>
            <a:ext cx="10362600" cy="12340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400"/>
              </a:spcAft>
            </a:pPr>
            <a:r>
              <a:rPr lang="en-US" sz="1700" b="1" u="none" strike="noStrike">
                <a:solidFill>
                  <a:srgbClr val="B91C1C"/>
                </a:solidFill>
                <a:effectLst/>
                <a:uFillTx/>
                <a:latin typeface="Georgia"/>
              </a:rPr>
              <a:t>1. Ruido de Ingreso en Subida (Ingress Noise)</a:t>
            </a:r>
            <a:endParaRPr lang="en-US" sz="1700" b="0" u="none" strike="noStrike">
              <a:solidFill>
                <a:srgbClr val="000000"/>
              </a:solidFill>
              <a:effectLst/>
              <a:uFillTx/>
              <a:latin typeface="Arial"/>
            </a:endParaRPr>
          </a:p>
          <a:p>
            <a:pPr defTabSz="457200">
              <a:lnSpc>
                <a:spcPct val="100000"/>
              </a:lnSpc>
            </a:pPr>
            <a:r>
              <a:rPr lang="en-US" sz="1300" b="0" u="none" strike="noStrike">
                <a:solidFill>
                  <a:srgbClr val="0F172A"/>
                </a:solidFill>
                <a:effectLst/>
                <a:uFillTx/>
                <a:latin typeface="Verdana"/>
              </a:rPr>
              <a:t>El cable coaxial de la calle actúa como una antena gigantesca que absorbe ruido electromagnético ambiental (motores, radios, conectores sulfatados). El ruido de TODAS las casas se acumula en el nodo óptico, estrangulando la velocidad de subida.</a:t>
            </a:r>
            <a:endParaRPr lang="en-US" sz="1300" b="0" u="none" strike="noStrike">
              <a:solidFill>
                <a:srgbClr val="000000"/>
              </a:solidFill>
              <a:effectLst/>
              <a:uFillTx/>
              <a:latin typeface="Arial"/>
            </a:endParaRPr>
          </a:p>
        </p:txBody>
      </p:sp>
      <p:sp>
        <p:nvSpPr>
          <p:cNvPr id="143" name="Rounded Rectangle 6"/>
          <p:cNvSpPr/>
          <p:nvPr/>
        </p:nvSpPr>
        <p:spPr>
          <a:xfrm>
            <a:off x="731520" y="3246120"/>
            <a:ext cx="10728360" cy="1444320"/>
          </a:xfrm>
          <a:prstGeom prst="roundRect">
            <a:avLst>
              <a:gd name="adj" fmla="val 16667"/>
            </a:avLst>
          </a:prstGeom>
          <a:solidFill>
            <a:srgbClr val="FFF1F1"/>
          </a:solidFill>
          <a:ln w="12700">
            <a:solidFill>
              <a:srgbClr val="B91C1C"/>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44" name="TextBox 7"/>
          <p:cNvSpPr/>
          <p:nvPr/>
        </p:nvSpPr>
        <p:spPr>
          <a:xfrm>
            <a:off x="914400" y="3355920"/>
            <a:ext cx="10362600" cy="12340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400"/>
              </a:spcAft>
            </a:pPr>
            <a:r>
              <a:rPr lang="en-US" sz="1700" b="1" u="none" strike="noStrike">
                <a:solidFill>
                  <a:srgbClr val="B91C1C"/>
                </a:solidFill>
                <a:effectLst/>
                <a:uFillTx/>
                <a:latin typeface="Georgia"/>
              </a:rPr>
              <a:t>2. Atenuación Extrema a Altas Frecuencias</a:t>
            </a:r>
            <a:endParaRPr lang="en-US" sz="1700" b="0" u="none" strike="noStrike">
              <a:solidFill>
                <a:srgbClr val="000000"/>
              </a:solidFill>
              <a:effectLst/>
              <a:uFillTx/>
              <a:latin typeface="Arial"/>
            </a:endParaRPr>
          </a:p>
          <a:p>
            <a:pPr defTabSz="457200">
              <a:lnSpc>
                <a:spcPct val="100000"/>
              </a:lnSpc>
            </a:pPr>
            <a:r>
              <a:rPr lang="en-US" sz="1300" b="0" u="none" strike="noStrike">
                <a:solidFill>
                  <a:srgbClr val="0F172A"/>
                </a:solidFill>
                <a:effectLst/>
                <a:uFillTx/>
                <a:latin typeface="Verdana"/>
              </a:rPr>
              <a:t>Para alcanzar multi-gigabits en DOCSIS 3.1/4.0 se requiere usar frecuencias de hasta 1.2 GHz y 1.8 GHz. A estas frecuencias, el cobre atenuá muchísimo la señal, obligando a poner cascadas de amplificadores alimentados por electricidad cada pocos metros.</a:t>
            </a:r>
            <a:endParaRPr lang="en-US" sz="1300" b="0" u="none" strike="noStrike">
              <a:solidFill>
                <a:srgbClr val="000000"/>
              </a:solidFill>
              <a:effectLst/>
              <a:uFillTx/>
              <a:latin typeface="Arial"/>
            </a:endParaRPr>
          </a:p>
        </p:txBody>
      </p:sp>
      <p:sp>
        <p:nvSpPr>
          <p:cNvPr id="145" name="Rounded Rectangle 8"/>
          <p:cNvSpPr/>
          <p:nvPr/>
        </p:nvSpPr>
        <p:spPr>
          <a:xfrm>
            <a:off x="731520" y="4846320"/>
            <a:ext cx="10728360" cy="1444320"/>
          </a:xfrm>
          <a:prstGeom prst="roundRect">
            <a:avLst>
              <a:gd name="adj" fmla="val 16667"/>
            </a:avLst>
          </a:prstGeom>
          <a:solidFill>
            <a:srgbClr val="FFF1F1"/>
          </a:solidFill>
          <a:ln w="12700">
            <a:solidFill>
              <a:srgbClr val="B91C1C"/>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46" name="TextBox 9"/>
          <p:cNvSpPr/>
          <p:nvPr/>
        </p:nvSpPr>
        <p:spPr>
          <a:xfrm>
            <a:off x="914400" y="4956120"/>
            <a:ext cx="10362600" cy="12340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400"/>
              </a:spcAft>
            </a:pPr>
            <a:r>
              <a:rPr lang="en-US" sz="1700" b="1" u="none" strike="noStrike">
                <a:solidFill>
                  <a:srgbClr val="B91C1C"/>
                </a:solidFill>
                <a:effectLst/>
                <a:uFillTx/>
                <a:latin typeface="Georgia"/>
              </a:rPr>
              <a:t>3. Asimetría Estructural Nativa</a:t>
            </a:r>
            <a:endParaRPr lang="en-US" sz="1700" b="0" u="none" strike="noStrike">
              <a:solidFill>
                <a:srgbClr val="000000"/>
              </a:solidFill>
              <a:effectLst/>
              <a:uFillTx/>
              <a:latin typeface="Arial"/>
            </a:endParaRPr>
          </a:p>
          <a:p>
            <a:pPr defTabSz="457200">
              <a:lnSpc>
                <a:spcPct val="100000"/>
              </a:lnSpc>
            </a:pPr>
            <a:r>
              <a:rPr lang="en-US" sz="1300" b="0" u="none" strike="noStrike">
                <a:solidFill>
                  <a:srgbClr val="0F172A"/>
                </a:solidFill>
                <a:effectLst/>
                <a:uFillTx/>
                <a:latin typeface="Verdana"/>
              </a:rPr>
              <a:t>El espectro del cable coaxial fue diseñado para televisión (85% para descarga). Aunque DOCSIS 4.0 introdujo técnicas complejas de cancelación de eco (Full Duplex), ofrecer velocidades simétricas en coaxial requiere enormes costos de remodelación de planta.</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47" name="TextBox 1"/>
          <p:cNvSpPr/>
          <p:nvPr/>
        </p:nvSpPr>
        <p:spPr>
          <a:xfrm>
            <a:off x="731520" y="365760"/>
            <a:ext cx="10698120" cy="3654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00" b="1" u="none" strike="noStrike">
                <a:solidFill>
                  <a:srgbClr val="3B82F6"/>
                </a:solidFill>
                <a:effectLst/>
                <a:uFillTx/>
                <a:latin typeface="Verdana"/>
              </a:rPr>
              <a:t>REDES DE ALTA VELOCIDAD — CABLE MÓDEM</a:t>
            </a:r>
            <a:endParaRPr lang="en-US" sz="1100" b="0" u="none" strike="noStrike">
              <a:solidFill>
                <a:srgbClr val="000000"/>
              </a:solidFill>
              <a:effectLst/>
              <a:uFillTx/>
              <a:latin typeface="Arial"/>
            </a:endParaRPr>
          </a:p>
        </p:txBody>
      </p:sp>
      <p:sp>
        <p:nvSpPr>
          <p:cNvPr id="148" name="TextBox 2"/>
          <p:cNvSpPr/>
          <p:nvPr/>
        </p:nvSpPr>
        <p:spPr>
          <a:xfrm>
            <a:off x="731520" y="685800"/>
            <a:ext cx="10698120" cy="7311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2400" b="1" u="none" strike="noStrike">
                <a:solidFill>
                  <a:srgbClr val="0F172A"/>
                </a:solidFill>
                <a:effectLst/>
                <a:uFillTx/>
                <a:latin typeface="Georgia"/>
              </a:rPr>
              <a:t>La Siguiente Evolución: Lo que la Fibra Óptica (FTTH) Resolvió que el Coaxial YA NO PUDO</a:t>
            </a:r>
            <a:endParaRPr lang="en-US" sz="2400" b="0" u="none" strike="noStrike">
              <a:solidFill>
                <a:srgbClr val="000000"/>
              </a:solidFill>
              <a:effectLst/>
              <a:uFillTx/>
              <a:latin typeface="Arial"/>
            </a:endParaRPr>
          </a:p>
        </p:txBody>
      </p:sp>
      <p:sp>
        <p:nvSpPr>
          <p:cNvPr id="149" name="Rectangle 3"/>
          <p:cNvSpPr/>
          <p:nvPr/>
        </p:nvSpPr>
        <p:spPr>
          <a:xfrm>
            <a:off x="731520" y="1417320"/>
            <a:ext cx="10728360" cy="25200"/>
          </a:xfrm>
          <a:prstGeom prst="rect">
            <a:avLst/>
          </a:prstGeom>
          <a:solidFill>
            <a:srgbClr val="3B82F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19440" rIns="90000" bIns="-19440" anchor="ctr">
            <a:noAutofit/>
          </a:bodyPr>
          <a:p>
            <a:pPr/>
            <a:endParaRPr lang="en-US" sz="1800" b="0" u="none" strike="noStrike">
              <a:solidFill>
                <a:schemeClr val="lt1"/>
              </a:solidFill>
              <a:effectLst/>
              <a:uFillTx/>
              <a:latin typeface="Calibri"/>
            </a:endParaRPr>
          </a:p>
        </p:txBody>
      </p:sp>
      <p:sp>
        <p:nvSpPr>
          <p:cNvPr id="150" name="Rounded Rectangle 4"/>
          <p:cNvSpPr/>
          <p:nvPr/>
        </p:nvSpPr>
        <p:spPr>
          <a:xfrm>
            <a:off x="731520" y="1645920"/>
            <a:ext cx="6217560" cy="4845960"/>
          </a:xfrm>
          <a:prstGeom prst="roundRect">
            <a:avLst>
              <a:gd name="adj" fmla="val 16667"/>
            </a:avLst>
          </a:prstGeom>
          <a:solidFill>
            <a:srgbClr val="FFFFFF"/>
          </a:solidFill>
          <a:ln w="12700">
            <a:solidFill>
              <a:srgbClr val="E2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51" name="TextBox 5"/>
          <p:cNvSpPr/>
          <p:nvPr/>
        </p:nvSpPr>
        <p:spPr>
          <a:xfrm>
            <a:off x="914400" y="1828800"/>
            <a:ext cx="5851800" cy="44802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1199"/>
              </a:spcAft>
            </a:pPr>
            <a:r>
              <a:rPr lang="en-US" sz="2000" b="1" u="none" strike="noStrike">
                <a:solidFill>
                  <a:srgbClr val="047857"/>
                </a:solidFill>
                <a:effectLst/>
                <a:uFillTx/>
                <a:latin typeface="Georgia"/>
              </a:rPr>
              <a:t>FTTH (GPON / XGS-PON): El Sucesor Definitivo</a:t>
            </a:r>
            <a:endParaRPr lang="en-US" sz="2000" b="0" u="none" strike="noStrike">
              <a:solidFill>
                <a:srgbClr val="000000"/>
              </a:solidFill>
              <a:effectLst/>
              <a:uFillTx/>
              <a:latin typeface="Arial"/>
            </a:endParaRPr>
          </a:p>
          <a:p>
            <a:pPr defTabSz="457200">
              <a:lnSpc>
                <a:spcPct val="100000"/>
              </a:lnSpc>
              <a:spcAft>
                <a:spcPts val="799"/>
              </a:spcAft>
            </a:pPr>
            <a:r>
              <a:rPr lang="en-US" sz="1300" b="0" u="none" strike="noStrike">
                <a:solidFill>
                  <a:srgbClr val="0F172A"/>
                </a:solidFill>
                <a:effectLst/>
                <a:uFillTx/>
                <a:latin typeface="Verdana"/>
              </a:rPr>
              <a:t>• Inmunidad Total a Interferencias: Sustituye ondas RF electromagnéticas por pulsos de luz láser dentro de filamentos de vidrio ultra puro. Cero ruido de ingreso.</a:t>
            </a:r>
            <a:endParaRPr lang="en-US" sz="1300" b="0" u="none" strike="noStrike">
              <a:solidFill>
                <a:srgbClr val="000000"/>
              </a:solidFill>
              <a:effectLst/>
              <a:uFillTx/>
              <a:latin typeface="Arial"/>
            </a:endParaRPr>
          </a:p>
          <a:p>
            <a:pPr defTabSz="457200">
              <a:lnSpc>
                <a:spcPct val="100000"/>
              </a:lnSpc>
              <a:spcAft>
                <a:spcPts val="799"/>
              </a:spcAft>
            </a:pPr>
            <a:r>
              <a:rPr lang="en-US" sz="1300" b="0" u="none" strike="noStrike">
                <a:solidFill>
                  <a:srgbClr val="0F172A"/>
                </a:solidFill>
                <a:effectLst/>
                <a:uFillTx/>
                <a:latin typeface="Verdana"/>
              </a:rPr>
              <a:t>• Redes Ópticas Pasivas (PON): Elimina todos los amplificadores alimentados por electricidad en las calles. Usa divisores ópticos pasivos (splitters) sin consumo eléctrico.</a:t>
            </a:r>
            <a:endParaRPr lang="en-US" sz="1300" b="0" u="none" strike="noStrike">
              <a:solidFill>
                <a:srgbClr val="000000"/>
              </a:solidFill>
              <a:effectLst/>
              <a:uFillTx/>
              <a:latin typeface="Arial"/>
            </a:endParaRPr>
          </a:p>
          <a:p>
            <a:pPr defTabSz="457200">
              <a:lnSpc>
                <a:spcPct val="100000"/>
              </a:lnSpc>
              <a:spcAft>
                <a:spcPts val="799"/>
              </a:spcAft>
            </a:pPr>
            <a:r>
              <a:rPr lang="en-US" sz="1300" b="0" u="none" strike="noStrike">
                <a:solidFill>
                  <a:srgbClr val="0F172A"/>
                </a:solidFill>
                <a:effectLst/>
                <a:uFillTx/>
                <a:latin typeface="Verdana"/>
              </a:rPr>
              <a:t>• Velocidades Simétricas Nativas: Ofrece 1 Gbps o 10 Gbps idénticos de bajada y subida sin truco de frecuencias.</a:t>
            </a:r>
            <a:endParaRPr lang="en-US" sz="1300" b="0" u="none" strike="noStrike">
              <a:solidFill>
                <a:srgbClr val="000000"/>
              </a:solidFill>
              <a:effectLst/>
              <a:uFillTx/>
              <a:latin typeface="Arial"/>
            </a:endParaRPr>
          </a:p>
          <a:p>
            <a:pPr defTabSz="457200">
              <a:lnSpc>
                <a:spcPct val="100000"/>
              </a:lnSpc>
              <a:spcAft>
                <a:spcPts val="799"/>
              </a:spcAft>
            </a:pPr>
            <a:r>
              <a:rPr lang="en-US" sz="1300" b="0" u="none" strike="noStrike">
                <a:solidFill>
                  <a:srgbClr val="0F172A"/>
                </a:solidFill>
                <a:effectLst/>
                <a:uFillTx/>
                <a:latin typeface="Verdana"/>
              </a:rPr>
              <a:t>• Latencia Ultra Baja: Pasa de 15-35 ms en Cable Módem a solo 1-5 ms en fibra óptica pura.</a:t>
            </a:r>
            <a:endParaRPr lang="en-US" sz="1300" b="0" u="none" strike="noStrike">
              <a:solidFill>
                <a:srgbClr val="000000"/>
              </a:solidFill>
              <a:effectLst/>
              <a:uFillTx/>
              <a:latin typeface="Arial"/>
            </a:endParaRPr>
          </a:p>
          <a:p>
            <a:pPr defTabSz="457200">
              <a:lnSpc>
                <a:spcPct val="100000"/>
              </a:lnSpc>
              <a:spcAft>
                <a:spcPts val="799"/>
              </a:spcAft>
            </a:pPr>
            <a:r>
              <a:rPr lang="en-US" sz="1300" b="0" u="none" strike="noStrike">
                <a:solidFill>
                  <a:srgbClr val="0F172A"/>
                </a:solidFill>
                <a:effectLst/>
                <a:uFillTx/>
                <a:latin typeface="Verdana"/>
              </a:rPr>
              <a:t>• Preparado para el Futuro: Un cable de fibra tendido hoy soporta avances cambiando solo los transceptores en los extremos.</a:t>
            </a:r>
            <a:endParaRPr lang="en-US" sz="1300" b="0" u="none" strike="noStrike">
              <a:solidFill>
                <a:srgbClr val="000000"/>
              </a:solidFill>
              <a:effectLst/>
              <a:uFillTx/>
              <a:latin typeface="Arial"/>
            </a:endParaRPr>
          </a:p>
        </p:txBody>
      </p:sp>
      <p:sp>
        <p:nvSpPr>
          <p:cNvPr id="152" name="Rounded Rectangle 6"/>
          <p:cNvSpPr/>
          <p:nvPr/>
        </p:nvSpPr>
        <p:spPr>
          <a:xfrm>
            <a:off x="7132320" y="1645920"/>
            <a:ext cx="4327560" cy="4845960"/>
          </a:xfrm>
          <a:prstGeom prst="roundRect">
            <a:avLst>
              <a:gd name="adj" fmla="val 16667"/>
            </a:avLst>
          </a:prstGeom>
          <a:solidFill>
            <a:srgbClr val="FFFFFF"/>
          </a:solidFill>
          <a:ln w="12700">
            <a:solidFill>
              <a:srgbClr val="E2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pic>
        <p:nvPicPr>
          <p:cNvPr id="153" name="Picture 7" descr="ftth_fiber_splicing.png"/>
          <p:cNvPicPr/>
          <p:nvPr/>
        </p:nvPicPr>
        <p:blipFill>
          <a:blip r:embed="rId1"/>
          <a:stretch/>
        </p:blipFill>
        <p:spPr>
          <a:xfrm>
            <a:off x="7315200" y="1828800"/>
            <a:ext cx="3961800" cy="2971440"/>
          </a:xfrm>
          <a:prstGeom prst="rect">
            <a:avLst/>
          </a:prstGeom>
          <a:noFill/>
          <a:ln w="0">
            <a:noFill/>
          </a:ln>
        </p:spPr>
      </p:pic>
      <p:sp>
        <p:nvSpPr>
          <p:cNvPr id="154" name="TextBox 8"/>
          <p:cNvSpPr/>
          <p:nvPr/>
        </p:nvSpPr>
        <p:spPr>
          <a:xfrm>
            <a:off x="7315200" y="4892040"/>
            <a:ext cx="3961800" cy="14626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100" b="0" u="none" strike="noStrike">
                <a:solidFill>
                  <a:srgbClr val="475569"/>
                </a:solidFill>
                <a:effectLst/>
                <a:uFillTx/>
                <a:latin typeface="Verdana"/>
              </a:rPr>
              <a:t>Figura 11.1: Técnico realizando empalme de precisión por fusión de arco eléctrico en fibra óptica para redes FTTH [Fuente: Fotografías de Despliegue Óptico Moderno].</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55" name="TextBox 1"/>
          <p:cNvSpPr/>
          <p:nvPr/>
        </p:nvSpPr>
        <p:spPr>
          <a:xfrm>
            <a:off x="731520" y="365760"/>
            <a:ext cx="10698120" cy="3654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00" b="1" u="none" strike="noStrike">
                <a:solidFill>
                  <a:srgbClr val="3B82F6"/>
                </a:solidFill>
                <a:effectLst/>
                <a:uFillTx/>
                <a:latin typeface="Verdana"/>
              </a:rPr>
              <a:t>REDES DE ALTA VELOCIDAD — CABLE MÓDEM</a:t>
            </a:r>
            <a:endParaRPr lang="en-US" sz="1100" b="0" u="none" strike="noStrike">
              <a:solidFill>
                <a:srgbClr val="000000"/>
              </a:solidFill>
              <a:effectLst/>
              <a:uFillTx/>
              <a:latin typeface="Arial"/>
            </a:endParaRPr>
          </a:p>
        </p:txBody>
      </p:sp>
      <p:sp>
        <p:nvSpPr>
          <p:cNvPr id="156" name="TextBox 2"/>
          <p:cNvSpPr/>
          <p:nvPr/>
        </p:nvSpPr>
        <p:spPr>
          <a:xfrm>
            <a:off x="731520" y="685800"/>
            <a:ext cx="10698120" cy="7311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2400" b="1" u="none" strike="noStrike">
                <a:solidFill>
                  <a:srgbClr val="0F172A"/>
                </a:solidFill>
                <a:effectLst/>
                <a:uFillTx/>
                <a:latin typeface="Georgia"/>
              </a:rPr>
              <a:t>Referencias Bibliográficas (Formato Estándar IEEE)</a:t>
            </a:r>
            <a:endParaRPr lang="en-US" sz="2400" b="0" u="none" strike="noStrike">
              <a:solidFill>
                <a:srgbClr val="000000"/>
              </a:solidFill>
              <a:effectLst/>
              <a:uFillTx/>
              <a:latin typeface="Arial"/>
            </a:endParaRPr>
          </a:p>
        </p:txBody>
      </p:sp>
      <p:sp>
        <p:nvSpPr>
          <p:cNvPr id="157" name="Rectangle 3"/>
          <p:cNvSpPr/>
          <p:nvPr/>
        </p:nvSpPr>
        <p:spPr>
          <a:xfrm>
            <a:off x="731520" y="1417320"/>
            <a:ext cx="10728360" cy="25200"/>
          </a:xfrm>
          <a:prstGeom prst="rect">
            <a:avLst/>
          </a:prstGeom>
          <a:solidFill>
            <a:srgbClr val="3B82F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19440" rIns="90000" bIns="-19440" anchor="ctr">
            <a:noAutofit/>
          </a:bodyPr>
          <a:p>
            <a:pPr/>
            <a:endParaRPr lang="en-US" sz="1800" b="0" u="none" strike="noStrike">
              <a:solidFill>
                <a:schemeClr val="lt1"/>
              </a:solidFill>
              <a:effectLst/>
              <a:uFillTx/>
              <a:latin typeface="Calibri"/>
            </a:endParaRPr>
          </a:p>
        </p:txBody>
      </p:sp>
      <p:sp>
        <p:nvSpPr>
          <p:cNvPr id="158" name="Rounded Rectangle 4"/>
          <p:cNvSpPr/>
          <p:nvPr/>
        </p:nvSpPr>
        <p:spPr>
          <a:xfrm>
            <a:off x="731520" y="1645920"/>
            <a:ext cx="10728360" cy="4845960"/>
          </a:xfrm>
          <a:prstGeom prst="roundRect">
            <a:avLst>
              <a:gd name="adj" fmla="val 16667"/>
            </a:avLst>
          </a:prstGeom>
          <a:solidFill>
            <a:srgbClr val="FFFFFF"/>
          </a:solidFill>
          <a:ln w="12700">
            <a:solidFill>
              <a:srgbClr val="E2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59" name="TextBox 5"/>
          <p:cNvSpPr/>
          <p:nvPr/>
        </p:nvSpPr>
        <p:spPr>
          <a:xfrm>
            <a:off x="914400" y="1783080"/>
            <a:ext cx="10362600" cy="45716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799"/>
              </a:spcAft>
            </a:pPr>
            <a:r>
              <a:rPr lang="en-US" sz="1500" b="1" u="none" strike="noStrike">
                <a:solidFill>
                  <a:srgbClr val="1E40AF"/>
                </a:solidFill>
                <a:effectLst/>
                <a:uFillTx/>
                <a:latin typeface="Georgia"/>
              </a:rPr>
              <a:t>Fuentes Académicas y Estándares de la Industria Utilizados:</a:t>
            </a:r>
            <a:endParaRPr lang="en-US" sz="1500" b="0" u="none" strike="noStrike">
              <a:solidFill>
                <a:srgbClr val="000000"/>
              </a:solidFill>
              <a:effectLst/>
              <a:uFillTx/>
              <a:latin typeface="Arial"/>
            </a:endParaRPr>
          </a:p>
          <a:p>
            <a:pPr defTabSz="457200">
              <a:lnSpc>
                <a:spcPct val="100000"/>
              </a:lnSpc>
              <a:spcAft>
                <a:spcPts val="400"/>
              </a:spcAft>
            </a:pPr>
            <a:r>
              <a:rPr lang="en-US" sz="1100" b="0" u="none" strike="noStrike">
                <a:solidFill>
                  <a:srgbClr val="0F172A"/>
                </a:solidFill>
                <a:effectLst/>
                <a:uFillTx/>
                <a:latin typeface="Verdana"/>
              </a:rPr>
              <a:t>[1] R. Yassini-Fard and S. Schley, The Accidental Network: How a Small Company Sparked a Global Broadband Transformation. Foreword by J. Chambers. Louisville, CO: ClearPurpose Media, 2025.</a:t>
            </a:r>
            <a:endParaRPr lang="en-US" sz="1100" b="0" u="none" strike="noStrike">
              <a:solidFill>
                <a:srgbClr val="000000"/>
              </a:solidFill>
              <a:effectLst/>
              <a:uFillTx/>
              <a:latin typeface="Arial"/>
            </a:endParaRPr>
          </a:p>
          <a:p>
            <a:pPr defTabSz="457200">
              <a:lnSpc>
                <a:spcPct val="100000"/>
              </a:lnSpc>
              <a:spcAft>
                <a:spcPts val="400"/>
              </a:spcAft>
            </a:pPr>
            <a:r>
              <a:rPr lang="en-US" sz="1100" b="0" u="none" strike="noStrike">
                <a:solidFill>
                  <a:srgbClr val="0F172A"/>
                </a:solidFill>
                <a:effectLst/>
                <a:uFillTx/>
                <a:latin typeface="Verdana"/>
              </a:rPr>
              <a:t>[2] CableLabs, Data-Over-Cable Service Interface Specifications DOCSIS® 4.0 Physical Layer Specification, CM-SP-PHYv4.0-I01-190815, Cable Television Laboratories, Inc., Aug. 2019.</a:t>
            </a:r>
            <a:endParaRPr lang="en-US" sz="1100" b="0" u="none" strike="noStrike">
              <a:solidFill>
                <a:srgbClr val="000000"/>
              </a:solidFill>
              <a:effectLst/>
              <a:uFillTx/>
              <a:latin typeface="Arial"/>
            </a:endParaRPr>
          </a:p>
          <a:p>
            <a:pPr defTabSz="457200">
              <a:lnSpc>
                <a:spcPct val="100000"/>
              </a:lnSpc>
              <a:spcAft>
                <a:spcPts val="400"/>
              </a:spcAft>
            </a:pPr>
            <a:r>
              <a:rPr lang="en-US" sz="1100" b="0" u="none" strike="noStrike">
                <a:solidFill>
                  <a:srgbClr val="0F172A"/>
                </a:solidFill>
                <a:effectLst/>
                <a:uFillTx/>
                <a:latin typeface="Verdana"/>
              </a:rPr>
              <a:t>[3] CableLabs, Data-Over-Cable Service Interface Specifications DOCSIS 3.0 Operations Support System Interface Specification, CM-SP-OSSIv3.0-I05-071206, Cable Television Laboratories, Inc., Dec. 2007.</a:t>
            </a:r>
            <a:endParaRPr lang="en-US" sz="1100" b="0" u="none" strike="noStrike">
              <a:solidFill>
                <a:srgbClr val="000000"/>
              </a:solidFill>
              <a:effectLst/>
              <a:uFillTx/>
              <a:latin typeface="Arial"/>
            </a:endParaRPr>
          </a:p>
          <a:p>
            <a:pPr defTabSz="457200">
              <a:lnSpc>
                <a:spcPct val="100000"/>
              </a:lnSpc>
              <a:spcAft>
                <a:spcPts val="400"/>
              </a:spcAft>
            </a:pPr>
            <a:r>
              <a:rPr lang="en-US" sz="1100" b="0" u="none" strike="noStrike">
                <a:solidFill>
                  <a:srgbClr val="0F172A"/>
                </a:solidFill>
                <a:effectLst/>
                <a:uFillTx/>
                <a:latin typeface="Verdana"/>
              </a:rPr>
              <a:t>[4] ITU-T, Fifth-generation transmission systems for interactive cable television services – IP cable modems, ITU-T Recommendation J.224, Oct. 2022.</a:t>
            </a:r>
            <a:endParaRPr lang="en-US" sz="1100" b="0" u="none" strike="noStrike">
              <a:solidFill>
                <a:srgbClr val="000000"/>
              </a:solidFill>
              <a:effectLst/>
              <a:uFillTx/>
              <a:latin typeface="Arial"/>
            </a:endParaRPr>
          </a:p>
          <a:p>
            <a:pPr defTabSz="457200">
              <a:lnSpc>
                <a:spcPct val="100000"/>
              </a:lnSpc>
              <a:spcAft>
                <a:spcPts val="400"/>
              </a:spcAft>
            </a:pPr>
            <a:r>
              <a:rPr lang="en-US" sz="1100" b="0" u="none" strike="noStrike">
                <a:solidFill>
                  <a:srgbClr val="0F172A"/>
                </a:solidFill>
                <a:effectLst/>
                <a:uFillTx/>
                <a:latin typeface="Verdana"/>
              </a:rPr>
              <a:t>[5] W. Sawyer, Management Information Base for Data Over Cable Service Interface Specification (DOCSIS) Cable Modem Termination Systems for Subscriber Management, IETF RFC 4036, Apr. 2005.</a:t>
            </a:r>
            <a:endParaRPr lang="en-US" sz="1100" b="0" u="none" strike="noStrike">
              <a:solidFill>
                <a:srgbClr val="000000"/>
              </a:solidFill>
              <a:effectLst/>
              <a:uFillTx/>
              <a:latin typeface="Arial"/>
            </a:endParaRPr>
          </a:p>
          <a:p>
            <a:pPr defTabSz="457200">
              <a:lnSpc>
                <a:spcPct val="100000"/>
              </a:lnSpc>
              <a:spcAft>
                <a:spcPts val="400"/>
              </a:spcAft>
            </a:pPr>
            <a:r>
              <a:rPr lang="en-US" sz="1100" b="0" u="none" strike="noStrike">
                <a:solidFill>
                  <a:srgbClr val="0F172A"/>
                </a:solidFill>
                <a:effectLst/>
                <a:uFillTx/>
                <a:latin typeface="Verdana"/>
              </a:rPr>
              <a:t>[6] R. Yassini, Planet Broadband. Boston, MA: YAS Broadband Ventures LLC, 2003.</a:t>
            </a:r>
            <a:endParaRPr lang="en-US" sz="1100" b="0" u="none" strike="noStrike">
              <a:solidFill>
                <a:srgbClr val="000000"/>
              </a:solidFill>
              <a:effectLst/>
              <a:uFillTx/>
              <a:latin typeface="Arial"/>
            </a:endParaRPr>
          </a:p>
          <a:p>
            <a:pPr defTabSz="457200">
              <a:lnSpc>
                <a:spcPct val="100000"/>
              </a:lnSpc>
              <a:spcAft>
                <a:spcPts val="400"/>
              </a:spcAft>
            </a:pPr>
            <a:r>
              <a:rPr lang="en-US" sz="1100" b="0" u="none" strike="noStrike">
                <a:solidFill>
                  <a:srgbClr val="0F172A"/>
                </a:solidFill>
                <a:effectLst/>
                <a:uFillTx/>
                <a:latin typeface="Verdana"/>
              </a:rPr>
              <a:t>[7] S. Schley, 'Cable\'s Modem Man Looks Back. And Ahead,' Broadband Library, vol. 18, no. 3, pp. 14–22, Fall 2015.</a:t>
            </a:r>
            <a:endParaRPr lang="en-US" sz="1100" b="0" u="none" strike="noStrike">
              <a:solidFill>
                <a:srgbClr val="000000"/>
              </a:solidFill>
              <a:effectLst/>
              <a:uFillTx/>
              <a:latin typeface="Arial"/>
            </a:endParaRPr>
          </a:p>
          <a:p>
            <a:pPr defTabSz="457200">
              <a:lnSpc>
                <a:spcPct val="100000"/>
              </a:lnSpc>
              <a:spcAft>
                <a:spcPts val="400"/>
              </a:spcAft>
            </a:pPr>
            <a:r>
              <a:rPr lang="en-US" sz="1100" b="0" u="none" strike="noStrike">
                <a:solidFill>
                  <a:srgbClr val="0F172A"/>
                </a:solidFill>
                <a:effectLst/>
                <a:uFillTx/>
                <a:latin typeface="Verdana"/>
              </a:rPr>
              <a:t>[8] Syndeo Institute, 'Modem Man: An Improbable, Inspiring Story,' The Cable Center Historical Archives, Nov. 2025.</a:t>
            </a:r>
            <a:endParaRPr lang="en-US" sz="1100" b="0" u="none" strike="noStrike">
              <a:solidFill>
                <a:srgbClr val="000000"/>
              </a:solidFill>
              <a:effectLst/>
              <a:uFillTx/>
              <a:latin typeface="Arial"/>
            </a:endParaRPr>
          </a:p>
          <a:p>
            <a:pPr defTabSz="457200">
              <a:lnSpc>
                <a:spcPct val="100000"/>
              </a:lnSpc>
              <a:spcAft>
                <a:spcPts val="400"/>
              </a:spcAft>
            </a:pPr>
            <a:r>
              <a:rPr lang="en-US" sz="1100" b="0" u="none" strike="noStrike">
                <a:solidFill>
                  <a:srgbClr val="0F172A"/>
                </a:solidFill>
                <a:effectLst/>
                <a:uFillTx/>
                <a:latin typeface="Verdana"/>
              </a:rPr>
              <a:t>[9] InMyArea, 'History Of DOCSIS And The Future Of Cable Internet,' InMyArea Technical Reports, Jun. 2023.</a:t>
            </a:r>
            <a:endParaRPr lang="en-US" sz="1100" b="0" u="none" strike="noStrike">
              <a:solidFill>
                <a:srgbClr val="000000"/>
              </a:solidFill>
              <a:effectLst/>
              <a:uFillTx/>
              <a:latin typeface="Arial"/>
            </a:endParaRPr>
          </a:p>
          <a:p>
            <a:pPr defTabSz="457200">
              <a:lnSpc>
                <a:spcPct val="100000"/>
              </a:lnSpc>
              <a:spcAft>
                <a:spcPts val="400"/>
              </a:spcAft>
            </a:pPr>
            <a:r>
              <a:rPr lang="en-US" sz="1100" b="0" u="none" strike="noStrike">
                <a:solidFill>
                  <a:srgbClr val="0F172A"/>
                </a:solidFill>
                <a:effectLst/>
                <a:uFillTx/>
                <a:latin typeface="Verdana"/>
              </a:rPr>
              <a:t>[10] Ethernet Alliance, 'Voices of Ethernet: Interview with Dr. Rouzbeh Yassini-Fard,' Ethernet Alliance Oral History Archive, 2022.</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itchFamily="0" charset="1"/>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90</TotalTime>
  <Application>LibreOffice/26.8.0.3$Linux_X86_64 LibreOffice_project/680$Build-3</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en-US</dc:language>
  <cp:lastModifiedBy/>
  <dcterms:modified xsi:type="dcterms:W3CDTF">2026-10-01T12:11:25Z</dcterms:modified>
  <cp:revision>2</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