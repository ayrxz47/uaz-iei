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Bienvenidos a esta presentación. Analizaremos cómo una idea concebida a finales de los años 80 por Rouzbeh Yassini transformó la red analógica de televisión por cable en la espina dorsal de la banda ancha mundial.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inicios de los 90, la Web crecía rápidamente pero el acceso estaba estrangulado por las redes telefónicas. La sociedad requería una infraestructura de datos masiva y siempre activa.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Yassini tuvo la intuición única de unir el mundo de la TV por cable con el mundo Ethernet. LANcity fue la empresa pionera que demostró que el coaxial podía transportar datos 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chisme tecnológico revela la visión de Yassini: regalar las patentes de LANcity a CableLabs evitó la fragmentación y creó una industria multimillonaria con precios accesibles para todos.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cable módem resolvió los tres grandes dolores del Dial-up: velocidad, teléfono ocupado y el proceso de marcado. Cambió el paradigma a Internet siempre activo.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red HFC combina lo mejor de dos mundos: la velocidad y distancia de la fibra óptica en la red troncal, y la infraestructura coaxial ya instalada en las casas.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CMTS es el director de orquesta en la central, coordinando a miles de módems para que transmitan sin chocar sus señales en el cable coaxial.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estandarización DOCSIS impulsó la fabricación masiva. Cualquier usuario podía comprar un módem en una tienda y conectarlo a su proveedor de cable.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DOCSIS demostró una vida útil sorprendente. Mediante Channel Bonding en DOCSIS 3.0 y OFDM en DOCSIS 3.1/4.0 logró romper la barrera del Gigabit sobre cobre coaxial.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leyes inmutables de la física (atenuación y ruido electromagnético) marcaron el techo tecnológico del cable coaxial, dando paso a la fibra óptica directa.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fibra óptica reemplazó las señales analógicas de radiofrecuencia por luz, eliminando los problemas de interferencia y amplificadores en las calles.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referencias académicas e industriales en formato IEEE que respaldan la presentación.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97280"/>
            <a:ext cx="10362895" cy="46634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8495" cy="3931920"/>
          </a:xfrm>
          <a:prstGeom prst="rect">
            <a:avLst/>
          </a:prstGeom>
          <a:noFill/>
        </p:spPr>
        <p:txBody>
          <a:bodyPr wrap="square">
            <a:spAutoFit/>
          </a:bodyPr>
          <a:lstStyle/>
          <a:p>
            <a:pPr>
              <a:spcAft>
                <a:spcPts val="1400"/>
              </a:spcAft>
              <a:defRPr sz="1400" b="1">
                <a:solidFill>
                  <a:srgbClr val="3B82F6"/>
                </a:solidFill>
                <a:latin typeface="Verdana"/>
              </a:defRPr>
            </a:pPr>
            <a:r>
              <a:t>REDES DE ALTA VELOCIDAD</a:t>
            </a:r>
          </a:p>
          <a:p>
            <a:pPr>
              <a:spcAft>
                <a:spcPts val="1400"/>
              </a:spcAft>
              <a:defRPr sz="3600" b="1">
                <a:solidFill>
                  <a:srgbClr val="FFFFFF"/>
                </a:solidFill>
                <a:latin typeface="Georgia"/>
              </a:defRPr>
            </a:pPr>
            <a:r>
              <a:t>Cable Módem y la Revolución del Internet de Banda Ancha</a:t>
            </a:r>
          </a:p>
          <a:p>
            <a:pPr>
              <a:spcAft>
                <a:spcPts val="2800"/>
              </a:spcAft>
              <a:defRPr sz="1600">
                <a:solidFill>
                  <a:srgbClr val="94A3B8"/>
                </a:solidFill>
                <a:latin typeface="Verdana"/>
              </a:defRPr>
            </a:pPr>
            <a:r>
              <a:t>Origen histórico, arquitectura HFC, funcionamiento del estándar DOCSIS y la transición hacia la fibra óptica (FTTH).</a:t>
            </a:r>
          </a:p>
          <a:p>
            <a:pPr>
              <a:defRPr sz="1300">
                <a:solidFill>
                  <a:srgbClr val="38BDF8"/>
                </a:solidFill>
                <a:latin typeface="Verdana"/>
              </a:defRPr>
            </a:pPr>
            <a:r>
              <a:t>Presentación Académica Nivel Preparatoria / Licenciatura</a:t>
            </a:r>
            <a:br/>
            <a:r>
              <a:t>Basado en las investigaciones de Rouzbeh Yassini-Fard, CableLabs y la ITU-T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El Mundo en los Años 90: La Necesidad Humana de Estar Conectados</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3090672" cy="3474720"/>
          </a:xfrm>
          <a:prstGeom prst="rect">
            <a:avLst/>
          </a:prstGeom>
          <a:noFill/>
        </p:spPr>
        <p:txBody>
          <a:bodyPr wrap="square">
            <a:spAutoFit/>
          </a:bodyPr>
          <a:lstStyle/>
          <a:p>
            <a:pPr>
              <a:spcAft>
                <a:spcPts val="1200"/>
              </a:spcAft>
              <a:defRPr sz="1800" b="1">
                <a:solidFill>
                  <a:srgbClr val="1E40AF"/>
                </a:solidFill>
                <a:latin typeface="Georgia"/>
              </a:defRPr>
            </a:pPr>
            <a:r>
              <a:t>1. Hitos Geopolíticos</a:t>
            </a:r>
          </a:p>
          <a:p>
            <a:pPr>
              <a:spcAft>
                <a:spcPts val="600"/>
              </a:spcAft>
              <a:defRPr sz="1300">
                <a:solidFill>
                  <a:srgbClr val="0F172A"/>
                </a:solidFill>
                <a:latin typeface="Verdana"/>
              </a:defRPr>
            </a:pPr>
            <a:r>
              <a:t>• Fin de la Guerra Fría (1989-1991) y Caída del Muro de Berlín.</a:t>
            </a:r>
          </a:p>
          <a:p>
            <a:pPr>
              <a:spcAft>
                <a:spcPts val="600"/>
              </a:spcAft>
              <a:defRPr sz="1300">
                <a:solidFill>
                  <a:srgbClr val="0F172A"/>
                </a:solidFill>
                <a:latin typeface="Verdana"/>
              </a:defRPr>
            </a:pPr>
            <a:r>
              <a:t>• Guerra del Golfo Pérsico (1990-1991).</a:t>
            </a:r>
          </a:p>
          <a:p>
            <a:pPr>
              <a:spcAft>
                <a:spcPts val="600"/>
              </a:spcAft>
              <a:defRPr sz="1300">
                <a:solidFill>
                  <a:srgbClr val="0F172A"/>
                </a:solidFill>
                <a:latin typeface="Verdana"/>
              </a:defRPr>
            </a:pPr>
            <a:r>
              <a:t>• La globalización económica acelerada exigía comunicaciones instantáneas entre continentes.</a:t>
            </a:r>
          </a:p>
        </p:txBody>
      </p:sp>
      <p:sp>
        <p:nvSpPr>
          <p:cNvPr id="7" name="Rounded Rectangle 6"/>
          <p:cNvSpPr/>
          <p:nvPr/>
        </p:nvSpPr>
        <p:spPr>
          <a:xfrm>
            <a:off x="4370832" y="1645920"/>
            <a:ext cx="34564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828800"/>
            <a:ext cx="3090672" cy="3474720"/>
          </a:xfrm>
          <a:prstGeom prst="rect">
            <a:avLst/>
          </a:prstGeom>
          <a:noFill/>
        </p:spPr>
        <p:txBody>
          <a:bodyPr wrap="square">
            <a:spAutoFit/>
          </a:bodyPr>
          <a:lstStyle/>
          <a:p>
            <a:pPr>
              <a:spcAft>
                <a:spcPts val="1200"/>
              </a:spcAft>
              <a:defRPr sz="1800" b="1">
                <a:solidFill>
                  <a:srgbClr val="1E40AF"/>
                </a:solidFill>
                <a:latin typeface="Georgia"/>
              </a:defRPr>
            </a:pPr>
            <a:r>
              <a:t>2. Revolución Tecnológica</a:t>
            </a:r>
          </a:p>
          <a:p>
            <a:pPr>
              <a:spcAft>
                <a:spcPts val="600"/>
              </a:spcAft>
              <a:defRPr sz="1300">
                <a:solidFill>
                  <a:srgbClr val="0F172A"/>
                </a:solidFill>
                <a:latin typeface="Verdana"/>
              </a:defRPr>
            </a:pPr>
            <a:r>
              <a:t>• Explosión de la PC personal en hogares y escuelas.</a:t>
            </a:r>
          </a:p>
          <a:p>
            <a:pPr>
              <a:spcAft>
                <a:spcPts val="600"/>
              </a:spcAft>
              <a:defRPr sz="1300">
                <a:solidFill>
                  <a:srgbClr val="0F172A"/>
                </a:solidFill>
                <a:latin typeface="Verdana"/>
              </a:defRPr>
            </a:pPr>
            <a:r>
              <a:t>• Nacimiento de la World Wide Web (1989-1994, Tim Berners-Lee, Netscape).</a:t>
            </a:r>
          </a:p>
          <a:p>
            <a:pPr>
              <a:spcAft>
                <a:spcPts val="600"/>
              </a:spcAft>
              <a:defRPr sz="1300">
                <a:solidFill>
                  <a:srgbClr val="0F172A"/>
                </a:solidFill>
                <a:latin typeface="Verdana"/>
              </a:defRPr>
            </a:pPr>
            <a:r>
              <a:t>• La información pasó de ser estática a interactiva y multimedia.</a:t>
            </a:r>
          </a:p>
        </p:txBody>
      </p:sp>
      <p:sp>
        <p:nvSpPr>
          <p:cNvPr id="9" name="Rounded Rectangle 8"/>
          <p:cNvSpPr/>
          <p:nvPr/>
        </p:nvSpPr>
        <p:spPr>
          <a:xfrm>
            <a:off x="8010144" y="1645920"/>
            <a:ext cx="3456432"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828800"/>
            <a:ext cx="3090672" cy="3474720"/>
          </a:xfrm>
          <a:prstGeom prst="rect">
            <a:avLst/>
          </a:prstGeom>
          <a:noFill/>
        </p:spPr>
        <p:txBody>
          <a:bodyPr wrap="square">
            <a:spAutoFit/>
          </a:bodyPr>
          <a:lstStyle/>
          <a:p>
            <a:pPr>
              <a:spcAft>
                <a:spcPts val="1200"/>
              </a:spcAft>
              <a:defRPr sz="1800" b="1">
                <a:solidFill>
                  <a:srgbClr val="1E40AF"/>
                </a:solidFill>
                <a:latin typeface="Georgia"/>
              </a:defRPr>
            </a:pPr>
            <a:r>
              <a:t>3. La Necesidad Humana</a:t>
            </a:r>
          </a:p>
          <a:p>
            <a:pPr>
              <a:spcAft>
                <a:spcPts val="600"/>
              </a:spcAft>
              <a:defRPr sz="1300">
                <a:solidFill>
                  <a:srgbClr val="0F172A"/>
                </a:solidFill>
                <a:latin typeface="Verdana"/>
              </a:defRPr>
            </a:pPr>
            <a:r>
              <a:t>• Las familias necesitaban Internet para trabajar y estudiar.</a:t>
            </a:r>
          </a:p>
          <a:p>
            <a:pPr>
              <a:spcAft>
                <a:spcPts val="600"/>
              </a:spcAft>
              <a:defRPr sz="1300">
                <a:solidFill>
                  <a:srgbClr val="0F172A"/>
                </a:solidFill>
                <a:latin typeface="Verdana"/>
              </a:defRPr>
            </a:pPr>
            <a:r>
              <a:t>• Conectarse bloqueaba la línea de teléfono de la casa por horas.</a:t>
            </a:r>
          </a:p>
          <a:p>
            <a:pPr>
              <a:spcAft>
                <a:spcPts val="600"/>
              </a:spcAft>
              <a:defRPr sz="1300">
                <a:solidFill>
                  <a:srgbClr val="0F172A"/>
                </a:solidFill>
                <a:latin typeface="Verdana"/>
              </a:defRPr>
            </a:pPr>
            <a:r>
              <a:t>• El marcado telefónico era lento (56 kbps) y se cobraba por minuto.</a:t>
            </a:r>
          </a:p>
        </p:txBody>
      </p:sp>
      <p:sp>
        <p:nvSpPr>
          <p:cNvPr id="11" name="Rounded Rectangle 10"/>
          <p:cNvSpPr/>
          <p:nvPr/>
        </p:nvSpPr>
        <p:spPr>
          <a:xfrm>
            <a:off x="731520" y="5623560"/>
            <a:ext cx="10728655" cy="868680"/>
          </a:xfrm>
          <a:prstGeom prst="roundRect">
            <a:avLst/>
          </a:prstGeom>
          <a:solidFill>
            <a:srgbClr val="EEF2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669280"/>
            <a:ext cx="10545775" cy="777240"/>
          </a:xfrm>
          <a:prstGeom prst="rect">
            <a:avLst/>
          </a:prstGeom>
          <a:noFill/>
        </p:spPr>
        <p:txBody>
          <a:bodyPr wrap="square">
            <a:spAutoFit/>
          </a:bodyPr>
          <a:lstStyle/>
          <a:p>
            <a:pPr>
              <a:defRPr sz="1200">
                <a:solidFill>
                  <a:srgbClr val="475569"/>
                </a:solidFill>
                <a:latin typeface="Verdana"/>
              </a:defRPr>
            </a:pPr>
            <a:r>
              <a:t>Contexto de Uso Residencial (1990s): En esta época naciente de la Web, los hogares experimentaron por primera vez la necesidad de acceder a enciclopedias digitales, correo electrónico y portales de noticias sin interrumpir las llamadas familiares.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El Inventor: Dr. Rouzbeh Yassini-Fard y la Fundación de LANcity</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62179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852160" cy="4480560"/>
          </a:xfrm>
          <a:prstGeom prst="rect">
            <a:avLst/>
          </a:prstGeom>
          <a:noFill/>
        </p:spPr>
        <p:txBody>
          <a:bodyPr wrap="square">
            <a:spAutoFit/>
          </a:bodyPr>
          <a:lstStyle/>
          <a:p>
            <a:pPr>
              <a:spcAft>
                <a:spcPts val="1200"/>
              </a:spcAft>
              <a:defRPr sz="2000" b="1">
                <a:solidFill>
                  <a:srgbClr val="1E40AF"/>
                </a:solidFill>
                <a:latin typeface="Georgia"/>
              </a:defRPr>
            </a:pPr>
            <a:r>
              <a:t>De $750 Dólares a la Revolución Mundial</a:t>
            </a:r>
          </a:p>
          <a:p>
            <a:pPr>
              <a:spcAft>
                <a:spcPts val="800"/>
              </a:spcAft>
              <a:defRPr sz="1300">
                <a:solidFill>
                  <a:srgbClr val="0F172A"/>
                </a:solidFill>
                <a:latin typeface="Verdana"/>
              </a:defRPr>
            </a:pPr>
            <a:r>
              <a:t>• Origen Humano: Rouzbeh Yassini llegó a EE.UU. en 1977 con $750 en ahorros familiares para estudiar ingeniería eléctrica en West Virginia University.</a:t>
            </a:r>
          </a:p>
          <a:p>
            <a:pPr>
              <a:spcAft>
                <a:spcPts val="800"/>
              </a:spcAft>
              <a:defRPr sz="1300">
                <a:solidFill>
                  <a:srgbClr val="0F172A"/>
                </a:solidFill>
                <a:latin typeface="Verdana"/>
              </a:defRPr>
            </a:pPr>
            <a:r>
              <a:t>• Experiencia Combinada Única: Trabajó en General Electric (televisión por cable coaxial) y en Proteon (redes de datos Ethernet).</a:t>
            </a:r>
          </a:p>
          <a:p>
            <a:pPr>
              <a:spcAft>
                <a:spcPts val="800"/>
              </a:spcAft>
              <a:defRPr sz="1300">
                <a:solidFill>
                  <a:srgbClr val="0F172A"/>
                </a:solidFill>
                <a:latin typeface="Verdana"/>
              </a:defRPr>
            </a:pPr>
            <a:r>
              <a:t>• La Pregunta Visionaria (1987): '¿Por qué tener cables separados para datos, voz y video si el cable coaxial de TV tiene un enorme ancho de banda analógico?'</a:t>
            </a:r>
          </a:p>
          <a:p>
            <a:pPr>
              <a:spcAft>
                <a:spcPts val="800"/>
              </a:spcAft>
              <a:defRPr sz="1300">
                <a:solidFill>
                  <a:srgbClr val="0F172A"/>
                </a:solidFill>
                <a:latin typeface="Verdana"/>
              </a:defRPr>
            </a:pPr>
            <a:r>
              <a:t>• Nacimiento de LANcity (1990): Fundó la pequeña empresa LANcity junto a un equipo inicial de solo 13 ingenieros y 7 consultores.</a:t>
            </a:r>
          </a:p>
          <a:p>
            <a:pPr>
              <a:spcAft>
                <a:spcPts val="800"/>
              </a:spcAft>
              <a:defRPr sz="1300">
                <a:solidFill>
                  <a:srgbClr val="0F172A"/>
                </a:solidFill>
                <a:latin typeface="Verdana"/>
              </a:defRPr>
            </a:pPr>
            <a:r>
              <a:t>• Meta Audaz: Reducir el costo de transmisión de datos a gran escala y llevar conectividad estilo LAN a ciudades enteras ('LANcity').</a:t>
            </a:r>
          </a:p>
        </p:txBody>
      </p:sp>
      <p:sp>
        <p:nvSpPr>
          <p:cNvPr id="7" name="Rounded Rectangle 6"/>
          <p:cNvSpPr/>
          <p:nvPr/>
        </p:nvSpPr>
        <p:spPr>
          <a:xfrm>
            <a:off x="7132320" y="1645920"/>
            <a:ext cx="43278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uzbeh_yassini_lancity_lab.png"/>
          <p:cNvPicPr>
            <a:picLocks noChangeAspect="1"/>
          </p:cNvPicPr>
          <p:nvPr/>
        </p:nvPicPr>
        <p:blipFill>
          <a:blip r:embed="rId2"/>
          <a:stretch>
            <a:fillRect/>
          </a:stretch>
        </p:blipFill>
        <p:spPr>
          <a:xfrm>
            <a:off x="7315200" y="1828800"/>
            <a:ext cx="3962095" cy="2971800"/>
          </a:xfrm>
          <a:prstGeom prst="rect">
            <a:avLst/>
          </a:prstGeom>
        </p:spPr>
      </p:pic>
      <p:sp>
        <p:nvSpPr>
          <p:cNvPr id="9" name="TextBox 8"/>
          <p:cNvSpPr txBox="1"/>
          <p:nvPr/>
        </p:nvSpPr>
        <p:spPr>
          <a:xfrm>
            <a:off x="7315200" y="4892040"/>
            <a:ext cx="3962095" cy="1463040"/>
          </a:xfrm>
          <a:prstGeom prst="rect">
            <a:avLst/>
          </a:prstGeom>
          <a:noFill/>
        </p:spPr>
        <p:txBody>
          <a:bodyPr wrap="square">
            <a:spAutoFit/>
          </a:bodyPr>
          <a:lstStyle/>
          <a:p>
            <a:pPr>
              <a:defRPr sz="1100">
                <a:solidFill>
                  <a:srgbClr val="475569"/>
                </a:solidFill>
                <a:latin typeface="Verdana"/>
              </a:defRPr>
            </a:pPr>
            <a:r>
              <a:t>Figura 3.1: Dr. Rouzbeh Yassini-Fard en el laboratorio de LANcity (1992) junto a prototipos iniciales de módems de cable y equipos de prueba de radiofrecuencia [Fuente: Archivo Histórico LANcity / YAS Broadband]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Chisme Tecnológico: Escepticismo, Calibraciones Infierno y la Jugada Libre de Regalías</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55648"/>
            <a:ext cx="10362895" cy="1234440"/>
          </a:xfrm>
          <a:prstGeom prst="rect">
            <a:avLst/>
          </a:prstGeom>
          <a:noFill/>
        </p:spPr>
        <p:txBody>
          <a:bodyPr wrap="square">
            <a:spAutoFit/>
          </a:bodyPr>
          <a:lstStyle/>
          <a:p>
            <a:pPr>
              <a:spcAft>
                <a:spcPts val="400"/>
              </a:spcAft>
              <a:defRPr sz="1700" b="1">
                <a:solidFill>
                  <a:srgbClr val="1E40AF"/>
                </a:solidFill>
                <a:latin typeface="Georgia"/>
              </a:defRPr>
            </a:pPr>
            <a:r>
              <a:t>1. Rechazo e Increduación Inicial</a:t>
            </a:r>
          </a:p>
          <a:p>
            <a:pPr>
              <a:defRPr sz="1300">
                <a:solidFill>
                  <a:srgbClr val="0F172A"/>
                </a:solidFill>
                <a:latin typeface="Verdana"/>
              </a:defRPr>
            </a:pPr>
            <a:r>
              <a:t>Banqueros y firmas de capital de riesgo rechazaron a Yassini: 'Las familias jamás van a necesitar ni pagar por datos en casa; Internet es solo para científicos e industrias'. Las empresas de cable pensaban que su único negocio era transmitir películas.</a:t>
            </a:r>
          </a:p>
        </p:txBody>
      </p:sp>
      <p:sp>
        <p:nvSpPr>
          <p:cNvPr id="7" name="Rounded Rectangle 6"/>
          <p:cNvSpPr/>
          <p:nvPr/>
        </p:nvSpPr>
        <p:spPr>
          <a:xfrm>
            <a:off x="731520" y="32461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55848"/>
            <a:ext cx="10362895" cy="1234440"/>
          </a:xfrm>
          <a:prstGeom prst="rect">
            <a:avLst/>
          </a:prstGeom>
          <a:noFill/>
        </p:spPr>
        <p:txBody>
          <a:bodyPr wrap="square">
            <a:spAutoFit/>
          </a:bodyPr>
          <a:lstStyle/>
          <a:p>
            <a:pPr>
              <a:spcAft>
                <a:spcPts val="400"/>
              </a:spcAft>
              <a:defRPr sz="1700" b="1">
                <a:solidFill>
                  <a:srgbClr val="1E40AF"/>
                </a:solidFill>
                <a:latin typeface="Georgia"/>
              </a:defRPr>
            </a:pPr>
            <a:r>
              <a:t>2. La Pesadilla de 45 Calibraciones</a:t>
            </a:r>
          </a:p>
          <a:p>
            <a:pPr>
              <a:defRPr sz="1300">
                <a:solidFill>
                  <a:srgbClr val="0F172A"/>
                </a:solidFill>
                <a:latin typeface="Verdana"/>
              </a:defRPr>
            </a:pPr>
            <a:r>
              <a:t>Los primeros prototipos eran ultra inestables. ¡Tomaba un día entero a dos ingenieros hacer 45 alineaciones manuales para calibrar 1 solo módem! Si la temperatura cambiaba, se descalibraba. El equipo de Paul Nikolich y Yassini usó DSP para automatizarlo a 45 °C.</a:t>
            </a:r>
          </a:p>
        </p:txBody>
      </p:sp>
      <p:sp>
        <p:nvSpPr>
          <p:cNvPr id="9" name="Rounded Rectangle 8"/>
          <p:cNvSpPr/>
          <p:nvPr/>
        </p:nvSpPr>
        <p:spPr>
          <a:xfrm>
            <a:off x="731520" y="48463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56048"/>
            <a:ext cx="10362895" cy="1234440"/>
          </a:xfrm>
          <a:prstGeom prst="rect">
            <a:avLst/>
          </a:prstGeom>
          <a:noFill/>
        </p:spPr>
        <p:txBody>
          <a:bodyPr wrap="square">
            <a:spAutoFit/>
          </a:bodyPr>
          <a:lstStyle/>
          <a:p>
            <a:pPr>
              <a:spcAft>
                <a:spcPts val="400"/>
              </a:spcAft>
              <a:defRPr sz="1700" b="1">
                <a:solidFill>
                  <a:srgbClr val="047857"/>
                </a:solidFill>
                <a:latin typeface="Georgia"/>
              </a:defRPr>
            </a:pPr>
            <a:r>
              <a:t>3. La Jugada Maestra 'Royalty-Free'</a:t>
            </a:r>
          </a:p>
          <a:p>
            <a:pPr>
              <a:defRPr sz="1300">
                <a:solidFill>
                  <a:srgbClr val="0F172A"/>
                </a:solidFill>
                <a:latin typeface="Verdana"/>
              </a:defRPr>
            </a:pPr>
            <a:r>
              <a:t>De costar $18,000 USD en 1990, LANcity bajó el costo a $300 en 1995. En lugar de monopolizar las patentes, Yassini regaló la tecnología de LANcity GRATIS y sin regalías a CableLabs. Esto permitió crear el estándar abierto DOCSIS y bajar el módem a $25 USD.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Análisis Comparativo: Lo que el Cable Módem Resolvió que el Dial-Up NO PUDO</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2681935"/>
                <a:gridCol w="4023360"/>
                <a:gridCol w="4023360"/>
              </a:tblGrid>
              <a:tr h="777240">
                <a:tc>
                  <a:txBody>
                    <a:bodyPr/>
                    <a:lstStyle/>
                    <a:p>
                      <a:pPr>
                        <a:defRPr sz="1400" b="1">
                          <a:solidFill>
                            <a:srgbClr val="FFFFFF"/>
                          </a:solidFill>
                          <a:latin typeface="Georgia"/>
                        </a:defRPr>
                      </a:pPr>
                      <a:r>
                        <a:t>Criterio Técnico</a:t>
                      </a:r>
                    </a:p>
                  </a:txBody>
                  <a:tcPr>
                    <a:solidFill>
                      <a:srgbClr val="1E40AF"/>
                    </a:solidFill>
                  </a:tcPr>
                </a:tc>
                <a:tc>
                  <a:txBody>
                    <a:bodyPr/>
                    <a:lstStyle/>
                    <a:p>
                      <a:pPr>
                        <a:defRPr sz="1400" b="1">
                          <a:solidFill>
                            <a:srgbClr val="FFFFFF"/>
                          </a:solidFill>
                          <a:latin typeface="Georgia"/>
                        </a:defRPr>
                      </a:pPr>
                      <a:r>
                        <a:t>Antecesor Directo: Dial-Up (Línea Telefónica PSTN)</a:t>
                      </a:r>
                    </a:p>
                  </a:txBody>
                  <a:tcPr>
                    <a:solidFill>
                      <a:srgbClr val="1E40AF"/>
                    </a:solidFill>
                  </a:tcPr>
                </a:tc>
                <a:tc>
                  <a:txBody>
                    <a:bodyPr/>
                    <a:lstStyle/>
                    <a:p>
                      <a:pPr>
                        <a:defRPr sz="1400" b="1">
                          <a:solidFill>
                            <a:srgbClr val="FFFFFF"/>
                          </a:solidFill>
                          <a:latin typeface="Georgia"/>
                        </a:defRPr>
                      </a:pPr>
                      <a:r>
                        <a:t>Revolución: Cable Módem (Red Coaxial / HFC)</a:t>
                      </a:r>
                    </a:p>
                  </a:txBody>
                  <a:tcPr>
                    <a:solidFill>
                      <a:srgbClr val="047857"/>
                    </a:solidFill>
                  </a:tcPr>
                </a:tc>
              </a:tr>
              <a:tr h="777240">
                <a:tc>
                  <a:txBody>
                    <a:bodyPr/>
                    <a:lstStyle/>
                    <a:p>
                      <a:pPr>
                        <a:defRPr sz="1200" b="1">
                          <a:solidFill>
                            <a:srgbClr val="0F172A"/>
                          </a:solidFill>
                          <a:latin typeface="Verdana"/>
                        </a:defRPr>
                      </a:pPr>
                      <a:r>
                        <a:t>Medio Físico y Señal</a:t>
                      </a:r>
                    </a:p>
                  </a:txBody>
                  <a:tcPr>
                    <a:solidFill>
                      <a:srgbClr val="FFFFFF"/>
                    </a:solidFill>
                  </a:tcPr>
                </a:tc>
                <a:tc>
                  <a:txBody>
                    <a:bodyPr/>
                    <a:lstStyle/>
                    <a:p>
                      <a:pPr>
                        <a:defRPr sz="1200">
                          <a:solidFill>
                            <a:srgbClr val="0F172A"/>
                          </a:solidFill>
                          <a:latin typeface="Verdana"/>
                        </a:defRPr>
                      </a:pPr>
                      <a:r>
                        <a:t>Par trenzado de cobre no blindado.</a:t>
                      </a:r>
                    </a:p>
                    <a:p>
                      <a:pPr>
                        <a:defRPr sz="1200">
                          <a:solidFill>
                            <a:srgbClr val="0F172A"/>
                          </a:solidFill>
                          <a:latin typeface="Verdana"/>
                        </a:defRPr>
                      </a:pPr>
                      <a:r>
                        <a:t>Banda base analógica de voz (300 Hz - 3.4 kHz).</a:t>
                      </a:r>
                    </a:p>
                  </a:txBody>
                  <a:tcPr>
                    <a:solidFill>
                      <a:srgbClr val="FFFFFF"/>
                    </a:solidFill>
                  </a:tcPr>
                </a:tc>
                <a:tc>
                  <a:txBody>
                    <a:bodyPr/>
                    <a:lstStyle/>
                    <a:p>
                      <a:pPr>
                        <a:defRPr sz="1200">
                          <a:solidFill>
                            <a:srgbClr val="0F172A"/>
                          </a:solidFill>
                          <a:latin typeface="Verdana"/>
                        </a:defRPr>
                      </a:pPr>
                      <a:r>
                        <a:t>Cable coaxial blindado / Híbrido de Fibra.</a:t>
                      </a:r>
                    </a:p>
                    <a:p>
                      <a:pPr>
                        <a:defRPr sz="1200">
                          <a:solidFill>
                            <a:srgbClr val="0F172A"/>
                          </a:solidFill>
                          <a:latin typeface="Verdana"/>
                        </a:defRPr>
                      </a:pPr>
                      <a:r>
                        <a:t>Ondas de Radiofrecuencia (RF) canalizadas.</a:t>
                      </a:r>
                    </a:p>
                  </a:txBody>
                  <a:tcPr>
                    <a:solidFill>
                      <a:srgbClr val="FFFFFF"/>
                    </a:solidFill>
                  </a:tcPr>
                </a:tc>
              </a:tr>
              <a:tr h="777240">
                <a:tc>
                  <a:txBody>
                    <a:bodyPr/>
                    <a:lstStyle/>
                    <a:p>
                      <a:pPr>
                        <a:defRPr sz="1200" b="1">
                          <a:solidFill>
                            <a:srgbClr val="0F172A"/>
                          </a:solidFill>
                          <a:latin typeface="Verdana"/>
                        </a:defRPr>
                      </a:pPr>
                      <a:r>
                        <a:t>Velocidad Máxima</a:t>
                      </a:r>
                    </a:p>
                  </a:txBody>
                  <a:tcPr>
                    <a:solidFill>
                      <a:srgbClr val="F1F5F9"/>
                    </a:solidFill>
                  </a:tcPr>
                </a:tc>
                <a:tc>
                  <a:txBody>
                    <a:bodyPr/>
                    <a:lstStyle/>
                    <a:p>
                      <a:pPr>
                        <a:defRPr sz="1200">
                          <a:solidFill>
                            <a:srgbClr val="0F172A"/>
                          </a:solidFill>
                          <a:latin typeface="Verdana"/>
                        </a:defRPr>
                      </a:pPr>
                      <a:r>
                        <a:t>28.8 kbps a 56 kbps (Límite físico del cobre telefónico).</a:t>
                      </a:r>
                    </a:p>
                  </a:txBody>
                  <a:tcPr>
                    <a:solidFill>
                      <a:srgbClr val="F1F5F9"/>
                    </a:solidFill>
                  </a:tcPr>
                </a:tc>
                <a:tc>
                  <a:txBody>
                    <a:bodyPr/>
                    <a:lstStyle/>
                    <a:p>
                      <a:pPr>
                        <a:defRPr sz="1200">
                          <a:solidFill>
                            <a:srgbClr val="0F172A"/>
                          </a:solidFill>
                          <a:latin typeface="Verdana"/>
                        </a:defRPr>
                      </a:pPr>
                      <a:r>
                        <a:t>10 Mbps a 1,000 Mbps (¡Más de 200 veces más rápido desde el inicio!).</a:t>
                      </a:r>
                    </a:p>
                  </a:txBody>
                  <a:tcPr>
                    <a:solidFill>
                      <a:srgbClr val="F1F5F9"/>
                    </a:solidFill>
                  </a:tcPr>
                </a:tc>
              </a:tr>
              <a:tr h="777240">
                <a:tc>
                  <a:txBody>
                    <a:bodyPr/>
                    <a:lstStyle/>
                    <a:p>
                      <a:pPr>
                        <a:defRPr sz="1200" b="1">
                          <a:solidFill>
                            <a:srgbClr val="0F172A"/>
                          </a:solidFill>
                          <a:latin typeface="Verdana"/>
                        </a:defRPr>
                      </a:pPr>
                      <a:r>
                        <a:t>Uso del Teléfono</a:t>
                      </a:r>
                    </a:p>
                  </a:txBody>
                  <a:tcPr>
                    <a:solidFill>
                      <a:srgbClr val="FFFFFF"/>
                    </a:solidFill>
                  </a:tcPr>
                </a:tc>
                <a:tc>
                  <a:txBody>
                    <a:bodyPr/>
                    <a:lstStyle/>
                    <a:p>
                      <a:pPr>
                        <a:defRPr sz="1200">
                          <a:solidFill>
                            <a:srgbClr val="0F172A"/>
                          </a:solidFill>
                          <a:latin typeface="Verdana"/>
                        </a:defRPr>
                      </a:pPr>
                      <a:r>
                        <a:t>[NO] Bloqueaba la línea telefónica. Si alguien llamaba, se caía Internet.</a:t>
                      </a:r>
                    </a:p>
                  </a:txBody>
                  <a:tcPr>
                    <a:solidFill>
                      <a:srgbClr val="FFFFFF"/>
                    </a:solidFill>
                  </a:tcPr>
                </a:tc>
                <a:tc>
                  <a:txBody>
                    <a:bodyPr/>
                    <a:lstStyle/>
                    <a:p>
                      <a:pPr>
                        <a:defRPr sz="1200">
                          <a:solidFill>
                            <a:srgbClr val="0F172A"/>
                          </a:solidFill>
                          <a:latin typeface="Verdana"/>
                        </a:defRPr>
                      </a:pPr>
                      <a:r>
                        <a:t>[SÍ] Totalmente independiente. Permite hablar por teléfono y ver TV simultáneamente.</a:t>
                      </a:r>
                    </a:p>
                  </a:txBody>
                  <a:tcPr>
                    <a:solidFill>
                      <a:srgbClr val="FFFFFF"/>
                    </a:solidFill>
                  </a:tcPr>
                </a:tc>
              </a:tr>
              <a:tr h="777240">
                <a:tc>
                  <a:txBody>
                    <a:bodyPr/>
                    <a:lstStyle/>
                    <a:p>
                      <a:pPr>
                        <a:defRPr sz="1200" b="1">
                          <a:solidFill>
                            <a:srgbClr val="0F172A"/>
                          </a:solidFill>
                          <a:latin typeface="Verdana"/>
                        </a:defRPr>
                      </a:pPr>
                      <a:r>
                        <a:t>Tipo de Conexión</a:t>
                      </a:r>
                    </a:p>
                  </a:txBody>
                  <a:tcPr>
                    <a:solidFill>
                      <a:srgbClr val="F1F5F9"/>
                    </a:solidFill>
                  </a:tcPr>
                </a:tc>
                <a:tc>
                  <a:txBody>
                    <a:bodyPr/>
                    <a:lstStyle/>
                    <a:p>
                      <a:pPr>
                        <a:defRPr sz="1200">
                          <a:solidFill>
                            <a:srgbClr val="0F172A"/>
                          </a:solidFill>
                          <a:latin typeface="Verdana"/>
                        </a:defRPr>
                      </a:pPr>
                      <a:r>
                        <a:t>Marcado manual por llamada (Dial-up), tardaba 30-60 segundos. Pago por minuto.</a:t>
                      </a:r>
                    </a:p>
                  </a:txBody>
                  <a:tcPr>
                    <a:solidFill>
                      <a:srgbClr val="F1F5F9"/>
                    </a:solidFill>
                  </a:tcPr>
                </a:tc>
                <a:tc>
                  <a:txBody>
                    <a:bodyPr/>
                    <a:lstStyle/>
                    <a:p>
                      <a:pPr>
                        <a:defRPr sz="1200">
                          <a:solidFill>
                            <a:srgbClr val="0F172A"/>
                          </a:solidFill>
                          <a:latin typeface="Verdana"/>
                        </a:defRPr>
                      </a:pPr>
                      <a:r>
                        <a:t>Conexión Permanente (Always-On). Encendías la PC y ya estabas conectado. Tarifa plana.</a:t>
                      </a:r>
                    </a:p>
                  </a:txBody>
                  <a:tcPr>
                    <a:solidFill>
                      <a:srgbClr val="F1F5F9"/>
                    </a:solidFill>
                  </a:tcPr>
                </a:tc>
              </a:tr>
              <a:tr h="777240">
                <a:tc>
                  <a:txBody>
                    <a:bodyPr/>
                    <a:lstStyle/>
                    <a:p>
                      <a:pPr>
                        <a:defRPr sz="1200" b="1">
                          <a:solidFill>
                            <a:srgbClr val="0F172A"/>
                          </a:solidFill>
                          <a:latin typeface="Verdana"/>
                        </a:defRPr>
                      </a:pPr>
                      <a:r>
                        <a:t>Lo que Resolvió</a:t>
                      </a:r>
                    </a:p>
                  </a:txBody>
                  <a:tcPr>
                    <a:solidFill>
                      <a:srgbClr val="FFFFFF"/>
                    </a:solidFill>
                  </a:tcPr>
                </a:tc>
                <a:tc>
                  <a:txBody>
                    <a:bodyPr/>
                    <a:lstStyle/>
                    <a:p>
                      <a:pPr>
                        <a:defRPr sz="1200">
                          <a:solidFill>
                            <a:srgbClr val="0F172A"/>
                          </a:solidFill>
                          <a:latin typeface="Verdana"/>
                        </a:defRPr>
                      </a:pPr>
                      <a:r>
                        <a:t>La sofocante restriction de ancho de banda de la red de voz de 100 años de antigüedad.</a:t>
                      </a:r>
                    </a:p>
                  </a:txBody>
                  <a:tcPr>
                    <a:solidFill>
                      <a:srgbClr val="FFFFFF"/>
                    </a:solidFill>
                  </a:tcPr>
                </a:tc>
                <a:tc>
                  <a:txBody>
                    <a:bodyPr/>
                    <a:lstStyle/>
                    <a:p>
                      <a:pPr>
                        <a:defRPr sz="1200">
                          <a:solidFill>
                            <a:srgbClr val="0F172A"/>
                          </a:solidFill>
                          <a:latin typeface="Verdana"/>
                        </a:defRPr>
                      </a:pPr>
                      <a:r>
                        <a:t>Aprovechó el enorme ancho de banda del cable de TV sin necesidad de romper las calles.</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Arquitectura de Red HFC: Cómo Viajan los Datos por la Fibra y el Coaxial</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621792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19072"/>
            <a:ext cx="5943600" cy="960120"/>
          </a:xfrm>
          <a:prstGeom prst="rect">
            <a:avLst/>
          </a:prstGeom>
          <a:noFill/>
        </p:spPr>
        <p:txBody>
          <a:bodyPr wrap="square">
            <a:spAutoFit/>
          </a:bodyPr>
          <a:lstStyle/>
          <a:p>
            <a:pPr>
              <a:defRPr sz="1500" b="1">
                <a:solidFill>
                  <a:srgbClr val="1E40AF"/>
                </a:solidFill>
                <a:latin typeface="Georgia"/>
              </a:defRPr>
            </a:pPr>
            <a:r>
              <a:t>1. Cabecera (Headend)</a:t>
            </a:r>
          </a:p>
          <a:p>
            <a:pPr>
              <a:defRPr sz="1200">
                <a:solidFill>
                  <a:srgbClr val="0F172A"/>
                </a:solidFill>
                <a:latin typeface="Verdana"/>
              </a:defRPr>
            </a:pPr>
            <a:r>
              <a:t>Centro de mando del operador donde se recibe el tráfico IP de Internet y se convierte a radiofrecuencia (RF).</a:t>
            </a:r>
          </a:p>
        </p:txBody>
      </p:sp>
      <p:sp>
        <p:nvSpPr>
          <p:cNvPr id="7" name="Rounded Rectangle 6"/>
          <p:cNvSpPr/>
          <p:nvPr/>
        </p:nvSpPr>
        <p:spPr>
          <a:xfrm>
            <a:off x="731520" y="2852928"/>
            <a:ext cx="621792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926080"/>
            <a:ext cx="5943600" cy="960120"/>
          </a:xfrm>
          <a:prstGeom prst="rect">
            <a:avLst/>
          </a:prstGeom>
          <a:noFill/>
        </p:spPr>
        <p:txBody>
          <a:bodyPr wrap="square">
            <a:spAutoFit/>
          </a:bodyPr>
          <a:lstStyle/>
          <a:p>
            <a:pPr>
              <a:defRPr sz="1500" b="1">
                <a:solidFill>
                  <a:srgbClr val="1E40AF"/>
                </a:solidFill>
                <a:latin typeface="Georgia"/>
              </a:defRPr>
            </a:pPr>
            <a:r>
              <a:t>2. Troncal de Fibra Óptica</a:t>
            </a:r>
          </a:p>
          <a:p>
            <a:pPr>
              <a:defRPr sz="1200">
                <a:solidFill>
                  <a:srgbClr val="0F172A"/>
                </a:solidFill>
                <a:latin typeface="Verdana"/>
              </a:defRPr>
            </a:pPr>
            <a:r>
              <a:t>Lleva la señal en forma de pulsos de luz láser a largas distancias (hasta 100 millas) con atenuación casi nula.</a:t>
            </a:r>
          </a:p>
        </p:txBody>
      </p:sp>
      <p:sp>
        <p:nvSpPr>
          <p:cNvPr id="9" name="Rounded Rectangle 8"/>
          <p:cNvSpPr/>
          <p:nvPr/>
        </p:nvSpPr>
        <p:spPr>
          <a:xfrm>
            <a:off x="731520" y="4059936"/>
            <a:ext cx="621792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33088"/>
            <a:ext cx="5943600" cy="960120"/>
          </a:xfrm>
          <a:prstGeom prst="rect">
            <a:avLst/>
          </a:prstGeom>
          <a:noFill/>
        </p:spPr>
        <p:txBody>
          <a:bodyPr wrap="square">
            <a:spAutoFit/>
          </a:bodyPr>
          <a:lstStyle/>
          <a:p>
            <a:pPr>
              <a:defRPr sz="1500" b="1">
                <a:solidFill>
                  <a:srgbClr val="1E40AF"/>
                </a:solidFill>
                <a:latin typeface="Georgia"/>
              </a:defRPr>
            </a:pPr>
            <a:r>
              <a:t>3. Nodo Óptico de Barrio</a:t>
            </a:r>
          </a:p>
          <a:p>
            <a:pPr>
              <a:defRPr sz="1200">
                <a:solidFill>
                  <a:srgbClr val="0F172A"/>
                </a:solidFill>
                <a:latin typeface="Verdana"/>
              </a:defRPr>
            </a:pPr>
            <a:r>
              <a:t>Convierte las señales de luz en ondas electromagnéticas de RF para distribuirlas por los cables coaxiales de la calle.</a:t>
            </a:r>
          </a:p>
        </p:txBody>
      </p:sp>
      <p:sp>
        <p:nvSpPr>
          <p:cNvPr id="11" name="Rounded Rectangle 10"/>
          <p:cNvSpPr/>
          <p:nvPr/>
        </p:nvSpPr>
        <p:spPr>
          <a:xfrm>
            <a:off x="731520" y="5266944"/>
            <a:ext cx="6217920" cy="11155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340096"/>
            <a:ext cx="5943600" cy="960120"/>
          </a:xfrm>
          <a:prstGeom prst="rect">
            <a:avLst/>
          </a:prstGeom>
          <a:noFill/>
        </p:spPr>
        <p:txBody>
          <a:bodyPr wrap="square">
            <a:spAutoFit/>
          </a:bodyPr>
          <a:lstStyle/>
          <a:p>
            <a:pPr>
              <a:defRPr sz="1500" b="1">
                <a:solidFill>
                  <a:srgbClr val="1E40AF"/>
                </a:solidFill>
                <a:latin typeface="Georgia"/>
              </a:defRPr>
            </a:pPr>
            <a:r>
              <a:t>4. Coaxial y Cable Módem</a:t>
            </a:r>
          </a:p>
          <a:p>
            <a:pPr>
              <a:defRPr sz="1200">
                <a:solidFill>
                  <a:srgbClr val="0F172A"/>
                </a:solidFill>
                <a:latin typeface="Verdana"/>
              </a:defRPr>
            </a:pPr>
            <a:r>
              <a:t>El cable coaxial entra al hogar. El Cable Módem demodula las ondas RF y entrega Internet por puerto Ethernet a las PCs/Wi-Fi.</a:t>
            </a:r>
          </a:p>
        </p:txBody>
      </p:sp>
      <p:sp>
        <p:nvSpPr>
          <p:cNvPr id="13" name="Rounded Rectangle 12"/>
          <p:cNvSpPr/>
          <p:nvPr/>
        </p:nvSpPr>
        <p:spPr>
          <a:xfrm>
            <a:off x="7132320" y="1645920"/>
            <a:ext cx="43278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fc_field_technician.png"/>
          <p:cNvPicPr>
            <a:picLocks noChangeAspect="1"/>
          </p:cNvPicPr>
          <p:nvPr/>
        </p:nvPicPr>
        <p:blipFill>
          <a:blip r:embed="rId2"/>
          <a:stretch>
            <a:fillRect/>
          </a:stretch>
        </p:blipFill>
        <p:spPr>
          <a:xfrm>
            <a:off x="7315200" y="1828800"/>
            <a:ext cx="3962095" cy="2971800"/>
          </a:xfrm>
          <a:prstGeom prst="rect">
            <a:avLst/>
          </a:prstGeom>
        </p:spPr>
      </p:pic>
      <p:sp>
        <p:nvSpPr>
          <p:cNvPr id="15" name="TextBox 14"/>
          <p:cNvSpPr txBox="1"/>
          <p:nvPr/>
        </p:nvSpPr>
        <p:spPr>
          <a:xfrm>
            <a:off x="7315200" y="4892040"/>
            <a:ext cx="3962095" cy="1463040"/>
          </a:xfrm>
          <a:prstGeom prst="rect">
            <a:avLst/>
          </a:prstGeom>
          <a:noFill/>
        </p:spPr>
        <p:txBody>
          <a:bodyPr wrap="square">
            <a:spAutoFit/>
          </a:bodyPr>
          <a:lstStyle/>
          <a:p>
            <a:pPr>
              <a:defRPr sz="1100">
                <a:solidFill>
                  <a:srgbClr val="475569"/>
                </a:solidFill>
                <a:latin typeface="Verdana"/>
              </a:defRPr>
            </a:pPr>
            <a:r>
              <a:t>Figura 6.1: Técnico de campo en canastilla aérea dando mantenimiento a un nodo óptico HFC y amplificadores de radiofrecuencia en calle [Fuente: Fotografías de Operación de Campo HFC / CableLabs]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Equipos Activos Clave: El Maestro (CMTS) y el Cliente (Cable Módem)</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43278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mts_headend_rack.png"/>
          <p:cNvPicPr>
            <a:picLocks noChangeAspect="1"/>
          </p:cNvPicPr>
          <p:nvPr/>
        </p:nvPicPr>
        <p:blipFill>
          <a:blip r:embed="rId2"/>
          <a:stretch>
            <a:fillRect/>
          </a:stretch>
        </p:blipFill>
        <p:spPr>
          <a:xfrm>
            <a:off x="914400" y="1828800"/>
            <a:ext cx="3962095" cy="2971800"/>
          </a:xfrm>
          <a:prstGeom prst="rect">
            <a:avLst/>
          </a:prstGeom>
        </p:spPr>
      </p:pic>
      <p:sp>
        <p:nvSpPr>
          <p:cNvPr id="7" name="TextBox 6"/>
          <p:cNvSpPr txBox="1"/>
          <p:nvPr/>
        </p:nvSpPr>
        <p:spPr>
          <a:xfrm>
            <a:off x="914400" y="4892040"/>
            <a:ext cx="3962095" cy="1463040"/>
          </a:xfrm>
          <a:prstGeom prst="rect">
            <a:avLst/>
          </a:prstGeom>
          <a:noFill/>
        </p:spPr>
        <p:txBody>
          <a:bodyPr wrap="square">
            <a:spAutoFit/>
          </a:bodyPr>
          <a:lstStyle/>
          <a:p>
            <a:pPr>
              <a:defRPr sz="1100">
                <a:solidFill>
                  <a:srgbClr val="475569"/>
                </a:solidFill>
                <a:latin typeface="Verdana"/>
              </a:defRPr>
            </a:pPr>
            <a:r>
              <a:t>Figura 7.1: Bastidor industrial con chasis CMTS (Cable Modem Termination System) en la cabecera central del operador [Fuente: Archivo de Infraestructura de Cabecera / RFC 4036] [9, 15].</a:t>
            </a:r>
          </a:p>
        </p:txBody>
      </p:sp>
      <p:sp>
        <p:nvSpPr>
          <p:cNvPr id="8" name="Rounded Rectangle 7"/>
          <p:cNvSpPr/>
          <p:nvPr/>
        </p:nvSpPr>
        <p:spPr>
          <a:xfrm>
            <a:off x="5303520" y="1645920"/>
            <a:ext cx="61566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1755648"/>
            <a:ext cx="5790895" cy="2066543"/>
          </a:xfrm>
          <a:prstGeom prst="rect">
            <a:avLst/>
          </a:prstGeom>
          <a:noFill/>
        </p:spPr>
        <p:txBody>
          <a:bodyPr wrap="square">
            <a:spAutoFit/>
          </a:bodyPr>
          <a:lstStyle/>
          <a:p>
            <a:pPr>
              <a:defRPr sz="1600" b="1">
                <a:solidFill>
                  <a:srgbClr val="1E40AF"/>
                </a:solidFill>
                <a:latin typeface="Georgia"/>
              </a:defRPr>
            </a:pPr>
            <a:r>
              <a:t>1. CMTS (Cable Modem Termination System)</a:t>
            </a:r>
          </a:p>
          <a:p>
            <a:pPr>
              <a:spcAft>
                <a:spcPts val="200"/>
              </a:spcAft>
              <a:defRPr sz="1200">
                <a:solidFill>
                  <a:srgbClr val="0F172A"/>
                </a:solidFill>
                <a:latin typeface="Verdana"/>
              </a:defRPr>
            </a:pPr>
            <a:r>
              <a:t>• Ubicación: Cabecera del operador (Headend).</a:t>
            </a:r>
          </a:p>
          <a:p>
            <a:pPr>
              <a:spcAft>
                <a:spcPts val="200"/>
              </a:spcAft>
              <a:defRPr sz="1200">
                <a:solidFill>
                  <a:srgbClr val="0F172A"/>
                </a:solidFill>
                <a:latin typeface="Verdana"/>
              </a:defRPr>
            </a:pPr>
            <a:r>
              <a:t>• Función: Es el nodo maestro. Recibe la red troncal de Internet y asigna frecuencias y tiempos a miles de módems.</a:t>
            </a:r>
          </a:p>
          <a:p>
            <a:pPr>
              <a:spcAft>
                <a:spcPts val="200"/>
              </a:spcAft>
              <a:defRPr sz="1200">
                <a:solidFill>
                  <a:srgbClr val="0F172A"/>
                </a:solidFill>
                <a:latin typeface="Verdana"/>
              </a:defRPr>
            </a:pPr>
            <a:r>
              <a:t>• Evita Colisiones: Usa TDMA (Multiplexación por División de Tiempo) y S-CDMA para organizar las transmisiones de subida de los usuarios.</a:t>
            </a:r>
          </a:p>
        </p:txBody>
      </p:sp>
      <p:sp>
        <p:nvSpPr>
          <p:cNvPr id="10" name="Rounded Rectangle 9"/>
          <p:cNvSpPr/>
          <p:nvPr/>
        </p:nvSpPr>
        <p:spPr>
          <a:xfrm>
            <a:off x="5303520" y="4114800"/>
            <a:ext cx="6156655"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4224528"/>
            <a:ext cx="5790895" cy="2066543"/>
          </a:xfrm>
          <a:prstGeom prst="rect">
            <a:avLst/>
          </a:prstGeom>
          <a:noFill/>
        </p:spPr>
        <p:txBody>
          <a:bodyPr wrap="square">
            <a:spAutoFit/>
          </a:bodyPr>
          <a:lstStyle/>
          <a:p>
            <a:pPr>
              <a:defRPr sz="1600" b="1">
                <a:solidFill>
                  <a:srgbClr val="1E40AF"/>
                </a:solidFill>
                <a:latin typeface="Georgia"/>
              </a:defRPr>
            </a:pPr>
            <a:r>
              <a:t>2. Cable Módem (CM - Lado del Usuario)</a:t>
            </a:r>
          </a:p>
          <a:p>
            <a:pPr>
              <a:spcAft>
                <a:spcPts val="200"/>
              </a:spcAft>
              <a:defRPr sz="1200">
                <a:solidFill>
                  <a:srgbClr val="0F172A"/>
                </a:solidFill>
                <a:latin typeface="Verdana"/>
              </a:defRPr>
            </a:pPr>
            <a:r>
              <a:t>• Ubicación: Hogar del suscriptor.</a:t>
            </a:r>
          </a:p>
          <a:p>
            <a:pPr>
              <a:spcAft>
                <a:spcPts val="200"/>
              </a:spcAft>
              <a:defRPr sz="1200">
                <a:solidFill>
                  <a:srgbClr val="0F172A"/>
                </a:solidFill>
                <a:latin typeface="Verdana"/>
              </a:defRPr>
            </a:pPr>
            <a:r>
              <a:t>• Función: Es un puente de red (bridge). Demodula la señal de radiofrecuencia (RF) del cable coaxial a tramas Ethernet IP.</a:t>
            </a:r>
          </a:p>
          <a:p>
            <a:pPr>
              <a:spcAft>
                <a:spcPts val="200"/>
              </a:spcAft>
              <a:defRPr sz="1200">
                <a:solidFill>
                  <a:srgbClr val="0F172A"/>
                </a:solidFill>
                <a:latin typeface="Verdana"/>
              </a:defRPr>
            </a:pPr>
            <a:r>
              <a:t>• Asimetría de Frecuencias:</a:t>
            </a:r>
          </a:p>
          <a:p>
            <a:pPr>
              <a:spcAft>
                <a:spcPts val="200"/>
              </a:spcAft>
              <a:defRPr sz="1200">
                <a:solidFill>
                  <a:srgbClr val="0F172A"/>
                </a:solidFill>
                <a:latin typeface="Verdana"/>
              </a:defRPr>
            </a:pPr>
            <a:r>
              <a:t>  - Downstream (Bajada): 50-860 MHz (64/256-QAM o OFDM).</a:t>
            </a:r>
          </a:p>
          <a:p>
            <a:pPr>
              <a:spcAft>
                <a:spcPts val="200"/>
              </a:spcAft>
              <a:defRPr sz="1200">
                <a:solidFill>
                  <a:srgbClr val="0F172A"/>
                </a:solidFill>
                <a:latin typeface="Verdana"/>
              </a:defRPr>
            </a:pPr>
            <a:r>
              <a:t>  - Upstream (Subida): 5-42 MHz (QPSK / 16-QAM o OFDMA).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Estandarización Global: De LANcity a CableLabs (DOCSIS) y la ITU-T</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55648"/>
            <a:ext cx="10362895" cy="1234440"/>
          </a:xfrm>
          <a:prstGeom prst="rect">
            <a:avLst/>
          </a:prstGeom>
          <a:noFill/>
        </p:spPr>
        <p:txBody>
          <a:bodyPr wrap="square">
            <a:spAutoFit/>
          </a:bodyPr>
          <a:lstStyle/>
          <a:p>
            <a:pPr>
              <a:spcAft>
                <a:spcPts val="400"/>
              </a:spcAft>
              <a:defRPr sz="1700" b="1">
                <a:solidFill>
                  <a:srgbClr val="1E40AF"/>
                </a:solidFill>
                <a:latin typeface="Georgia"/>
              </a:defRPr>
            </a:pPr>
            <a:r>
              <a:t>1. Fundación de CableLabs</a:t>
            </a:r>
          </a:p>
          <a:p>
            <a:pPr>
              <a:defRPr sz="1300">
                <a:solidFill>
                  <a:srgbClr val="0F172A"/>
                </a:solidFill>
                <a:latin typeface="Verdana"/>
              </a:defRPr>
            </a:pPr>
            <a:r>
              <a:t>Los grandes operadores de cable (Comcast, Cox, Time Warner) se unieron para evitar que cada fabricante creara un sistema propietario incompatible.</a:t>
            </a:r>
          </a:p>
        </p:txBody>
      </p:sp>
      <p:sp>
        <p:nvSpPr>
          <p:cNvPr id="7" name="Rounded Rectangle 6"/>
          <p:cNvSpPr/>
          <p:nvPr/>
        </p:nvSpPr>
        <p:spPr>
          <a:xfrm>
            <a:off x="731520" y="32461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55848"/>
            <a:ext cx="10362895" cy="1234440"/>
          </a:xfrm>
          <a:prstGeom prst="rect">
            <a:avLst/>
          </a:prstGeom>
          <a:noFill/>
        </p:spPr>
        <p:txBody>
          <a:bodyPr wrap="square">
            <a:spAutoFit/>
          </a:bodyPr>
          <a:lstStyle/>
          <a:p>
            <a:pPr>
              <a:spcAft>
                <a:spcPts val="400"/>
              </a:spcAft>
              <a:defRPr sz="1700" b="1">
                <a:solidFill>
                  <a:srgbClr val="1E40AF"/>
                </a:solidFill>
                <a:latin typeface="Georgia"/>
              </a:defRPr>
            </a:pPr>
            <a:r>
              <a:t>2. Adopción del Estándar DOCSIS 1.0 (1997)</a:t>
            </a:r>
          </a:p>
          <a:p>
            <a:pPr>
              <a:defRPr sz="1300">
                <a:solidFill>
                  <a:srgbClr val="0F172A"/>
                </a:solidFill>
                <a:latin typeface="Verdana"/>
              </a:defRPr>
            </a:pPr>
            <a:r>
              <a:t>LANcity donó su protocolo MAC (UNI Link) libre de regalías. DOCSIS (Data Over Cable Service Interface Specification) garantizó que cualquier módem funcionara en cualquier red.</a:t>
            </a:r>
          </a:p>
        </p:txBody>
      </p:sp>
      <p:sp>
        <p:nvSpPr>
          <p:cNvPr id="9" name="Rounded Rectangle 8"/>
          <p:cNvSpPr/>
          <p:nvPr/>
        </p:nvSpPr>
        <p:spPr>
          <a:xfrm>
            <a:off x="731520" y="4846320"/>
            <a:ext cx="10728655" cy="144475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56048"/>
            <a:ext cx="10362895" cy="1234440"/>
          </a:xfrm>
          <a:prstGeom prst="rect">
            <a:avLst/>
          </a:prstGeom>
          <a:noFill/>
        </p:spPr>
        <p:txBody>
          <a:bodyPr wrap="square">
            <a:spAutoFit/>
          </a:bodyPr>
          <a:lstStyle/>
          <a:p>
            <a:pPr>
              <a:spcAft>
                <a:spcPts val="400"/>
              </a:spcAft>
              <a:defRPr sz="1700" b="1">
                <a:solidFill>
                  <a:srgbClr val="1E40AF"/>
                </a:solidFill>
                <a:latin typeface="Georgia"/>
              </a:defRPr>
            </a:pPr>
            <a:r>
              <a:t>3. Ratificación Internacional ITU-T</a:t>
            </a:r>
          </a:p>
          <a:p>
            <a:pPr>
              <a:defRPr sz="1300">
                <a:solidFill>
                  <a:srgbClr val="0F172A"/>
                </a:solidFill>
                <a:latin typeface="Verdana"/>
              </a:defRPr>
            </a:pPr>
            <a:r>
              <a:t>La Unión Internacional de Telecomunicaciones aprobó DOCSIS a nivel mundial en las Recomendaciones Serie J (ITU-T J.112, J.122, J.222, J.224).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Evolución Tecnológica de DOCSIS: De 38 Mbps a 10 Gbps Simétricos</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31520" y="1645920"/>
          <a:ext cx="10728655" cy="4663440"/>
        </p:xfrm>
        <a:graphic>
          <a:graphicData uri="http://schemas.openxmlformats.org/drawingml/2006/table">
            <a:tbl>
              <a:tblPr firstRow="1" bandRow="1">
                <a:tableStyleId>{5C22544A-7EE6-4342-B048-85BDC9FD1C3A}</a:tableStyleId>
              </a:tblPr>
              <a:tblGrid>
                <a:gridCol w="1645920"/>
                <a:gridCol w="1097280"/>
                <a:gridCol w="2011680"/>
                <a:gridCol w="2011680"/>
                <a:gridCol w="3962095"/>
              </a:tblGrid>
              <a:tr h="666205">
                <a:tc>
                  <a:txBody>
                    <a:bodyPr/>
                    <a:lstStyle/>
                    <a:p>
                      <a:pPr>
                        <a:defRPr sz="1300" b="1">
                          <a:solidFill>
                            <a:srgbClr val="FFFFFF"/>
                          </a:solidFill>
                          <a:latin typeface="Georgia"/>
                        </a:defRPr>
                      </a:pPr>
                      <a:r>
                        <a:t>Versión</a:t>
                      </a:r>
                    </a:p>
                  </a:txBody>
                  <a:tcPr>
                    <a:solidFill>
                      <a:srgbClr val="1E40AF"/>
                    </a:solidFill>
                  </a:tcPr>
                </a:tc>
                <a:tc>
                  <a:txBody>
                    <a:bodyPr/>
                    <a:lstStyle/>
                    <a:p>
                      <a:pPr>
                        <a:defRPr sz="1300" b="1">
                          <a:solidFill>
                            <a:srgbClr val="FFFFFF"/>
                          </a:solidFill>
                          <a:latin typeface="Georgia"/>
                        </a:defRPr>
                      </a:pPr>
                      <a:r>
                        <a:t>Año</a:t>
                      </a:r>
                    </a:p>
                  </a:txBody>
                  <a:tcPr>
                    <a:solidFill>
                      <a:srgbClr val="1E40AF"/>
                    </a:solidFill>
                  </a:tcPr>
                </a:tc>
                <a:tc>
                  <a:txBody>
                    <a:bodyPr/>
                    <a:lstStyle/>
                    <a:p>
                      <a:pPr>
                        <a:defRPr sz="1300" b="1">
                          <a:solidFill>
                            <a:srgbClr val="FFFFFF"/>
                          </a:solidFill>
                          <a:latin typeface="Georgia"/>
                        </a:defRPr>
                      </a:pPr>
                      <a:r>
                        <a:t>Bajada (Downstream)</a:t>
                      </a:r>
                    </a:p>
                  </a:txBody>
                  <a:tcPr>
                    <a:solidFill>
                      <a:srgbClr val="1E40AF"/>
                    </a:solidFill>
                  </a:tcPr>
                </a:tc>
                <a:tc>
                  <a:txBody>
                    <a:bodyPr/>
                    <a:lstStyle/>
                    <a:p>
                      <a:pPr>
                        <a:defRPr sz="1300" b="1">
                          <a:solidFill>
                            <a:srgbClr val="FFFFFF"/>
                          </a:solidFill>
                          <a:latin typeface="Georgia"/>
                        </a:defRPr>
                      </a:pPr>
                      <a:r>
                        <a:t>Subida (Upstream)</a:t>
                      </a:r>
                    </a:p>
                  </a:txBody>
                  <a:tcPr>
                    <a:solidFill>
                      <a:srgbClr val="1E40AF"/>
                    </a:solidFill>
                  </a:tcPr>
                </a:tc>
                <a:tc>
                  <a:txBody>
                    <a:bodyPr/>
                    <a:lstStyle/>
                    <a:p>
                      <a:pPr>
                        <a:defRPr sz="1300" b="1">
                          <a:solidFill>
                            <a:srgbClr val="FFFFFF"/>
                          </a:solidFill>
                          <a:latin typeface="Georgia"/>
                        </a:defRPr>
                      </a:pPr>
                      <a:r>
                        <a:t>Innovación Tecnológica Clave</a:t>
                      </a:r>
                    </a:p>
                  </a:txBody>
                  <a:tcPr>
                    <a:solidFill>
                      <a:srgbClr val="1E40AF"/>
                    </a:solidFill>
                  </a:tcPr>
                </a:tc>
              </a:tr>
              <a:tr h="666205">
                <a:tc>
                  <a:txBody>
                    <a:bodyPr/>
                    <a:lstStyle/>
                    <a:p>
                      <a:pPr>
                        <a:defRPr sz="1100" b="1">
                          <a:solidFill>
                            <a:srgbClr val="0F172A"/>
                          </a:solidFill>
                          <a:latin typeface="Verdana"/>
                        </a:defRPr>
                      </a:pPr>
                      <a:r>
                        <a:t>DOCSIS 1.0 / 1.1</a:t>
                      </a:r>
                    </a:p>
                  </a:txBody>
                  <a:tcPr>
                    <a:solidFill>
                      <a:srgbClr val="FFFFFF"/>
                    </a:solidFill>
                  </a:tcPr>
                </a:tc>
                <a:tc>
                  <a:txBody>
                    <a:bodyPr/>
                    <a:lstStyle/>
                    <a:p>
                      <a:pPr>
                        <a:defRPr sz="1100" b="1">
                          <a:solidFill>
                            <a:srgbClr val="0F172A"/>
                          </a:solidFill>
                          <a:latin typeface="Verdana"/>
                        </a:defRPr>
                      </a:pPr>
                      <a:r>
                        <a:t>1997-99</a:t>
                      </a:r>
                    </a:p>
                  </a:txBody>
                  <a:tcPr>
                    <a:solidFill>
                      <a:srgbClr val="FFFFFF"/>
                    </a:solidFill>
                  </a:tcPr>
                </a:tc>
                <a:tc>
                  <a:txBody>
                    <a:bodyPr/>
                    <a:lstStyle/>
                    <a:p>
                      <a:pPr>
                        <a:defRPr sz="1100">
                          <a:solidFill>
                            <a:srgbClr val="0F172A"/>
                          </a:solidFill>
                          <a:latin typeface="Verdana"/>
                        </a:defRPr>
                      </a:pPr>
                      <a:r>
                        <a:t>38 Mbps</a:t>
                      </a:r>
                    </a:p>
                  </a:txBody>
                  <a:tcPr>
                    <a:solidFill>
                      <a:srgbClr val="FFFFFF"/>
                    </a:solidFill>
                  </a:tcPr>
                </a:tc>
                <a:tc>
                  <a:txBody>
                    <a:bodyPr/>
                    <a:lstStyle/>
                    <a:p>
                      <a:pPr>
                        <a:defRPr sz="1100">
                          <a:solidFill>
                            <a:srgbClr val="0F172A"/>
                          </a:solidFill>
                          <a:latin typeface="Verdana"/>
                        </a:defRPr>
                      </a:pPr>
                      <a:r>
                        <a:t>10 Mbps</a:t>
                      </a:r>
                    </a:p>
                  </a:txBody>
                  <a:tcPr>
                    <a:solidFill>
                      <a:srgbClr val="FFFFFF"/>
                    </a:solidFill>
                  </a:tcPr>
                </a:tc>
                <a:tc>
                  <a:txBody>
                    <a:bodyPr/>
                    <a:lstStyle/>
                    <a:p>
                      <a:pPr>
                        <a:defRPr sz="1100">
                          <a:solidFill>
                            <a:srgbClr val="0F172A"/>
                          </a:solidFill>
                          <a:latin typeface="Verdana"/>
                        </a:defRPr>
                      </a:pPr>
                      <a:r>
                        <a:t>Primer estándar abierto de datos sobre HFC. Adición de QoS para llamadas de Voz sobre IP (VoIP).</a:t>
                      </a:r>
                    </a:p>
                  </a:txBody>
                  <a:tcPr>
                    <a:solidFill>
                      <a:srgbClr val="FFFFFF"/>
                    </a:solidFill>
                  </a:tcPr>
                </a:tc>
              </a:tr>
              <a:tr h="666205">
                <a:tc>
                  <a:txBody>
                    <a:bodyPr/>
                    <a:lstStyle/>
                    <a:p>
                      <a:pPr>
                        <a:defRPr sz="1100" b="1">
                          <a:solidFill>
                            <a:srgbClr val="0F172A"/>
                          </a:solidFill>
                          <a:latin typeface="Verdana"/>
                        </a:defRPr>
                      </a:pPr>
                      <a:r>
                        <a:t>DOCSIS 2.0</a:t>
                      </a:r>
                    </a:p>
                  </a:txBody>
                  <a:tcPr>
                    <a:solidFill>
                      <a:srgbClr val="F1F5F9"/>
                    </a:solidFill>
                  </a:tcPr>
                </a:tc>
                <a:tc>
                  <a:txBody>
                    <a:bodyPr/>
                    <a:lstStyle/>
                    <a:p>
                      <a:pPr>
                        <a:defRPr sz="1100" b="1">
                          <a:solidFill>
                            <a:srgbClr val="0F172A"/>
                          </a:solidFill>
                          <a:latin typeface="Verdana"/>
                        </a:defRPr>
                      </a:pPr>
                      <a:r>
                        <a:t>2001</a:t>
                      </a:r>
                    </a:p>
                  </a:txBody>
                  <a:tcPr>
                    <a:solidFill>
                      <a:srgbClr val="F1F5F9"/>
                    </a:solidFill>
                  </a:tcPr>
                </a:tc>
                <a:tc>
                  <a:txBody>
                    <a:bodyPr/>
                    <a:lstStyle/>
                    <a:p>
                      <a:pPr>
                        <a:defRPr sz="1100">
                          <a:solidFill>
                            <a:srgbClr val="0F172A"/>
                          </a:solidFill>
                          <a:latin typeface="Verdana"/>
                        </a:defRPr>
                      </a:pPr>
                      <a:r>
                        <a:t>38 Mbps</a:t>
                      </a:r>
                    </a:p>
                  </a:txBody>
                  <a:tcPr>
                    <a:solidFill>
                      <a:srgbClr val="F1F5F9"/>
                    </a:solidFill>
                  </a:tcPr>
                </a:tc>
                <a:tc>
                  <a:txBody>
                    <a:bodyPr/>
                    <a:lstStyle/>
                    <a:p>
                      <a:pPr>
                        <a:defRPr sz="1100">
                          <a:solidFill>
                            <a:srgbClr val="0F172A"/>
                          </a:solidFill>
                          <a:latin typeface="Verdana"/>
                        </a:defRPr>
                      </a:pPr>
                      <a:r>
                        <a:t>30 Mbps</a:t>
                      </a:r>
                    </a:p>
                  </a:txBody>
                  <a:tcPr>
                    <a:solidFill>
                      <a:srgbClr val="F1F5F9"/>
                    </a:solidFill>
                  </a:tcPr>
                </a:tc>
                <a:tc>
                  <a:txBody>
                    <a:bodyPr/>
                    <a:lstStyle/>
                    <a:p>
                      <a:pPr>
                        <a:defRPr sz="1100">
                          <a:solidFill>
                            <a:srgbClr val="0F172A"/>
                          </a:solidFill>
                          <a:latin typeface="Verdana"/>
                        </a:defRPr>
                      </a:pPr>
                      <a:r>
                        <a:t>Introdujo modulación S-CDMA para mayor velocidad e inmunidad al ruido en el canal de subida.</a:t>
                      </a:r>
                    </a:p>
                  </a:txBody>
                  <a:tcPr>
                    <a:solidFill>
                      <a:srgbClr val="F1F5F9"/>
                    </a:solidFill>
                  </a:tcPr>
                </a:tc>
              </a:tr>
              <a:tr h="666205">
                <a:tc>
                  <a:txBody>
                    <a:bodyPr/>
                    <a:lstStyle/>
                    <a:p>
                      <a:pPr>
                        <a:defRPr sz="1100" b="1">
                          <a:solidFill>
                            <a:srgbClr val="0F172A"/>
                          </a:solidFill>
                          <a:latin typeface="Verdana"/>
                        </a:defRPr>
                      </a:pPr>
                      <a:r>
                        <a:t>DOCSIS 3.0</a:t>
                      </a:r>
                    </a:p>
                  </a:txBody>
                  <a:tcPr>
                    <a:solidFill>
                      <a:srgbClr val="FFFFFF"/>
                    </a:solidFill>
                  </a:tcPr>
                </a:tc>
                <a:tc>
                  <a:txBody>
                    <a:bodyPr/>
                    <a:lstStyle/>
                    <a:p>
                      <a:pPr>
                        <a:defRPr sz="1100" b="1">
                          <a:solidFill>
                            <a:srgbClr val="0F172A"/>
                          </a:solidFill>
                          <a:latin typeface="Verdana"/>
                        </a:defRPr>
                      </a:pPr>
                      <a:r>
                        <a:t>2006</a:t>
                      </a:r>
                    </a:p>
                  </a:txBody>
                  <a:tcPr>
                    <a:solidFill>
                      <a:srgbClr val="FFFFFF"/>
                    </a:solidFill>
                  </a:tcPr>
                </a:tc>
                <a:tc>
                  <a:txBody>
                    <a:bodyPr/>
                    <a:lstStyle/>
                    <a:p>
                      <a:pPr>
                        <a:defRPr sz="1100">
                          <a:solidFill>
                            <a:srgbClr val="0F172A"/>
                          </a:solidFill>
                          <a:latin typeface="Verdana"/>
                        </a:defRPr>
                      </a:pPr>
                      <a:r>
                        <a:t>1,000 Mbps (1 Gbps)</a:t>
                      </a:r>
                    </a:p>
                  </a:txBody>
                  <a:tcPr>
                    <a:solidFill>
                      <a:srgbClr val="FFFFFF"/>
                    </a:solidFill>
                  </a:tcPr>
                </a:tc>
                <a:tc>
                  <a:txBody>
                    <a:bodyPr/>
                    <a:lstStyle/>
                    <a:p>
                      <a:pPr>
                        <a:defRPr sz="1100">
                          <a:solidFill>
                            <a:srgbClr val="0F172A"/>
                          </a:solidFill>
                          <a:latin typeface="Verdana"/>
                        </a:defRPr>
                      </a:pPr>
                      <a:r>
                        <a:t>200 Mbps</a:t>
                      </a:r>
                    </a:p>
                  </a:txBody>
                  <a:tcPr>
                    <a:solidFill>
                      <a:srgbClr val="FFFFFF"/>
                    </a:solidFill>
                  </a:tcPr>
                </a:tc>
                <a:tc>
                  <a:txBody>
                    <a:bodyPr/>
                    <a:lstStyle/>
                    <a:p>
                      <a:pPr>
                        <a:defRPr sz="1100">
                          <a:solidFill>
                            <a:srgbClr val="0F172A"/>
                          </a:solidFill>
                          <a:latin typeface="Verdana"/>
                        </a:defRPr>
                      </a:pPr>
                      <a:r>
                        <a:t>Agregación de Canales (Channel Bonding): Unió múltiples canales de 6 MHz. Soporte para IPv6.</a:t>
                      </a:r>
                    </a:p>
                  </a:txBody>
                  <a:tcPr>
                    <a:solidFill>
                      <a:srgbClr val="FFFFFF"/>
                    </a:solidFill>
                  </a:tcPr>
                </a:tc>
              </a:tr>
              <a:tr h="666205">
                <a:tc>
                  <a:txBody>
                    <a:bodyPr/>
                    <a:lstStyle/>
                    <a:p>
                      <a:pPr>
                        <a:defRPr sz="1100" b="1">
                          <a:solidFill>
                            <a:srgbClr val="0F172A"/>
                          </a:solidFill>
                          <a:latin typeface="Verdana"/>
                        </a:defRPr>
                      </a:pPr>
                      <a:r>
                        <a:t>DOCSIS 3.1</a:t>
                      </a:r>
                    </a:p>
                  </a:txBody>
                  <a:tcPr>
                    <a:solidFill>
                      <a:srgbClr val="F1F5F9"/>
                    </a:solidFill>
                  </a:tcPr>
                </a:tc>
                <a:tc>
                  <a:txBody>
                    <a:bodyPr/>
                    <a:lstStyle/>
                    <a:p>
                      <a:pPr>
                        <a:defRPr sz="1100" b="1">
                          <a:solidFill>
                            <a:srgbClr val="0F172A"/>
                          </a:solidFill>
                          <a:latin typeface="Verdana"/>
                        </a:defRPr>
                      </a:pPr>
                      <a:r>
                        <a:t>2013</a:t>
                      </a:r>
                    </a:p>
                  </a:txBody>
                  <a:tcPr>
                    <a:solidFill>
                      <a:srgbClr val="F1F5F9"/>
                    </a:solidFill>
                  </a:tcPr>
                </a:tc>
                <a:tc>
                  <a:txBody>
                    <a:bodyPr/>
                    <a:lstStyle/>
                    <a:p>
                      <a:pPr>
                        <a:defRPr sz="1100">
                          <a:solidFill>
                            <a:srgbClr val="0F172A"/>
                          </a:solidFill>
                          <a:latin typeface="Verdana"/>
                        </a:defRPr>
                      </a:pPr>
                      <a:r>
                        <a:t>10,000 Mbps (10 Gbps)</a:t>
                      </a:r>
                    </a:p>
                  </a:txBody>
                  <a:tcPr>
                    <a:solidFill>
                      <a:srgbClr val="F1F5F9"/>
                    </a:solidFill>
                  </a:tcPr>
                </a:tc>
                <a:tc>
                  <a:txBody>
                    <a:bodyPr/>
                    <a:lstStyle/>
                    <a:p>
                      <a:pPr>
                        <a:defRPr sz="1100">
                          <a:solidFill>
                            <a:srgbClr val="0F172A"/>
                          </a:solidFill>
                          <a:latin typeface="Verdana"/>
                        </a:defRPr>
                      </a:pPr>
                      <a:r>
                        <a:t>1,000-2,000 Mbps</a:t>
                      </a:r>
                    </a:p>
                  </a:txBody>
                  <a:tcPr>
                    <a:solidFill>
                      <a:srgbClr val="F1F5F9"/>
                    </a:solidFill>
                  </a:tcPr>
                </a:tc>
                <a:tc>
                  <a:txBody>
                    <a:bodyPr/>
                    <a:lstStyle/>
                    <a:p>
                      <a:pPr>
                        <a:defRPr sz="1100">
                          <a:solidFill>
                            <a:srgbClr val="0F172A"/>
                          </a:solidFill>
                          <a:latin typeface="Verdana"/>
                        </a:defRPr>
                      </a:pPr>
                      <a:r>
                        <a:t>Sustituyó portadoras individuales por subportadoras OFDM (4096-QAM), multiplicando la eficiencia.</a:t>
                      </a:r>
                    </a:p>
                  </a:txBody>
                  <a:tcPr>
                    <a:solidFill>
                      <a:srgbClr val="F1F5F9"/>
                    </a:solidFill>
                  </a:tcPr>
                </a:tc>
              </a:tr>
              <a:tr h="666205">
                <a:tc>
                  <a:txBody>
                    <a:bodyPr/>
                    <a:lstStyle/>
                    <a:p>
                      <a:pPr>
                        <a:defRPr sz="1100" b="1">
                          <a:solidFill>
                            <a:srgbClr val="0F172A"/>
                          </a:solidFill>
                          <a:latin typeface="Verdana"/>
                        </a:defRPr>
                      </a:pPr>
                      <a:r>
                        <a:t>DOCSIS 4.0 (FDX)</a:t>
                      </a:r>
                    </a:p>
                  </a:txBody>
                  <a:tcPr>
                    <a:solidFill>
                      <a:srgbClr val="FFFFFF"/>
                    </a:solidFill>
                  </a:tcPr>
                </a:tc>
                <a:tc>
                  <a:txBody>
                    <a:bodyPr/>
                    <a:lstStyle/>
                    <a:p>
                      <a:pPr>
                        <a:defRPr sz="1100" b="1">
                          <a:solidFill>
                            <a:srgbClr val="0F172A"/>
                          </a:solidFill>
                          <a:latin typeface="Verdana"/>
                        </a:defRPr>
                      </a:pPr>
                      <a:r>
                        <a:t>2017-19</a:t>
                      </a:r>
                    </a:p>
                  </a:txBody>
                  <a:tcPr>
                    <a:solidFill>
                      <a:srgbClr val="FFFFFF"/>
                    </a:solidFill>
                  </a:tcPr>
                </a:tc>
                <a:tc>
                  <a:txBody>
                    <a:bodyPr/>
                    <a:lstStyle/>
                    <a:p>
                      <a:pPr>
                        <a:defRPr sz="1100">
                          <a:solidFill>
                            <a:srgbClr val="0F172A"/>
                          </a:solidFill>
                          <a:latin typeface="Verdana"/>
                        </a:defRPr>
                      </a:pPr>
                      <a:r>
                        <a:t>10,000 Mbps (10 Gbps)</a:t>
                      </a:r>
                    </a:p>
                  </a:txBody>
                  <a:tcPr>
                    <a:solidFill>
                      <a:srgbClr val="FFFFFF"/>
                    </a:solidFill>
                  </a:tcPr>
                </a:tc>
                <a:tc>
                  <a:txBody>
                    <a:bodyPr/>
                    <a:lstStyle/>
                    <a:p>
                      <a:pPr>
                        <a:defRPr sz="1100">
                          <a:solidFill>
                            <a:srgbClr val="0F172A"/>
                          </a:solidFill>
                          <a:latin typeface="Verdana"/>
                        </a:defRPr>
                      </a:pPr>
                      <a:r>
                        <a:t>6,000 Mbps</a:t>
                      </a:r>
                    </a:p>
                  </a:txBody>
                  <a:tcPr>
                    <a:solidFill>
                      <a:srgbClr val="FFFFFF"/>
                    </a:solidFill>
                  </a:tcPr>
                </a:tc>
                <a:tc>
                  <a:txBody>
                    <a:bodyPr/>
                    <a:lstStyle/>
                    <a:p>
                      <a:pPr>
                        <a:defRPr sz="1100">
                          <a:solidFill>
                            <a:srgbClr val="0F172A"/>
                          </a:solidFill>
                          <a:latin typeface="Verdana"/>
                        </a:defRPr>
                      </a:pPr>
                      <a:r>
                        <a:t>Full Duplex (FDX): Permite transmitir bajada y subida en la misma frecuencia simultáneamente sobre 1.8 GHz.</a:t>
                      </a:r>
                    </a:p>
                  </a:txBody>
                  <a:tcPr>
                    <a:solidFill>
                      <a:srgbClr val="FFFFFF"/>
                    </a:solidFill>
                  </a:tcPr>
                </a:tc>
              </a:tr>
              <a:tr h="666210">
                <a:tc>
                  <a:txBody>
                    <a:bodyPr/>
                    <a:lstStyle/>
                    <a:p>
                      <a:pPr>
                        <a:defRPr sz="1100" b="1">
                          <a:solidFill>
                            <a:srgbClr val="0F172A"/>
                          </a:solidFill>
                          <a:latin typeface="Verdana"/>
                        </a:defRPr>
                      </a:pPr>
                      <a:r>
                        <a:t>Recomendaciones ITU</a:t>
                      </a:r>
                    </a:p>
                  </a:txBody>
                  <a:tcPr>
                    <a:solidFill>
                      <a:srgbClr val="F1F5F9"/>
                    </a:solidFill>
                  </a:tcPr>
                </a:tc>
                <a:tc>
                  <a:txBody>
                    <a:bodyPr/>
                    <a:lstStyle/>
                    <a:p>
                      <a:pPr>
                        <a:defRPr sz="1100" b="1">
                          <a:solidFill>
                            <a:srgbClr val="0F172A"/>
                          </a:solidFill>
                          <a:latin typeface="Verdana"/>
                        </a:defRPr>
                      </a:pPr>
                      <a:r>
                        <a:t>1998-2022</a:t>
                      </a:r>
                    </a:p>
                  </a:txBody>
                  <a:tcPr>
                    <a:solidFill>
                      <a:srgbClr val="F1F5F9"/>
                    </a:solidFill>
                  </a:tcPr>
                </a:tc>
                <a:tc>
                  <a:txBody>
                    <a:bodyPr/>
                    <a:lstStyle/>
                    <a:p>
                      <a:pPr>
                        <a:defRPr sz="1100">
                          <a:solidFill>
                            <a:srgbClr val="0F172A"/>
                          </a:solidFill>
                          <a:latin typeface="Verdana"/>
                        </a:defRPr>
                      </a:pPr>
                      <a:r>
                        <a:t>Estándares Globales</a:t>
                      </a:r>
                    </a:p>
                  </a:txBody>
                  <a:tcPr>
                    <a:solidFill>
                      <a:srgbClr val="F1F5F9"/>
                    </a:solidFill>
                  </a:tcPr>
                </a:tc>
                <a:tc>
                  <a:txBody>
                    <a:bodyPr/>
                    <a:lstStyle/>
                    <a:p>
                      <a:pPr>
                        <a:defRPr sz="1100">
                          <a:solidFill>
                            <a:srgbClr val="0F172A"/>
                          </a:solidFill>
                          <a:latin typeface="Verdana"/>
                        </a:defRPr>
                      </a:pPr>
                      <a:r>
                        <a:t>ITU-T J.112 - J.224</a:t>
                      </a:r>
                    </a:p>
                  </a:txBody>
                  <a:tcPr>
                    <a:solidFill>
                      <a:srgbClr val="F1F5F9"/>
                    </a:solidFill>
                  </a:tcPr>
                </a:tc>
                <a:tc>
                  <a:txBody>
                    <a:bodyPr/>
                    <a:lstStyle/>
                    <a:p>
                      <a:pPr>
                        <a:defRPr sz="1100">
                          <a:solidFill>
                            <a:srgbClr val="0F172A"/>
                          </a:solidFill>
                          <a:latin typeface="Verdana"/>
                        </a:defRPr>
                      </a:pPr>
                      <a:r>
                        <a:t>Adopción de DOCSIS por la Unión Internacional de Telecomunicaciones para despliegues mundiales.</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El Límite Físico: Los Desafíos Insuperables del Cable Coaxial</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444752"/>
          </a:xfrm>
          <a:prstGeom prst="roundRect">
            <a:avLst/>
          </a:prstGeom>
          <a:solidFill>
            <a:srgbClr val="FFF1F1"/>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55648"/>
            <a:ext cx="10362895" cy="1234440"/>
          </a:xfrm>
          <a:prstGeom prst="rect">
            <a:avLst/>
          </a:prstGeom>
          <a:noFill/>
        </p:spPr>
        <p:txBody>
          <a:bodyPr wrap="square">
            <a:spAutoFit/>
          </a:bodyPr>
          <a:lstStyle/>
          <a:p>
            <a:pPr>
              <a:spcAft>
                <a:spcPts val="400"/>
              </a:spcAft>
              <a:defRPr sz="1700" b="1">
                <a:solidFill>
                  <a:srgbClr val="B91C1C"/>
                </a:solidFill>
                <a:latin typeface="Georgia"/>
              </a:defRPr>
            </a:pPr>
            <a:r>
              <a:t>1. Ruido de Ingreso en Subida (Ingress Noise)</a:t>
            </a:r>
          </a:p>
          <a:p>
            <a:pPr>
              <a:defRPr sz="1300">
                <a:solidFill>
                  <a:srgbClr val="0F172A"/>
                </a:solidFill>
                <a:latin typeface="Verdana"/>
              </a:defRPr>
            </a:pPr>
            <a:r>
              <a:t>El cable coaxial de la calle actúa como una antena gigantesca que absorbe ruido electromagnético ambiental (motores, radios, conectores sulfatados). El ruido de TODAS las casas se acumula en el nodo óptico, estrangulando la velocidad de subida.</a:t>
            </a:r>
          </a:p>
        </p:txBody>
      </p:sp>
      <p:sp>
        <p:nvSpPr>
          <p:cNvPr id="7" name="Rounded Rectangle 6"/>
          <p:cNvSpPr/>
          <p:nvPr/>
        </p:nvSpPr>
        <p:spPr>
          <a:xfrm>
            <a:off x="731520" y="3246120"/>
            <a:ext cx="10728655" cy="1444752"/>
          </a:xfrm>
          <a:prstGeom prst="roundRect">
            <a:avLst/>
          </a:prstGeom>
          <a:solidFill>
            <a:srgbClr val="FFF1F1"/>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55848"/>
            <a:ext cx="10362895" cy="1234440"/>
          </a:xfrm>
          <a:prstGeom prst="rect">
            <a:avLst/>
          </a:prstGeom>
          <a:noFill/>
        </p:spPr>
        <p:txBody>
          <a:bodyPr wrap="square">
            <a:spAutoFit/>
          </a:bodyPr>
          <a:lstStyle/>
          <a:p>
            <a:pPr>
              <a:spcAft>
                <a:spcPts val="400"/>
              </a:spcAft>
              <a:defRPr sz="1700" b="1">
                <a:solidFill>
                  <a:srgbClr val="B91C1C"/>
                </a:solidFill>
                <a:latin typeface="Georgia"/>
              </a:defRPr>
            </a:pPr>
            <a:r>
              <a:t>2. Atenuación Extrema a Altas Frecuencias</a:t>
            </a:r>
          </a:p>
          <a:p>
            <a:pPr>
              <a:defRPr sz="1300">
                <a:solidFill>
                  <a:srgbClr val="0F172A"/>
                </a:solidFill>
                <a:latin typeface="Verdana"/>
              </a:defRPr>
            </a:pPr>
            <a:r>
              <a:t>Para alcanzar multi-gigabits en DOCSIS 3.1/4.0 se requiere usar frecuencias de hasta 1.2 GHz y 1.8 GHz. A estas frecuencias, el cobre atenuá muchísimo la señal, obligando a poner cascadas de amplificadores alimentados por electricidad cada pocos metros.</a:t>
            </a:r>
          </a:p>
        </p:txBody>
      </p:sp>
      <p:sp>
        <p:nvSpPr>
          <p:cNvPr id="9" name="Rounded Rectangle 8"/>
          <p:cNvSpPr/>
          <p:nvPr/>
        </p:nvSpPr>
        <p:spPr>
          <a:xfrm>
            <a:off x="731520" y="4846320"/>
            <a:ext cx="10728655" cy="1444752"/>
          </a:xfrm>
          <a:prstGeom prst="roundRect">
            <a:avLst/>
          </a:prstGeom>
          <a:solidFill>
            <a:srgbClr val="FFF1F1"/>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56048"/>
            <a:ext cx="10362895" cy="1234440"/>
          </a:xfrm>
          <a:prstGeom prst="rect">
            <a:avLst/>
          </a:prstGeom>
          <a:noFill/>
        </p:spPr>
        <p:txBody>
          <a:bodyPr wrap="square">
            <a:spAutoFit/>
          </a:bodyPr>
          <a:lstStyle/>
          <a:p>
            <a:pPr>
              <a:spcAft>
                <a:spcPts val="400"/>
              </a:spcAft>
              <a:defRPr sz="1700" b="1">
                <a:solidFill>
                  <a:srgbClr val="B91C1C"/>
                </a:solidFill>
                <a:latin typeface="Georgia"/>
              </a:defRPr>
            </a:pPr>
            <a:r>
              <a:t>3. Asimetría Estructural Nativa</a:t>
            </a:r>
          </a:p>
          <a:p>
            <a:pPr>
              <a:defRPr sz="1300">
                <a:solidFill>
                  <a:srgbClr val="0F172A"/>
                </a:solidFill>
                <a:latin typeface="Verdana"/>
              </a:defRPr>
            </a:pPr>
            <a:r>
              <a:t>El espectro del cable coaxial fue diseñado para televisión (85% para descarga). Aunque DOCSIS 4.0 introdujo técnicas complejas de cancelación de eco (Full Duplex), ofrecer velocidades simétricas en coaxial requiere enormes costos de remodelación de planta.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La Siguiente Evolución: Lo que la Fibra Óptica (FTTH) Resolvió que el Coaxial YA NO PUDO</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62179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5852160" cy="4480560"/>
          </a:xfrm>
          <a:prstGeom prst="rect">
            <a:avLst/>
          </a:prstGeom>
          <a:noFill/>
        </p:spPr>
        <p:txBody>
          <a:bodyPr wrap="square">
            <a:spAutoFit/>
          </a:bodyPr>
          <a:lstStyle/>
          <a:p>
            <a:pPr>
              <a:spcAft>
                <a:spcPts val="1200"/>
              </a:spcAft>
              <a:defRPr sz="2000" b="1">
                <a:solidFill>
                  <a:srgbClr val="047857"/>
                </a:solidFill>
                <a:latin typeface="Georgia"/>
              </a:defRPr>
            </a:pPr>
            <a:r>
              <a:t>FTTH (GPON / XGS-PON): El Sucesor Definitivo</a:t>
            </a:r>
          </a:p>
          <a:p>
            <a:pPr>
              <a:spcAft>
                <a:spcPts val="800"/>
              </a:spcAft>
              <a:defRPr sz="1300">
                <a:solidFill>
                  <a:srgbClr val="0F172A"/>
                </a:solidFill>
                <a:latin typeface="Verdana"/>
              </a:defRPr>
            </a:pPr>
            <a:r>
              <a:t>• Inmunidad Total a Interferencias: Sustituye ondas RF electromagnéticas por pulsos de luz láser dentro de filamentos de vidrio ultra puro. Cero ruido de ingreso.</a:t>
            </a:r>
          </a:p>
          <a:p>
            <a:pPr>
              <a:spcAft>
                <a:spcPts val="800"/>
              </a:spcAft>
              <a:defRPr sz="1300">
                <a:solidFill>
                  <a:srgbClr val="0F172A"/>
                </a:solidFill>
                <a:latin typeface="Verdana"/>
              </a:defRPr>
            </a:pPr>
            <a:r>
              <a:t>• Redes Ópticas Pasivas (PON): Elimina todos los amplificadores alimentados por electricidad en las calles. Usa divisores ópticos pasivos (splitters) sin consumo eléctrico.</a:t>
            </a:r>
          </a:p>
          <a:p>
            <a:pPr>
              <a:spcAft>
                <a:spcPts val="800"/>
              </a:spcAft>
              <a:defRPr sz="1300">
                <a:solidFill>
                  <a:srgbClr val="0F172A"/>
                </a:solidFill>
                <a:latin typeface="Verdana"/>
              </a:defRPr>
            </a:pPr>
            <a:r>
              <a:t>• Velocidades Simétricas Nativas: Ofrece 1 Gbps o 10 Gbps idénticos de bajada y subida sin truco de frecuencias.</a:t>
            </a:r>
          </a:p>
          <a:p>
            <a:pPr>
              <a:spcAft>
                <a:spcPts val="800"/>
              </a:spcAft>
              <a:defRPr sz="1300">
                <a:solidFill>
                  <a:srgbClr val="0F172A"/>
                </a:solidFill>
                <a:latin typeface="Verdana"/>
              </a:defRPr>
            </a:pPr>
            <a:r>
              <a:t>• Latencia Ultra Baja: Pasa de 15-35 ms en Cable Módem a solo 1-5 ms en fibra óptica pura.</a:t>
            </a:r>
          </a:p>
          <a:p>
            <a:pPr>
              <a:spcAft>
                <a:spcPts val="800"/>
              </a:spcAft>
              <a:defRPr sz="1300">
                <a:solidFill>
                  <a:srgbClr val="0F172A"/>
                </a:solidFill>
                <a:latin typeface="Verdana"/>
              </a:defRPr>
            </a:pPr>
            <a:r>
              <a:t>• Preparado para el Futuro: Un cable de fibra tendido hoy soporta avances cambiando solo los transceptores en los extremos.</a:t>
            </a:r>
          </a:p>
        </p:txBody>
      </p:sp>
      <p:sp>
        <p:nvSpPr>
          <p:cNvPr id="7" name="Rounded Rectangle 6"/>
          <p:cNvSpPr/>
          <p:nvPr/>
        </p:nvSpPr>
        <p:spPr>
          <a:xfrm>
            <a:off x="7132320" y="1645920"/>
            <a:ext cx="43278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tth_fiber_splicing.png"/>
          <p:cNvPicPr>
            <a:picLocks noChangeAspect="1"/>
          </p:cNvPicPr>
          <p:nvPr/>
        </p:nvPicPr>
        <p:blipFill>
          <a:blip r:embed="rId2"/>
          <a:stretch>
            <a:fillRect/>
          </a:stretch>
        </p:blipFill>
        <p:spPr>
          <a:xfrm>
            <a:off x="7315200" y="1828800"/>
            <a:ext cx="3962095" cy="2971800"/>
          </a:xfrm>
          <a:prstGeom prst="rect">
            <a:avLst/>
          </a:prstGeom>
        </p:spPr>
      </p:pic>
      <p:sp>
        <p:nvSpPr>
          <p:cNvPr id="9" name="TextBox 8"/>
          <p:cNvSpPr txBox="1"/>
          <p:nvPr/>
        </p:nvSpPr>
        <p:spPr>
          <a:xfrm>
            <a:off x="7315200" y="4892040"/>
            <a:ext cx="3962095" cy="1463040"/>
          </a:xfrm>
          <a:prstGeom prst="rect">
            <a:avLst/>
          </a:prstGeom>
          <a:noFill/>
        </p:spPr>
        <p:txBody>
          <a:bodyPr wrap="square">
            <a:spAutoFit/>
          </a:bodyPr>
          <a:lstStyle/>
          <a:p>
            <a:pPr>
              <a:defRPr sz="1100">
                <a:solidFill>
                  <a:srgbClr val="475569"/>
                </a:solidFill>
                <a:latin typeface="Verdana"/>
              </a:defRPr>
            </a:pPr>
            <a:r>
              <a:t>Figura 11.1: Técnico realizando empalme de precisión por fusión de arco eléctrico en fibra óptica para redes FTTH [Fuente: Fotografías de Despliegue Óptico Moderno].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lIns="0" rIns="0" tIns="0" bIns="0">
            <a:spAutoFit/>
          </a:bodyPr>
          <a:lstStyle/>
          <a:p>
            <a:pPr>
              <a:defRPr sz="1100" b="1">
                <a:solidFill>
                  <a:srgbClr val="3B82F6"/>
                </a:solidFill>
                <a:latin typeface="Verdana"/>
              </a:defRPr>
            </a:pPr>
            <a:r>
              <a:t>REDES DE ALTA VELOCIDAD — CABLE MÓDEM</a:t>
            </a:r>
          </a:p>
        </p:txBody>
      </p:sp>
      <p:sp>
        <p:nvSpPr>
          <p:cNvPr id="3" name="TextBox 2"/>
          <p:cNvSpPr txBox="1"/>
          <p:nvPr/>
        </p:nvSpPr>
        <p:spPr>
          <a:xfrm>
            <a:off x="731520" y="685800"/>
            <a:ext cx="10698480" cy="731520"/>
          </a:xfrm>
          <a:prstGeom prst="rect">
            <a:avLst/>
          </a:prstGeom>
          <a:noFill/>
        </p:spPr>
        <p:txBody>
          <a:bodyPr wrap="square" lIns="0" rIns="0" tIns="0" bIns="0">
            <a:spAutoFit/>
          </a:bodyPr>
          <a:lstStyle/>
          <a:p>
            <a:pPr>
              <a:defRPr sz="2400" b="1">
                <a:solidFill>
                  <a:srgbClr val="0F172A"/>
                </a:solidFill>
                <a:latin typeface="Georgia"/>
              </a:defRPr>
            </a:pPr>
            <a:r>
              <a:t>Referencias Bibliográficas (Formato Estándar IEEE)</a:t>
            </a:r>
          </a:p>
        </p:txBody>
      </p:sp>
      <p:sp>
        <p:nvSpPr>
          <p:cNvPr id="4" name="Rectangle 3"/>
          <p:cNvSpPr/>
          <p:nvPr/>
        </p:nvSpPr>
        <p:spPr>
          <a:xfrm>
            <a:off x="731520" y="1417320"/>
            <a:ext cx="10728655" cy="254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62895" cy="4572000"/>
          </a:xfrm>
          <a:prstGeom prst="rect">
            <a:avLst/>
          </a:prstGeom>
          <a:noFill/>
        </p:spPr>
        <p:txBody>
          <a:bodyPr wrap="square">
            <a:spAutoFit/>
          </a:bodyPr>
          <a:lstStyle/>
          <a:p>
            <a:pPr>
              <a:spcAft>
                <a:spcPts val="800"/>
              </a:spcAft>
              <a:defRPr sz="1500" b="1">
                <a:solidFill>
                  <a:srgbClr val="1E40AF"/>
                </a:solidFill>
                <a:latin typeface="Georgia"/>
              </a:defRPr>
            </a:pPr>
            <a:r>
              <a:t>Fuentes Académicas y Estándares de la Industria Utilizados:</a:t>
            </a:r>
          </a:p>
          <a:p>
            <a:pPr>
              <a:spcAft>
                <a:spcPts val="400"/>
              </a:spcAft>
              <a:defRPr sz="1100">
                <a:solidFill>
                  <a:srgbClr val="0F172A"/>
                </a:solidFill>
                <a:latin typeface="Verdana"/>
              </a:defRPr>
            </a:pPr>
            <a:r>
              <a:t>[1] R. Yassini-Fard and S. Schley, The Accidental Network: How a Small Company Sparked a Global Broadband Transformation. Foreword by J. Chambers. Louisville, CO: ClearPurpose Media, 2025.</a:t>
            </a:r>
          </a:p>
          <a:p>
            <a:pPr>
              <a:spcAft>
                <a:spcPts val="400"/>
              </a:spcAft>
              <a:defRPr sz="1100">
                <a:solidFill>
                  <a:srgbClr val="0F172A"/>
                </a:solidFill>
                <a:latin typeface="Verdana"/>
              </a:defRPr>
            </a:pPr>
            <a:r>
              <a:t>[2] CableLabs, Data-Over-Cable Service Interface Specifications DOCSIS® 4.0 Physical Layer Specification, CM-SP-PHYv4.0-I01-190815, Cable Television Laboratories, Inc., Aug. 2019.</a:t>
            </a:r>
          </a:p>
          <a:p>
            <a:pPr>
              <a:spcAft>
                <a:spcPts val="400"/>
              </a:spcAft>
              <a:defRPr sz="1100">
                <a:solidFill>
                  <a:srgbClr val="0F172A"/>
                </a:solidFill>
                <a:latin typeface="Verdana"/>
              </a:defRPr>
            </a:pPr>
            <a:r>
              <a:t>[3] CableLabs, Data-Over-Cable Service Interface Specifications DOCSIS 3.0 Operations Support System Interface Specification, CM-SP-OSSIv3.0-I05-071206, Cable Television Laboratories, Inc., Dec. 2007.</a:t>
            </a:r>
          </a:p>
          <a:p>
            <a:pPr>
              <a:spcAft>
                <a:spcPts val="400"/>
              </a:spcAft>
              <a:defRPr sz="1100">
                <a:solidFill>
                  <a:srgbClr val="0F172A"/>
                </a:solidFill>
                <a:latin typeface="Verdana"/>
              </a:defRPr>
            </a:pPr>
            <a:r>
              <a:t>[4] ITU-T, Fifth-generation transmission systems for interactive cable television services – IP cable modems, ITU-T Recommendation J.224, Oct. 2022.</a:t>
            </a:r>
          </a:p>
          <a:p>
            <a:pPr>
              <a:spcAft>
                <a:spcPts val="400"/>
              </a:spcAft>
              <a:defRPr sz="1100">
                <a:solidFill>
                  <a:srgbClr val="0F172A"/>
                </a:solidFill>
                <a:latin typeface="Verdana"/>
              </a:defRPr>
            </a:pPr>
            <a:r>
              <a:t>[5] W. Sawyer, Management Information Base for Data Over Cable Service Interface Specification (DOCSIS) Cable Modem Termination Systems for Subscriber Management, IETF RFC 4036, Apr. 2005.</a:t>
            </a:r>
          </a:p>
          <a:p>
            <a:pPr>
              <a:spcAft>
                <a:spcPts val="400"/>
              </a:spcAft>
              <a:defRPr sz="1100">
                <a:solidFill>
                  <a:srgbClr val="0F172A"/>
                </a:solidFill>
                <a:latin typeface="Verdana"/>
              </a:defRPr>
            </a:pPr>
            <a:r>
              <a:t>[6] R. Yassini, Planet Broadband. Boston, MA: YAS Broadband Ventures LLC, 2003.</a:t>
            </a:r>
          </a:p>
          <a:p>
            <a:pPr>
              <a:spcAft>
                <a:spcPts val="400"/>
              </a:spcAft>
              <a:defRPr sz="1100">
                <a:solidFill>
                  <a:srgbClr val="0F172A"/>
                </a:solidFill>
                <a:latin typeface="Verdana"/>
              </a:defRPr>
            </a:pPr>
            <a:r>
              <a:t>[7] S. Schley, 'Cable\'s Modem Man Looks Back. And Ahead,' Broadband Library, vol. 18, no. 3, pp. 14–22, Fall 2015.</a:t>
            </a:r>
          </a:p>
          <a:p>
            <a:pPr>
              <a:spcAft>
                <a:spcPts val="400"/>
              </a:spcAft>
              <a:defRPr sz="1100">
                <a:solidFill>
                  <a:srgbClr val="0F172A"/>
                </a:solidFill>
                <a:latin typeface="Verdana"/>
              </a:defRPr>
            </a:pPr>
            <a:r>
              <a:t>[8] Syndeo Institute, 'Modem Man: An Improbable, Inspiring Story,' The Cable Center Historical Archives, Nov. 2025.</a:t>
            </a:r>
          </a:p>
          <a:p>
            <a:pPr>
              <a:spcAft>
                <a:spcPts val="400"/>
              </a:spcAft>
              <a:defRPr sz="1100">
                <a:solidFill>
                  <a:srgbClr val="0F172A"/>
                </a:solidFill>
                <a:latin typeface="Verdana"/>
              </a:defRPr>
            </a:pPr>
            <a:r>
              <a:t>[9] InMyArea, 'History Of DOCSIS And The Future Of Cable Internet,' InMyArea Technical Reports, Jun. 2023.</a:t>
            </a:r>
          </a:p>
          <a:p>
            <a:pPr>
              <a:spcAft>
                <a:spcPts val="400"/>
              </a:spcAft>
              <a:defRPr sz="1100">
                <a:solidFill>
                  <a:srgbClr val="0F172A"/>
                </a:solidFill>
                <a:latin typeface="Verdana"/>
              </a:defRPr>
            </a:pPr>
            <a:r>
              <a:t>[10] Ethernet Alliance, 'Voices of Ethernet: Interview with Dr. Rouzbeh Yassini-Fard,' Ethernet Alliance Oral History Archive, 2022.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