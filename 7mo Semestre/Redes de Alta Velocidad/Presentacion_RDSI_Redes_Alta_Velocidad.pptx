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a:t>
            </a:r>
            <a:r>
              <a:rPr lang="en-US" sz="4400" b="0" u="none" strike="noStrike">
                <a:solidFill>
                  <a:schemeClr val="dk1"/>
                </a:solidFill>
                <a:effectLst/>
                <a:uFillTx/>
                <a:latin typeface="Calibri"/>
              </a:rPr>
              <a:t>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611AD11-B074-4376-93A7-76C26302F87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a:t>
            </a:r>
            <a:r>
              <a:rPr lang="en-US" sz="4400" b="0" u="none" strike="noStrike">
                <a:solidFill>
                  <a:schemeClr val="dk1"/>
                </a:solidFill>
                <a:effectLst/>
                <a:uFillTx/>
                <a:latin typeface="Calibri"/>
              </a:rPr>
              <a:t>edit </a:t>
            </a:r>
            <a:r>
              <a:rPr lang="en-US" sz="4400" b="0" u="none" strike="noStrike">
                <a:solidFill>
                  <a:schemeClr val="dk1"/>
                </a:solidFill>
                <a:effectLst/>
                <a:uFillTx/>
                <a:latin typeface="Calibri"/>
              </a:rPr>
              <a:t>Master </a:t>
            </a:r>
            <a:r>
              <a:rPr lang="en-US" sz="4400" b="0" u="none" strike="noStrike">
                <a:solidFill>
                  <a:schemeClr val="dk1"/>
                </a:solidFill>
                <a:effectLst/>
                <a:uFillTx/>
                <a:latin typeface="Calibri"/>
              </a:rPr>
              <a:t>title </a:t>
            </a:r>
            <a:r>
              <a:rPr lang="en-US" sz="4400" b="0" u="none" strike="noStrike">
                <a:solidFill>
                  <a:schemeClr val="dk1"/>
                </a:solidFill>
                <a:effectLst/>
                <a:uFillTx/>
                <a:latin typeface="Calibri"/>
              </a:rPr>
              <a:t>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F77FF16-2B3E-466F-AB23-09D8461DC0E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a:t>
            </a:r>
            <a:r>
              <a:rPr lang="en-US" sz="4400" b="0" u="none" strike="noStrike">
                <a:solidFill>
                  <a:schemeClr val="dk1"/>
                </a:solidFill>
                <a:effectLst/>
                <a:uFillTx/>
                <a:latin typeface="Calibri"/>
              </a:rPr>
              <a:t>ck </a:t>
            </a:r>
            <a:r>
              <a:rPr lang="en-US" sz="4400" b="0" u="none" strike="noStrike">
                <a:solidFill>
                  <a:schemeClr val="dk1"/>
                </a:solidFill>
                <a:effectLst/>
                <a:uFillTx/>
                <a:latin typeface="Calibri"/>
              </a:rPr>
              <a:t>to </a:t>
            </a:r>
            <a:r>
              <a:rPr lang="en-US" sz="4400" b="0" u="none" strike="noStrike">
                <a:solidFill>
                  <a:schemeClr val="dk1"/>
                </a:solidFill>
                <a:effectLst/>
                <a:uFillTx/>
                <a:latin typeface="Calibri"/>
              </a:rPr>
              <a:t>ed</a:t>
            </a:r>
            <a:r>
              <a:rPr lang="en-US" sz="4400" b="0" u="none" strike="noStrike">
                <a:solidFill>
                  <a:schemeClr val="dk1"/>
                </a:solidFill>
                <a:effectLst/>
                <a:uFillTx/>
                <a:latin typeface="Calibri"/>
              </a:rPr>
              <a:t>it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as</a:t>
            </a:r>
            <a:r>
              <a:rPr lang="en-US" sz="4400" b="0" u="none" strike="noStrike">
                <a:solidFill>
                  <a:schemeClr val="dk1"/>
                </a:solidFill>
                <a:effectLst/>
                <a:uFillTx/>
                <a:latin typeface="Calibri"/>
              </a:rPr>
              <a:t>te</a:t>
            </a:r>
            <a:r>
              <a:rPr lang="en-US" sz="4400" b="0" u="none" strike="noStrike">
                <a:solidFill>
                  <a:schemeClr val="dk1"/>
                </a:solidFill>
                <a:effectLst/>
                <a:uFillTx/>
                <a:latin typeface="Calibri"/>
              </a:rPr>
              <a:t>r </a:t>
            </a:r>
            <a:r>
              <a:rPr lang="en-US" sz="4400" b="0" u="none" strike="noStrike">
                <a:solidFill>
                  <a:schemeClr val="dk1"/>
                </a:solidFill>
                <a:effectLst/>
                <a:uFillTx/>
                <a:latin typeface="Calibri"/>
              </a:rPr>
              <a:t>titl</a:t>
            </a:r>
            <a:r>
              <a:rPr lang="en-US" sz="4400" b="0" u="none" strike="noStrike">
                <a:solidFill>
                  <a:schemeClr val="dk1"/>
                </a:solidFill>
                <a:effectLst/>
                <a:uFillTx/>
                <a:latin typeface="Calibri"/>
              </a:rPr>
              <a:t>e </a:t>
            </a:r>
            <a:r>
              <a:rPr lang="en-US" sz="4400" b="0" u="none" strike="noStrike">
                <a:solidFill>
                  <a:schemeClr val="dk1"/>
                </a:solidFill>
                <a:effectLst/>
                <a:uFillTx/>
                <a:latin typeface="Calibri"/>
              </a:rPr>
              <a:t>st</a:t>
            </a:r>
            <a:r>
              <a:rPr lang="en-US" sz="4400" b="0" u="none" strike="noStrike">
                <a:solidFill>
                  <a:schemeClr val="dk1"/>
                </a:solidFill>
                <a:effectLst/>
                <a:uFillTx/>
                <a:latin typeface="Calibri"/>
              </a:rPr>
              <a:t>yl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CA4F71D-1F38-4A32-866F-2847696619F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a:t>
            </a:r>
            <a:r>
              <a:rPr lang="en-US" sz="4400" b="0" u="none" strike="noStrike">
                <a:solidFill>
                  <a:schemeClr val="dk1"/>
                </a:solidFill>
                <a:effectLst/>
                <a:uFillTx/>
                <a:latin typeface="Calibri"/>
              </a:rPr>
              <a:t>edit </a:t>
            </a:r>
            <a:r>
              <a:rPr lang="en-US" sz="4400" b="0" u="none" strike="noStrike">
                <a:solidFill>
                  <a:schemeClr val="dk1"/>
                </a:solidFill>
                <a:effectLst/>
                <a:uFillTx/>
                <a:latin typeface="Calibri"/>
              </a:rPr>
              <a:t>Master </a:t>
            </a:r>
            <a:r>
              <a:rPr lang="en-US" sz="4400" b="0" u="none" strike="noStrike">
                <a:solidFill>
                  <a:schemeClr val="dk1"/>
                </a:solidFill>
                <a:effectLst/>
                <a:uFillTx/>
                <a:latin typeface="Calibri"/>
              </a:rPr>
              <a:t>title </a:t>
            </a:r>
            <a:r>
              <a:rPr lang="en-US" sz="4400" b="0" u="none" strike="noStrike">
                <a:solidFill>
                  <a:schemeClr val="dk1"/>
                </a:solidFill>
                <a:effectLst/>
                <a:uFillTx/>
                <a:latin typeface="Calibri"/>
              </a:rPr>
              <a:t>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A3841B8-F3C9-44EE-8D1F-D1C13BF92CA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a:t>
            </a:r>
            <a:r>
              <a:rPr lang="en-US" sz="4000" b="1" u="none" strike="noStrike" cap="all">
                <a:solidFill>
                  <a:schemeClr val="dk1"/>
                </a:solidFill>
                <a:effectLst/>
                <a:uFillTx/>
                <a:latin typeface="Calibri"/>
              </a:rPr>
              <a:t>edit </a:t>
            </a:r>
            <a:r>
              <a:rPr lang="en-US" sz="4000" b="1" u="none" strike="noStrike" cap="all">
                <a:solidFill>
                  <a:schemeClr val="dk1"/>
                </a:solidFill>
                <a:effectLst/>
                <a:uFillTx/>
                <a:latin typeface="Calibri"/>
              </a:rPr>
              <a:t>Master </a:t>
            </a:r>
            <a:r>
              <a:rPr lang="en-US" sz="4000" b="1" u="none" strike="noStrike" cap="all">
                <a:solidFill>
                  <a:schemeClr val="dk1"/>
                </a:solidFill>
                <a:effectLst/>
                <a:uFillTx/>
                <a:latin typeface="Calibri"/>
              </a:rPr>
              <a:t>title </a:t>
            </a:r>
            <a:r>
              <a:rPr lang="en-US" sz="4000" b="1" u="none" strike="noStrike" cap="all">
                <a:solidFill>
                  <a:schemeClr val="dk1"/>
                </a:solidFill>
                <a:effectLst/>
                <a:uFillTx/>
                <a:latin typeface="Calibri"/>
              </a:rPr>
              <a:t>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D7201B8-0232-4123-A50A-C9623657132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a:t>
            </a:r>
            <a:r>
              <a:rPr lang="en-US" sz="4400" b="0" u="none" strike="noStrike">
                <a:solidFill>
                  <a:schemeClr val="dk1"/>
                </a:solidFill>
                <a:effectLst/>
                <a:uFillTx/>
                <a:latin typeface="Calibri"/>
              </a:rPr>
              <a:t>edit </a:t>
            </a:r>
            <a:r>
              <a:rPr lang="en-US" sz="4400" b="0" u="none" strike="noStrike">
                <a:solidFill>
                  <a:schemeClr val="dk1"/>
                </a:solidFill>
                <a:effectLst/>
                <a:uFillTx/>
                <a:latin typeface="Calibri"/>
              </a:rPr>
              <a:t>Master </a:t>
            </a:r>
            <a:r>
              <a:rPr lang="en-US" sz="4400" b="0" u="none" strike="noStrike">
                <a:solidFill>
                  <a:schemeClr val="dk1"/>
                </a:solidFill>
                <a:effectLst/>
                <a:uFillTx/>
                <a:latin typeface="Calibri"/>
              </a:rPr>
              <a:t>title </a:t>
            </a:r>
            <a:r>
              <a:rPr lang="en-US" sz="4400" b="0" u="none" strike="noStrike">
                <a:solidFill>
                  <a:schemeClr val="dk1"/>
                </a:solidFill>
                <a:effectLst/>
                <a:uFillTx/>
                <a:latin typeface="Calibri"/>
              </a:rPr>
              <a:t>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BA3C59C-757F-4311-93C7-291230F2F31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A65E825-FAF7-4496-ADBA-4D6E02DE2BD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1BBEB54-ABC9-44A3-8CFD-FCA0695BFAD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548B0DF-1CA4-4078-A019-BD8516F7FB1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F12D0C7-2EDC-43B3-8777-B1CCC52BEC2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F136115-B4B6-4A52-B7C8-664B984792F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92F"/>
        </a:solidFill>
      </p:bgPr>
    </p:bg>
    <p:spTree>
      <p:nvGrpSpPr>
        <p:cNvPr id="1" name=""/>
        <p:cNvGrpSpPr/>
        <p:nvPr/>
      </p:nvGrpSpPr>
      <p:grpSpPr>
        <a:xfrm>
          <a:off x="0" y="0"/>
          <a:ext cx="0" cy="0"/>
          <a:chOff x="0" y="0"/>
          <a:chExt cx="0" cy="0"/>
        </a:xfrm>
      </p:grpSpPr>
      <p:sp>
        <p:nvSpPr>
          <p:cNvPr id="61" name="TextBox 1"/>
          <p:cNvSpPr/>
          <p:nvPr/>
        </p:nvSpPr>
        <p:spPr>
          <a:xfrm>
            <a:off x="914400" y="1645920"/>
            <a:ext cx="10362600" cy="282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199"/>
              </a:spcAft>
            </a:pPr>
            <a:r>
              <a:rPr lang="en-US" sz="1200" b="1" u="none" strike="noStrike">
                <a:solidFill>
                  <a:srgbClr val="0284C7"/>
                </a:solidFill>
                <a:effectLst/>
                <a:uFillTx/>
                <a:latin typeface="Arial"/>
              </a:rPr>
              <a:t>MATERIA: REDES DE </a:t>
            </a:r>
            <a:r>
              <a:rPr lang="en-US" sz="1200" b="1" u="none" strike="noStrike">
                <a:solidFill>
                  <a:srgbClr val="0284C7"/>
                </a:solidFill>
                <a:effectLst/>
                <a:uFillTx/>
                <a:latin typeface="Arial"/>
              </a:rPr>
              <a:t>ALTA VELOCIDAD</a:t>
            </a:r>
            <a:endParaRPr lang="en-US" sz="1200" b="0" u="none" strike="noStrike">
              <a:solidFill>
                <a:srgbClr val="FFFFFF"/>
              </a:solidFill>
              <a:effectLst/>
              <a:uFillTx/>
              <a:latin typeface="Arial"/>
            </a:endParaRPr>
          </a:p>
          <a:p>
            <a:pPr defTabSz="457200">
              <a:lnSpc>
                <a:spcPct val="100000"/>
              </a:lnSpc>
              <a:spcAft>
                <a:spcPts val="1599"/>
              </a:spcAft>
            </a:pPr>
            <a:r>
              <a:rPr lang="en-US" sz="3800" b="1" u="none" strike="noStrike">
                <a:solidFill>
                  <a:srgbClr val="FFFFFF"/>
                </a:solidFill>
                <a:effectLst/>
                <a:uFillTx/>
                <a:latin typeface="Georgia"/>
              </a:rPr>
              <a:t>Anato</a:t>
            </a:r>
            <a:r>
              <a:rPr lang="en-US" sz="3800" b="1" u="none" strike="noStrike">
                <a:solidFill>
                  <a:srgbClr val="FFFFFF"/>
                </a:solidFill>
                <a:effectLst/>
                <a:uFillTx/>
                <a:latin typeface="Georgia"/>
              </a:rPr>
              <a:t>mía </a:t>
            </a:r>
            <a:r>
              <a:rPr lang="en-US" sz="3800" b="1" u="none" strike="noStrike">
                <a:solidFill>
                  <a:srgbClr val="FFFFFF"/>
                </a:solidFill>
                <a:effectLst/>
                <a:uFillTx/>
                <a:latin typeface="Georgia"/>
              </a:rPr>
              <a:t>de la </a:t>
            </a:r>
            <a:r>
              <a:rPr lang="en-US" sz="3800" b="1" u="none" strike="noStrike">
                <a:solidFill>
                  <a:srgbClr val="FFFFFF"/>
                </a:solidFill>
                <a:effectLst/>
                <a:uFillTx/>
                <a:latin typeface="Georgia"/>
              </a:rPr>
              <a:t>RDSI:</a:t>
            </a:r>
            <a:br>
              <a:rPr sz="3800"/>
            </a:br>
            <a:r>
              <a:rPr lang="en-US" sz="3800" b="1" u="none" strike="noStrike">
                <a:solidFill>
                  <a:srgbClr val="FFFFFF"/>
                </a:solidFill>
                <a:effectLst/>
                <a:uFillTx/>
                <a:latin typeface="Georgia"/>
              </a:rPr>
              <a:t>Orige</a:t>
            </a:r>
            <a:r>
              <a:rPr lang="en-US" sz="3800" b="1" u="none" strike="noStrike">
                <a:solidFill>
                  <a:srgbClr val="FFFFFF"/>
                </a:solidFill>
                <a:effectLst/>
                <a:uFillTx/>
                <a:latin typeface="Georgia"/>
              </a:rPr>
              <a:t>n, </a:t>
            </a:r>
            <a:r>
              <a:rPr lang="en-US" sz="3800" b="1" u="none" strike="noStrike">
                <a:solidFill>
                  <a:srgbClr val="FFFFFF"/>
                </a:solidFill>
                <a:effectLst/>
                <a:uFillTx/>
                <a:latin typeface="Georgia"/>
              </a:rPr>
              <a:t>Arquit</a:t>
            </a:r>
            <a:r>
              <a:rPr lang="en-US" sz="3800" b="1" u="none" strike="noStrike">
                <a:solidFill>
                  <a:srgbClr val="FFFFFF"/>
                </a:solidFill>
                <a:effectLst/>
                <a:uFillTx/>
                <a:latin typeface="Georgia"/>
              </a:rPr>
              <a:t>ectura </a:t>
            </a:r>
            <a:r>
              <a:rPr lang="en-US" sz="3800" b="1" u="none" strike="noStrike">
                <a:solidFill>
                  <a:srgbClr val="FFFFFF"/>
                </a:solidFill>
                <a:effectLst/>
                <a:uFillTx/>
                <a:latin typeface="Georgia"/>
              </a:rPr>
              <a:t>y </a:t>
            </a:r>
            <a:r>
              <a:rPr lang="en-US" sz="3800" b="1" u="none" strike="noStrike">
                <a:solidFill>
                  <a:srgbClr val="FFFFFF"/>
                </a:solidFill>
                <a:effectLst/>
                <a:uFillTx/>
                <a:latin typeface="Georgia"/>
              </a:rPr>
              <a:t>Evoluc</a:t>
            </a:r>
            <a:r>
              <a:rPr lang="en-US" sz="3800" b="1" u="none" strike="noStrike">
                <a:solidFill>
                  <a:srgbClr val="FFFFFF"/>
                </a:solidFill>
                <a:effectLst/>
                <a:uFillTx/>
                <a:latin typeface="Georgia"/>
              </a:rPr>
              <a:t>ión</a:t>
            </a:r>
            <a:endParaRPr lang="en-US" sz="3800" b="0" u="none" strike="noStrike">
              <a:solidFill>
                <a:srgbClr val="FFFFFF"/>
              </a:solidFill>
              <a:effectLst/>
              <a:uFillTx/>
              <a:latin typeface="Arial"/>
            </a:endParaRPr>
          </a:p>
          <a:p>
            <a:pPr defTabSz="457200">
              <a:lnSpc>
                <a:spcPct val="100000"/>
              </a:lnSpc>
              <a:spcAft>
                <a:spcPts val="2999"/>
              </a:spcAft>
            </a:pPr>
            <a:r>
              <a:rPr lang="en-US" sz="1600" b="0" u="none" strike="noStrike">
                <a:solidFill>
                  <a:srgbClr val="94A3B8"/>
                </a:solidFill>
                <a:effectLst/>
                <a:uFillTx/>
                <a:latin typeface="Arial"/>
              </a:rPr>
              <a:t>Evaluación técnica, </a:t>
            </a:r>
            <a:r>
              <a:rPr lang="en-US" sz="1600" b="0" u="none" strike="noStrike">
                <a:solidFill>
                  <a:srgbClr val="94A3B8"/>
                </a:solidFill>
                <a:effectLst/>
                <a:uFillTx/>
                <a:latin typeface="Arial"/>
              </a:rPr>
              <a:t>contexto histórico y </a:t>
            </a:r>
            <a:r>
              <a:rPr lang="en-US" sz="1600" b="0" u="none" strike="noStrike">
                <a:solidFill>
                  <a:srgbClr val="94A3B8"/>
                </a:solidFill>
                <a:effectLst/>
                <a:uFillTx/>
                <a:latin typeface="Arial"/>
              </a:rPr>
              <a:t>el salto de la </a:t>
            </a:r>
            <a:r>
              <a:rPr lang="en-US" sz="1600" b="0" u="none" strike="noStrike">
                <a:solidFill>
                  <a:srgbClr val="94A3B8"/>
                </a:solidFill>
                <a:effectLst/>
                <a:uFillTx/>
                <a:latin typeface="Arial"/>
              </a:rPr>
              <a:t>telefonía analógica </a:t>
            </a:r>
            <a:r>
              <a:rPr lang="en-US" sz="1600" b="0" u="none" strike="noStrike">
                <a:solidFill>
                  <a:srgbClr val="94A3B8"/>
                </a:solidFill>
                <a:effectLst/>
                <a:uFillTx/>
                <a:latin typeface="Arial"/>
              </a:rPr>
              <a:t>a la conmutación de </a:t>
            </a:r>
            <a:r>
              <a:rPr lang="en-US" sz="1600" b="0" u="none" strike="noStrike">
                <a:solidFill>
                  <a:srgbClr val="94A3B8"/>
                </a:solidFill>
                <a:effectLst/>
                <a:uFillTx/>
                <a:latin typeface="Arial"/>
              </a:rPr>
              <a:t>paquetes y banda </a:t>
            </a:r>
            <a:r>
              <a:rPr lang="en-US" sz="1600" b="0" u="none" strike="noStrike">
                <a:solidFill>
                  <a:srgbClr val="94A3B8"/>
                </a:solidFill>
                <a:effectLst/>
                <a:uFillTx/>
                <a:latin typeface="Arial"/>
              </a:rPr>
              <a:t>ancha.</a:t>
            </a:r>
            <a:endParaRPr lang="en-US" sz="1600" b="0" u="none" strike="noStrike">
              <a:solidFill>
                <a:srgbClr val="FFFFFF"/>
              </a:solidFill>
              <a:effectLst/>
              <a:uFillTx/>
              <a:latin typeface="Arial"/>
            </a:endParaRPr>
          </a:p>
          <a:p>
            <a:pPr defTabSz="457200">
              <a:lnSpc>
                <a:spcPct val="100000"/>
              </a:lnSpc>
            </a:pPr>
            <a:endParaRPr lang="en-US" sz="1100" b="0" u="none" strike="noStrike">
              <a:solidFill>
                <a:srgbClr val="FFFFFF"/>
              </a:solidFill>
              <a:effectLst/>
              <a:uFillTx/>
              <a:latin typeface="Arial"/>
            </a:endParaRPr>
          </a:p>
        </p:txBody>
      </p:sp>
      <p:sp>
        <p:nvSpPr>
          <p:cNvPr id="62" name="Rectangle 2"/>
          <p:cNvSpPr/>
          <p:nvPr/>
        </p:nvSpPr>
        <p:spPr>
          <a:xfrm>
            <a:off x="914400" y="5486400"/>
            <a:ext cx="10362600" cy="37800"/>
          </a:xfrm>
          <a:prstGeom prst="rect">
            <a:avLst/>
          </a:prstGeom>
          <a:solidFill>
            <a:srgbClr val="0284C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endParaRPr lang="en-US" sz="1800" b="0" u="none" strike="noStrik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3" name="TextBox 1"/>
          <p:cNvSpPr/>
          <p:nvPr/>
        </p:nvSpPr>
        <p:spPr>
          <a:xfrm>
            <a:off x="731520" y="365760"/>
            <a:ext cx="10728360" cy="10054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1" u="none" strike="noStrike">
                <a:solidFill>
                  <a:srgbClr val="0284C7"/>
                </a:solidFill>
                <a:effectLst/>
                <a:uFillTx/>
                <a:latin typeface="Arial"/>
              </a:rPr>
              <a:t>REDES DE ALTA VELOCIDAD | </a:t>
            </a:r>
            <a:r>
              <a:rPr lang="en-US" sz="1000" b="1" u="none" strike="noStrike">
                <a:solidFill>
                  <a:srgbClr val="0284C7"/>
                </a:solidFill>
                <a:effectLst/>
                <a:uFillTx/>
                <a:latin typeface="Arial"/>
              </a:rPr>
              <a:t>PROTOCOLO RDSI</a:t>
            </a:r>
            <a:endParaRPr lang="en-US" sz="1000" b="0" u="none" strike="noStrike">
              <a:solidFill>
                <a:srgbClr val="000000"/>
              </a:solidFill>
              <a:effectLst/>
              <a:uFillTx/>
              <a:latin typeface="Arial"/>
            </a:endParaRPr>
          </a:p>
          <a:p>
            <a:pPr defTabSz="457200">
              <a:lnSpc>
                <a:spcPct val="100000"/>
              </a:lnSpc>
            </a:pPr>
            <a:r>
              <a:rPr lang="en-US" sz="2200" b="1" u="none" strike="noStrike">
                <a:solidFill>
                  <a:srgbClr val="0A192F"/>
                </a:solidFill>
                <a:effectLst/>
                <a:uFillTx/>
                <a:latin typeface="Georgia"/>
              </a:rPr>
              <a:t>La RDSI </a:t>
            </a:r>
            <a:r>
              <a:rPr lang="en-US" sz="2200" b="1" u="none" strike="noStrike">
                <a:solidFill>
                  <a:srgbClr val="0A192F"/>
                </a:solidFill>
                <a:effectLst/>
                <a:uFillTx/>
                <a:latin typeface="Georgia"/>
              </a:rPr>
              <a:t>transformó </a:t>
            </a:r>
            <a:r>
              <a:rPr lang="en-US" sz="2200" b="1" u="none" strike="noStrike">
                <a:solidFill>
                  <a:srgbClr val="0A192F"/>
                </a:solidFill>
                <a:effectLst/>
                <a:uFillTx/>
                <a:latin typeface="Georgia"/>
              </a:rPr>
              <a:t>el bucle </a:t>
            </a:r>
            <a:r>
              <a:rPr lang="en-US" sz="2200" b="1" u="none" strike="noStrike">
                <a:solidFill>
                  <a:srgbClr val="0A192F"/>
                </a:solidFill>
                <a:effectLst/>
                <a:uFillTx/>
                <a:latin typeface="Georgia"/>
              </a:rPr>
              <a:t>analógico </a:t>
            </a:r>
            <a:r>
              <a:rPr lang="en-US" sz="2200" b="1" u="none" strike="noStrike">
                <a:solidFill>
                  <a:srgbClr val="0A192F"/>
                </a:solidFill>
                <a:effectLst/>
                <a:uFillTx/>
                <a:latin typeface="Georgia"/>
              </a:rPr>
              <a:t>en el </a:t>
            </a:r>
            <a:r>
              <a:rPr lang="en-US" sz="2200" b="1" u="none" strike="noStrike">
                <a:solidFill>
                  <a:srgbClr val="0A192F"/>
                </a:solidFill>
                <a:effectLst/>
                <a:uFillTx/>
                <a:latin typeface="Georgia"/>
              </a:rPr>
              <a:t>primer </a:t>
            </a:r>
            <a:r>
              <a:rPr lang="en-US" sz="2200" b="1" u="none" strike="noStrike">
                <a:solidFill>
                  <a:srgbClr val="0A192F"/>
                </a:solidFill>
                <a:effectLst/>
                <a:uFillTx/>
                <a:latin typeface="Georgia"/>
              </a:rPr>
              <a:t>acceso </a:t>
            </a:r>
            <a:r>
              <a:rPr lang="en-US" sz="2200" b="1" u="none" strike="noStrike">
                <a:solidFill>
                  <a:srgbClr val="0A192F"/>
                </a:solidFill>
                <a:effectLst/>
                <a:uFillTx/>
                <a:latin typeface="Georgia"/>
              </a:rPr>
              <a:t>digital </a:t>
            </a:r>
            <a:r>
              <a:rPr lang="en-US" sz="2200" b="1" u="none" strike="noStrike">
                <a:solidFill>
                  <a:srgbClr val="0A192F"/>
                </a:solidFill>
                <a:effectLst/>
                <a:uFillTx/>
                <a:latin typeface="Georgia"/>
              </a:rPr>
              <a:t>multipropó</a:t>
            </a:r>
            <a:r>
              <a:rPr lang="en-US" sz="2200" b="1" u="none" strike="noStrike">
                <a:solidFill>
                  <a:srgbClr val="0A192F"/>
                </a:solidFill>
                <a:effectLst/>
                <a:uFillTx/>
                <a:latin typeface="Georgia"/>
              </a:rPr>
              <a:t>sito </a:t>
            </a:r>
            <a:r>
              <a:rPr lang="en-US" sz="2200" b="1" u="none" strike="noStrike">
                <a:solidFill>
                  <a:srgbClr val="0A192F"/>
                </a:solidFill>
                <a:effectLst/>
                <a:uFillTx/>
                <a:latin typeface="Georgia"/>
              </a:rPr>
              <a:t>síncrono</a:t>
            </a:r>
            <a:endParaRPr lang="en-US" sz="2200" b="0" u="none" strike="noStrike">
              <a:solidFill>
                <a:srgbClr val="000000"/>
              </a:solidFill>
              <a:effectLst/>
              <a:uFillTx/>
              <a:latin typeface="Arial"/>
            </a:endParaRPr>
          </a:p>
        </p:txBody>
      </p:sp>
      <p:sp>
        <p:nvSpPr>
          <p:cNvPr id="64" name="Rectangle 2"/>
          <p:cNvSpPr/>
          <p:nvPr/>
        </p:nvSpPr>
        <p:spPr>
          <a:xfrm>
            <a:off x="731520" y="1371600"/>
            <a:ext cx="10728360" cy="25200"/>
          </a:xfrm>
          <a:prstGeom prst="rect">
            <a:avLst/>
          </a:prstGeom>
          <a:solidFill>
            <a:srgbClr val="0284C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65" name="TextBox 3"/>
          <p:cNvSpPr/>
          <p:nvPr/>
        </p:nvSpPr>
        <p:spPr>
          <a:xfrm>
            <a:off x="731520" y="6400800"/>
            <a:ext cx="10728360" cy="2739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900" b="0" u="none" strike="noStrike">
                <a:solidFill>
                  <a:srgbClr val="334155"/>
                </a:solidFill>
                <a:effectLst/>
                <a:uFillTx/>
                <a:latin typeface="Arial"/>
              </a:rPr>
              <a:t>Anatomía de la RDSI | Materia: Redes de Alta Velocidad | Diapositiva 2 de 16</a:t>
            </a:r>
            <a:endParaRPr lang="en-US" sz="900" b="0" u="none" strike="noStrike">
              <a:solidFill>
                <a:srgbClr val="000000"/>
              </a:solidFill>
              <a:effectLst/>
              <a:uFillTx/>
              <a:latin typeface="Arial"/>
            </a:endParaRPr>
          </a:p>
        </p:txBody>
      </p:sp>
      <p:sp>
        <p:nvSpPr>
          <p:cNvPr id="66" name="Rounded Rectangle 4"/>
          <p:cNvSpPr/>
          <p:nvPr/>
        </p:nvSpPr>
        <p:spPr>
          <a:xfrm>
            <a:off x="731520" y="1645920"/>
            <a:ext cx="5193360" cy="201132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7" name="TextBox 5"/>
          <p:cNvSpPr/>
          <p:nvPr/>
        </p:nvSpPr>
        <p:spPr>
          <a:xfrm>
            <a:off x="914400" y="1828800"/>
            <a:ext cx="4827600" cy="1645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600" b="1" u="none" strike="noStrike">
                <a:solidFill>
                  <a:srgbClr val="0A192F"/>
                </a:solidFill>
                <a:effectLst/>
                <a:uFillTx/>
                <a:latin typeface="Georgia"/>
              </a:rPr>
              <a:t>01. Naturaleza </a:t>
            </a:r>
            <a:r>
              <a:rPr lang="en-US" sz="1600" b="1" u="none" strike="noStrike">
                <a:solidFill>
                  <a:srgbClr val="0A192F"/>
                </a:solidFill>
                <a:effectLst/>
                <a:uFillTx/>
                <a:latin typeface="Georgia"/>
              </a:rPr>
              <a:t>de la Red</a:t>
            </a:r>
            <a:endParaRPr lang="en-US" sz="1600" b="0" u="none" strike="noStrike">
              <a:solidFill>
                <a:srgbClr val="000000"/>
              </a:solidFill>
              <a:effectLst/>
              <a:uFillTx/>
              <a:latin typeface="Arial"/>
            </a:endParaRPr>
          </a:p>
          <a:p>
            <a:pPr defTabSz="457200">
              <a:lnSpc>
                <a:spcPct val="100000"/>
              </a:lnSpc>
            </a:pPr>
            <a:r>
              <a:rPr lang="en-US" sz="1300" b="0" u="none" strike="noStrike">
                <a:solidFill>
                  <a:srgbClr val="0F172A"/>
                </a:solidFill>
                <a:effectLst/>
                <a:uFillTx/>
                <a:latin typeface="Arial"/>
              </a:rPr>
              <a:t>Primera red digital de </a:t>
            </a:r>
            <a:r>
              <a:rPr lang="en-US" sz="1300" b="0" u="none" strike="noStrike">
                <a:solidFill>
                  <a:srgbClr val="0F172A"/>
                </a:solidFill>
                <a:effectLst/>
                <a:uFillTx/>
                <a:latin typeface="Arial"/>
              </a:rPr>
              <a:t>extremo a extremo que </a:t>
            </a:r>
            <a:r>
              <a:rPr lang="en-US" sz="1300" b="0" u="none" strike="noStrike">
                <a:solidFill>
                  <a:srgbClr val="0F172A"/>
                </a:solidFill>
                <a:effectLst/>
                <a:uFillTx/>
                <a:latin typeface="Arial"/>
              </a:rPr>
              <a:t>integró voz, datos, fax e </a:t>
            </a:r>
            <a:r>
              <a:rPr lang="en-US" sz="1300" b="0" u="none" strike="noStrike">
                <a:solidFill>
                  <a:srgbClr val="0F172A"/>
                </a:solidFill>
                <a:effectLst/>
                <a:uFillTx/>
                <a:latin typeface="Arial"/>
              </a:rPr>
              <a:t>imagen sobre el par de </a:t>
            </a:r>
            <a:r>
              <a:rPr lang="en-US" sz="1300" b="0" u="none" strike="noStrike">
                <a:solidFill>
                  <a:srgbClr val="0F172A"/>
                </a:solidFill>
                <a:effectLst/>
                <a:uFillTx/>
                <a:latin typeface="Arial"/>
              </a:rPr>
              <a:t>cobre existente de la </a:t>
            </a:r>
            <a:r>
              <a:rPr lang="en-US" sz="1300" b="0" u="none" strike="noStrike">
                <a:solidFill>
                  <a:srgbClr val="0F172A"/>
                </a:solidFill>
                <a:effectLst/>
                <a:uFillTx/>
                <a:latin typeface="Arial"/>
              </a:rPr>
              <a:t>RTB.</a:t>
            </a:r>
            <a:endParaRPr lang="en-US" sz="1300" b="0" u="none" strike="noStrike">
              <a:solidFill>
                <a:srgbClr val="000000"/>
              </a:solidFill>
              <a:effectLst/>
              <a:uFillTx/>
              <a:latin typeface="Arial"/>
            </a:endParaRPr>
          </a:p>
        </p:txBody>
      </p:sp>
      <p:sp>
        <p:nvSpPr>
          <p:cNvPr id="68" name="Rounded Rectangle 6"/>
          <p:cNvSpPr/>
          <p:nvPr/>
        </p:nvSpPr>
        <p:spPr>
          <a:xfrm>
            <a:off x="6172200" y="1645920"/>
            <a:ext cx="5193360" cy="201132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9" name="TextBox 7"/>
          <p:cNvSpPr/>
          <p:nvPr/>
        </p:nvSpPr>
        <p:spPr>
          <a:xfrm>
            <a:off x="6355080" y="1828800"/>
            <a:ext cx="4827600" cy="1645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600" b="1" u="none" strike="noStrike">
                <a:solidFill>
                  <a:srgbClr val="0A192F"/>
                </a:solidFill>
                <a:effectLst/>
                <a:uFillTx/>
                <a:latin typeface="Georgia"/>
              </a:rPr>
              <a:t>02. </a:t>
            </a:r>
            <a:r>
              <a:rPr lang="en-US" sz="1600" b="1" u="none" strike="noStrike">
                <a:solidFill>
                  <a:srgbClr val="0A192F"/>
                </a:solidFill>
                <a:effectLst/>
                <a:uFillTx/>
                <a:latin typeface="Georgia"/>
              </a:rPr>
              <a:t>Digitalización </a:t>
            </a:r>
            <a:r>
              <a:rPr lang="en-US" sz="1600" b="1" u="none" strike="noStrike">
                <a:solidFill>
                  <a:srgbClr val="0A192F"/>
                </a:solidFill>
                <a:effectLst/>
                <a:uFillTx/>
                <a:latin typeface="Georgia"/>
              </a:rPr>
              <a:t>del Abonado</a:t>
            </a:r>
            <a:endParaRPr lang="en-US" sz="1600" b="0" u="none" strike="noStrike">
              <a:solidFill>
                <a:srgbClr val="000000"/>
              </a:solidFill>
              <a:effectLst/>
              <a:uFillTx/>
              <a:latin typeface="Arial"/>
            </a:endParaRPr>
          </a:p>
          <a:p>
            <a:pPr defTabSz="457200">
              <a:lnSpc>
                <a:spcPct val="100000"/>
              </a:lnSpc>
            </a:pPr>
            <a:r>
              <a:rPr lang="en-US" sz="1300" b="0" u="none" strike="noStrike">
                <a:solidFill>
                  <a:srgbClr val="0F172A"/>
                </a:solidFill>
                <a:effectLst/>
                <a:uFillTx/>
                <a:latin typeface="Arial"/>
              </a:rPr>
              <a:t>Eliminó el módem </a:t>
            </a:r>
            <a:r>
              <a:rPr lang="en-US" sz="1300" b="0" u="none" strike="noStrike">
                <a:solidFill>
                  <a:srgbClr val="0F172A"/>
                </a:solidFill>
                <a:effectLst/>
                <a:uFillTx/>
                <a:latin typeface="Arial"/>
              </a:rPr>
              <a:t>analógico tradicional </a:t>
            </a:r>
            <a:r>
              <a:rPr lang="en-US" sz="1300" b="0" u="none" strike="noStrike">
                <a:solidFill>
                  <a:srgbClr val="0F172A"/>
                </a:solidFill>
                <a:effectLst/>
                <a:uFillTx/>
                <a:latin typeface="Arial"/>
              </a:rPr>
              <a:t>codificando la </a:t>
            </a:r>
            <a:r>
              <a:rPr lang="en-US" sz="1300" b="0" u="none" strike="noStrike">
                <a:solidFill>
                  <a:srgbClr val="0F172A"/>
                </a:solidFill>
                <a:effectLst/>
                <a:uFillTx/>
                <a:latin typeface="Arial"/>
              </a:rPr>
              <a:t>información binaria </a:t>
            </a:r>
            <a:r>
              <a:rPr lang="en-US" sz="1300" b="0" u="none" strike="noStrike">
                <a:solidFill>
                  <a:srgbClr val="0F172A"/>
                </a:solidFill>
                <a:effectLst/>
                <a:uFillTx/>
                <a:latin typeface="Arial"/>
              </a:rPr>
              <a:t>directamente en origen a </a:t>
            </a:r>
            <a:r>
              <a:rPr lang="en-US" sz="1300" b="0" u="none" strike="noStrike">
                <a:solidFill>
                  <a:srgbClr val="0F172A"/>
                </a:solidFill>
                <a:effectLst/>
                <a:uFillTx/>
                <a:latin typeface="Arial"/>
              </a:rPr>
              <a:t>64 kbps por canal.</a:t>
            </a:r>
            <a:endParaRPr lang="en-US" sz="1300" b="0" u="none" strike="noStrike">
              <a:solidFill>
                <a:srgbClr val="000000"/>
              </a:solidFill>
              <a:effectLst/>
              <a:uFillTx/>
              <a:latin typeface="Arial"/>
            </a:endParaRPr>
          </a:p>
        </p:txBody>
      </p:sp>
      <p:sp>
        <p:nvSpPr>
          <p:cNvPr id="70" name="Rounded Rectangle 8"/>
          <p:cNvSpPr/>
          <p:nvPr/>
        </p:nvSpPr>
        <p:spPr>
          <a:xfrm>
            <a:off x="731520" y="3931920"/>
            <a:ext cx="5193360" cy="201132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1" name="TextBox 9"/>
          <p:cNvSpPr/>
          <p:nvPr/>
        </p:nvSpPr>
        <p:spPr>
          <a:xfrm>
            <a:off x="914400" y="4114800"/>
            <a:ext cx="4827600" cy="1645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600" b="1" u="none" strike="noStrike">
                <a:solidFill>
                  <a:srgbClr val="0A192F"/>
                </a:solidFill>
                <a:effectLst/>
                <a:uFillTx/>
                <a:latin typeface="Georgia"/>
              </a:rPr>
              <a:t>03. Señalización Fuera de Banda</a:t>
            </a:r>
            <a:endParaRPr lang="en-US" sz="1600" b="0" u="none" strike="noStrike">
              <a:solidFill>
                <a:srgbClr val="000000"/>
              </a:solidFill>
              <a:effectLst/>
              <a:uFillTx/>
              <a:latin typeface="Arial"/>
            </a:endParaRPr>
          </a:p>
          <a:p>
            <a:pPr defTabSz="457200">
              <a:lnSpc>
                <a:spcPct val="100000"/>
              </a:lnSpc>
            </a:pPr>
            <a:r>
              <a:rPr lang="en-US" sz="1300" b="0" u="none" strike="noStrike">
                <a:solidFill>
                  <a:srgbClr val="0F172A"/>
                </a:solidFill>
                <a:effectLst/>
                <a:uFillTx/>
                <a:latin typeface="Arial"/>
              </a:rPr>
              <a:t>Introdujo el canal D (DSS1 / Q.931), separando el plano de control del plano de usuario y reduciendo el marcado a &lt;1s.</a:t>
            </a:r>
            <a:endParaRPr lang="en-US" sz="1300" b="0" u="none" strike="noStrike">
              <a:solidFill>
                <a:srgbClr val="000000"/>
              </a:solidFill>
              <a:effectLst/>
              <a:uFillTx/>
              <a:latin typeface="Arial"/>
            </a:endParaRPr>
          </a:p>
        </p:txBody>
      </p:sp>
      <p:sp>
        <p:nvSpPr>
          <p:cNvPr id="72" name="Rounded Rectangle 10"/>
          <p:cNvSpPr/>
          <p:nvPr/>
        </p:nvSpPr>
        <p:spPr>
          <a:xfrm>
            <a:off x="6172200" y="3931920"/>
            <a:ext cx="5193360" cy="201132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3" name="TextBox 11"/>
          <p:cNvSpPr/>
          <p:nvPr/>
        </p:nvSpPr>
        <p:spPr>
          <a:xfrm>
            <a:off x="6355080" y="4114800"/>
            <a:ext cx="4827600" cy="1645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600" b="1" u="none" strike="noStrike">
                <a:solidFill>
                  <a:srgbClr val="0A192F"/>
                </a:solidFill>
                <a:effectLst/>
                <a:uFillTx/>
                <a:latin typeface="Georgia"/>
              </a:rPr>
              <a:t>04. Impacto e Hito Histórico</a:t>
            </a:r>
            <a:endParaRPr lang="en-US" sz="1600" b="0" u="none" strike="noStrike">
              <a:solidFill>
                <a:srgbClr val="000000"/>
              </a:solidFill>
              <a:effectLst/>
              <a:uFillTx/>
              <a:latin typeface="Arial"/>
            </a:endParaRPr>
          </a:p>
          <a:p>
            <a:pPr defTabSz="457200">
              <a:lnSpc>
                <a:spcPct val="100000"/>
              </a:lnSpc>
            </a:pPr>
            <a:r>
              <a:rPr lang="en-US" sz="1300" b="0" u="none" strike="noStrike">
                <a:solidFill>
                  <a:srgbClr val="0F172A"/>
                </a:solidFill>
                <a:effectLst/>
                <a:uFillTx/>
                <a:latin typeface="Arial"/>
              </a:rPr>
              <a:t>Estandarizada por el CCITT en 1984/1988, sentó las bases conceptuales para las redes multiservicio modernas y la conmutación de paquetes.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74" name="TextBox 1"/>
          <p:cNvSpPr/>
          <p:nvPr/>
        </p:nvSpPr>
        <p:spPr>
          <a:xfrm>
            <a:off x="731520" y="365760"/>
            <a:ext cx="10728360" cy="10054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1" u="none" strike="noStrike">
                <a:solidFill>
                  <a:srgbClr val="0284C7"/>
                </a:solidFill>
                <a:effectLst/>
                <a:uFillTx/>
                <a:latin typeface="Arial"/>
              </a:rPr>
              <a:t>REDES DE ALTA VELOCIDAD | PROTOCOLO RDSI</a:t>
            </a:r>
            <a:endParaRPr lang="en-US" sz="1000" b="0" u="none" strike="noStrike">
              <a:solidFill>
                <a:srgbClr val="000000"/>
              </a:solidFill>
              <a:effectLst/>
              <a:uFillTx/>
              <a:latin typeface="Arial"/>
            </a:endParaRPr>
          </a:p>
          <a:p>
            <a:pPr defTabSz="457200">
              <a:lnSpc>
                <a:spcPct val="100000"/>
              </a:lnSpc>
            </a:pPr>
            <a:r>
              <a:rPr lang="en-US" sz="2200" b="1" u="none" strike="noStrike">
                <a:solidFill>
                  <a:srgbClr val="0A192F"/>
                </a:solidFill>
                <a:effectLst/>
                <a:uFillTx/>
                <a:latin typeface="Georgia"/>
              </a:rPr>
              <a:t>La Guerra Fría y la revolución de la PC personal impulsaron la necesidad de unificar datos y voz</a:t>
            </a:r>
            <a:endParaRPr lang="en-US" sz="2200" b="0" u="none" strike="noStrike">
              <a:solidFill>
                <a:srgbClr val="000000"/>
              </a:solidFill>
              <a:effectLst/>
              <a:uFillTx/>
              <a:latin typeface="Arial"/>
            </a:endParaRPr>
          </a:p>
        </p:txBody>
      </p:sp>
      <p:sp>
        <p:nvSpPr>
          <p:cNvPr id="75" name="Rectangle 2"/>
          <p:cNvSpPr/>
          <p:nvPr/>
        </p:nvSpPr>
        <p:spPr>
          <a:xfrm>
            <a:off x="731520" y="1371600"/>
            <a:ext cx="10728360" cy="25200"/>
          </a:xfrm>
          <a:prstGeom prst="rect">
            <a:avLst/>
          </a:prstGeom>
          <a:solidFill>
            <a:srgbClr val="0284C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76" name="TextBox 3"/>
          <p:cNvSpPr/>
          <p:nvPr/>
        </p:nvSpPr>
        <p:spPr>
          <a:xfrm>
            <a:off x="731520" y="6400800"/>
            <a:ext cx="10728360" cy="2739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900" b="0" u="none" strike="noStrike">
                <a:solidFill>
                  <a:srgbClr val="334155"/>
                </a:solidFill>
                <a:effectLst/>
                <a:uFillTx/>
                <a:latin typeface="Arial"/>
              </a:rPr>
              <a:t>Anatomía de la RDSI | Materia: Redes de Alta Velocidad | Diapositiva 3 de 16</a:t>
            </a:r>
            <a:endParaRPr lang="en-US" sz="900" b="0" u="none" strike="noStrike">
              <a:solidFill>
                <a:srgbClr val="000000"/>
              </a:solidFill>
              <a:effectLst/>
              <a:uFillTx/>
              <a:latin typeface="Arial"/>
            </a:endParaRPr>
          </a:p>
        </p:txBody>
      </p:sp>
      <p:sp>
        <p:nvSpPr>
          <p:cNvPr id="77" name="Rounded Rectangle 4"/>
          <p:cNvSpPr/>
          <p:nvPr/>
        </p:nvSpPr>
        <p:spPr>
          <a:xfrm>
            <a:off x="73152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8" name="TextBox 5"/>
          <p:cNvSpPr/>
          <p:nvPr/>
        </p:nvSpPr>
        <p:spPr>
          <a:xfrm>
            <a:off x="91440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001"/>
              </a:spcAft>
            </a:pPr>
            <a:r>
              <a:rPr lang="en-US" sz="1500" b="1" u="none" strike="noStrike">
                <a:solidFill>
                  <a:srgbClr val="0A192F"/>
                </a:solidFill>
                <a:effectLst/>
                <a:uFillTx/>
                <a:latin typeface="Georgia"/>
              </a:rPr>
              <a:t>Entorno Geopolítico (1970-1980)</a:t>
            </a:r>
            <a:endParaRPr lang="en-US" sz="1500" b="0" u="none" strike="noStrike">
              <a:solidFill>
                <a:srgbClr val="000000"/>
              </a:solidFill>
              <a:effectLst/>
              <a:uFillTx/>
              <a:latin typeface="Arial"/>
            </a:endParaRPr>
          </a:p>
          <a:p>
            <a:pPr defTabSz="457200">
              <a:lnSpc>
                <a:spcPct val="100000"/>
              </a:lnSpc>
            </a:pPr>
            <a:r>
              <a:rPr lang="en-US" sz="1200" b="0" u="none" strike="noStrike">
                <a:solidFill>
                  <a:srgbClr val="0F172A"/>
                </a:solidFill>
                <a:effectLst/>
                <a:uFillTx/>
                <a:latin typeface="Arial"/>
              </a:rPr>
              <a:t>• Fase final de la Guerra Fría con intensa competencia tecnológica y militar entre EE.UU. y la URSS.</a:t>
            </a:r>
            <a:br>
              <a:rPr sz="1200"/>
            </a:br>
            <a:r>
              <a:rPr lang="en-US" sz="1200" b="0" u="none" strike="noStrike">
                <a:solidFill>
                  <a:srgbClr val="0F172A"/>
                </a:solidFill>
                <a:effectLst/>
                <a:uFillTx/>
                <a:latin typeface="Arial"/>
              </a:rPr>
              <a:t>• Fuerte financiación institucional en microelectrónica, procesamiento digital y redes distribuidas.</a:t>
            </a:r>
            <a:br>
              <a:rPr sz="1200"/>
            </a:br>
            <a:r>
              <a:rPr lang="en-US" sz="1200" b="0" u="none" strike="noStrike">
                <a:solidFill>
                  <a:srgbClr val="0F172A"/>
                </a:solidFill>
                <a:effectLst/>
                <a:uFillTx/>
                <a:latin typeface="Arial"/>
              </a:rPr>
              <a:t>• Priorización de la resiliencia en infraestructuras de comunicación estandarizadas.</a:t>
            </a:r>
            <a:endParaRPr lang="en-US" sz="1200" b="0" u="none" strike="noStrike">
              <a:solidFill>
                <a:srgbClr val="000000"/>
              </a:solidFill>
              <a:effectLst/>
              <a:uFillTx/>
              <a:latin typeface="Arial"/>
            </a:endParaRPr>
          </a:p>
        </p:txBody>
      </p:sp>
      <p:sp>
        <p:nvSpPr>
          <p:cNvPr id="79" name="Rounded Rectangle 6"/>
          <p:cNvSpPr/>
          <p:nvPr/>
        </p:nvSpPr>
        <p:spPr>
          <a:xfrm>
            <a:off x="437076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 name="TextBox 7"/>
          <p:cNvSpPr/>
          <p:nvPr/>
        </p:nvSpPr>
        <p:spPr>
          <a:xfrm>
            <a:off x="455364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001"/>
              </a:spcAft>
            </a:pPr>
            <a:r>
              <a:rPr lang="en-US" sz="1500" b="1" u="none" strike="noStrike">
                <a:solidFill>
                  <a:srgbClr val="0A192F"/>
                </a:solidFill>
                <a:effectLst/>
                <a:uFillTx/>
                <a:latin typeface="Georgia"/>
              </a:rPr>
              <a:t>Revolución de la Computación</a:t>
            </a:r>
            <a:endParaRPr lang="en-US" sz="1500" b="0" u="none" strike="noStrike">
              <a:solidFill>
                <a:srgbClr val="000000"/>
              </a:solidFill>
              <a:effectLst/>
              <a:uFillTx/>
              <a:latin typeface="Arial"/>
            </a:endParaRPr>
          </a:p>
          <a:p>
            <a:pPr defTabSz="457200">
              <a:lnSpc>
                <a:spcPct val="100000"/>
              </a:lnSpc>
            </a:pPr>
            <a:r>
              <a:rPr lang="en-US" sz="1200" b="0" u="none" strike="noStrike">
                <a:solidFill>
                  <a:srgbClr val="0F172A"/>
                </a:solidFill>
                <a:effectLst/>
                <a:uFillTx/>
                <a:latin typeface="Arial"/>
              </a:rPr>
              <a:t>• Nacimiento de las computadoras personales icónicas (Apple II, IBM PC) a finales de los 70 y principios de los 80.</a:t>
            </a:r>
            <a:br>
              <a:rPr sz="1200"/>
            </a:br>
            <a:r>
              <a:rPr lang="en-US" sz="1200" b="0" u="none" strike="noStrike">
                <a:solidFill>
                  <a:srgbClr val="0F172A"/>
                </a:solidFill>
                <a:effectLst/>
                <a:uFillTx/>
                <a:latin typeface="Arial"/>
              </a:rPr>
              <a:t>• La transmisión de datos pasó de ser una necesidad científica exclusiva a una exigencia comercial masiva.</a:t>
            </a:r>
            <a:br>
              <a:rPr sz="1200"/>
            </a:br>
            <a:r>
              <a:rPr lang="en-US" sz="1200" b="0" u="none" strike="noStrike">
                <a:solidFill>
                  <a:srgbClr val="0F172A"/>
                </a:solidFill>
                <a:effectLst/>
                <a:uFillTx/>
                <a:latin typeface="Arial"/>
              </a:rPr>
              <a:t>• Explosión del uso de terminales corporativos y transferencia de archivos.</a:t>
            </a:r>
            <a:endParaRPr lang="en-US" sz="1200" b="0" u="none" strike="noStrike">
              <a:solidFill>
                <a:srgbClr val="000000"/>
              </a:solidFill>
              <a:effectLst/>
              <a:uFillTx/>
              <a:latin typeface="Arial"/>
            </a:endParaRPr>
          </a:p>
        </p:txBody>
      </p:sp>
      <p:sp>
        <p:nvSpPr>
          <p:cNvPr id="81" name="Rounded Rectangle 8"/>
          <p:cNvSpPr/>
          <p:nvPr/>
        </p:nvSpPr>
        <p:spPr>
          <a:xfrm>
            <a:off x="801000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2" name="TextBox 9"/>
          <p:cNvSpPr/>
          <p:nvPr/>
        </p:nvSpPr>
        <p:spPr>
          <a:xfrm>
            <a:off x="819288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001"/>
              </a:spcAft>
            </a:pPr>
            <a:r>
              <a:rPr lang="en-US" sz="1500" b="1" u="none" strike="noStrike">
                <a:solidFill>
                  <a:srgbClr val="0A192F"/>
                </a:solidFill>
                <a:effectLst/>
                <a:uFillTx/>
                <a:latin typeface="Georgia"/>
              </a:rPr>
              <a:t>La Contradicción Técnica</a:t>
            </a:r>
            <a:endParaRPr lang="en-US" sz="1500" b="0" u="none" strike="noStrike">
              <a:solidFill>
                <a:srgbClr val="000000"/>
              </a:solidFill>
              <a:effectLst/>
              <a:uFillTx/>
              <a:latin typeface="Arial"/>
            </a:endParaRPr>
          </a:p>
          <a:p>
            <a:pPr defTabSz="457200">
              <a:lnSpc>
                <a:spcPct val="100000"/>
              </a:lnSpc>
            </a:pPr>
            <a:r>
              <a:rPr lang="en-US" sz="1200" b="0" u="none" strike="noStrike">
                <a:solidFill>
                  <a:srgbClr val="0F172A"/>
                </a:solidFill>
                <a:effectLst/>
                <a:uFillTx/>
                <a:latin typeface="Arial"/>
              </a:rPr>
              <a:t>• Redes troncales y centrales de tránsito ya digitalizadas (sistemas T1 en EE.UU. y E1 en Europa).</a:t>
            </a:r>
            <a:br>
              <a:rPr sz="1200"/>
            </a:br>
            <a:r>
              <a:rPr lang="en-US" sz="1200" b="0" u="none" strike="noStrike">
                <a:solidFill>
                  <a:srgbClr val="0F172A"/>
                </a:solidFill>
                <a:effectLst/>
                <a:uFillTx/>
                <a:latin typeface="Arial"/>
              </a:rPr>
              <a:t>• 'Última milla' (acceso final al abonado) atrapada en un esquema analógico diseñado a finales del siglo XIX.</a:t>
            </a:r>
            <a:br>
              <a:rPr sz="1200"/>
            </a:br>
            <a:r>
              <a:rPr lang="en-US" sz="1200" b="0" u="none" strike="noStrike">
                <a:solidFill>
                  <a:srgbClr val="0F172A"/>
                </a:solidFill>
                <a:effectLst/>
                <a:uFillTx/>
                <a:latin typeface="Arial"/>
              </a:rPr>
              <a:t>• Módems lentos (300 bps - 2400 bps) operando en la banda vocal estrecha de 3.1 kHz.</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83" name="TextBox 1"/>
          <p:cNvSpPr/>
          <p:nvPr/>
        </p:nvSpPr>
        <p:spPr>
          <a:xfrm>
            <a:off x="731520" y="365760"/>
            <a:ext cx="10728360" cy="10054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1" u="none" strike="noStrike">
                <a:solidFill>
                  <a:srgbClr val="0284C7"/>
                </a:solidFill>
                <a:effectLst/>
                <a:uFillTx/>
                <a:latin typeface="Arial"/>
              </a:rPr>
              <a:t>REDES DE ALTA VELOCIDAD | PROTOCOLO RDSI</a:t>
            </a:r>
            <a:endParaRPr lang="en-US" sz="1000" b="0" u="none" strike="noStrike">
              <a:solidFill>
                <a:srgbClr val="000000"/>
              </a:solidFill>
              <a:effectLst/>
              <a:uFillTx/>
              <a:latin typeface="Arial"/>
            </a:endParaRPr>
          </a:p>
          <a:p>
            <a:pPr defTabSz="457200">
              <a:lnSpc>
                <a:spcPct val="100000"/>
              </a:lnSpc>
            </a:pPr>
            <a:r>
              <a:rPr lang="en-US" sz="2200" b="1" u="none" strike="noStrike">
                <a:solidFill>
                  <a:srgbClr val="0A192F"/>
                </a:solidFill>
                <a:effectLst/>
                <a:uFillTx/>
                <a:latin typeface="Georgia"/>
              </a:rPr>
              <a:t>La Red Telefónica Básica analógica padecía tres limitaciones estructurales insuperables</a:t>
            </a:r>
            <a:endParaRPr lang="en-US" sz="2200" b="0" u="none" strike="noStrike">
              <a:solidFill>
                <a:srgbClr val="000000"/>
              </a:solidFill>
              <a:effectLst/>
              <a:uFillTx/>
              <a:latin typeface="Arial"/>
            </a:endParaRPr>
          </a:p>
        </p:txBody>
      </p:sp>
      <p:sp>
        <p:nvSpPr>
          <p:cNvPr id="84" name="Rectangle 2"/>
          <p:cNvSpPr/>
          <p:nvPr/>
        </p:nvSpPr>
        <p:spPr>
          <a:xfrm>
            <a:off x="731520" y="1371600"/>
            <a:ext cx="10728360" cy="25200"/>
          </a:xfrm>
          <a:prstGeom prst="rect">
            <a:avLst/>
          </a:prstGeom>
          <a:solidFill>
            <a:srgbClr val="0284C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85" name="TextBox 3"/>
          <p:cNvSpPr/>
          <p:nvPr/>
        </p:nvSpPr>
        <p:spPr>
          <a:xfrm>
            <a:off x="731520" y="6400800"/>
            <a:ext cx="10728360" cy="2739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900" b="0" u="none" strike="noStrike">
                <a:solidFill>
                  <a:srgbClr val="334155"/>
                </a:solidFill>
                <a:effectLst/>
                <a:uFillTx/>
                <a:latin typeface="Arial"/>
              </a:rPr>
              <a:t>Anatomía de la RDSI | Materia: Redes de Alta Velocidad | Diapositiva 4 de 16</a:t>
            </a:r>
            <a:endParaRPr lang="en-US" sz="900" b="0" u="none" strike="noStrike">
              <a:solidFill>
                <a:srgbClr val="000000"/>
              </a:solidFill>
              <a:effectLst/>
              <a:uFillTx/>
              <a:latin typeface="Arial"/>
            </a:endParaRPr>
          </a:p>
        </p:txBody>
      </p:sp>
      <p:sp>
        <p:nvSpPr>
          <p:cNvPr id="86" name="Rounded Rectangle 4"/>
          <p:cNvSpPr/>
          <p:nvPr/>
        </p:nvSpPr>
        <p:spPr>
          <a:xfrm>
            <a:off x="73152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7" name="TextBox 5"/>
          <p:cNvSpPr/>
          <p:nvPr/>
        </p:nvSpPr>
        <p:spPr>
          <a:xfrm>
            <a:off x="91440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601"/>
              </a:spcAft>
            </a:pPr>
            <a:r>
              <a:rPr lang="en-US" sz="1500" b="1" u="none" strike="noStrike">
                <a:solidFill>
                  <a:srgbClr val="D97706"/>
                </a:solidFill>
                <a:effectLst/>
                <a:uFillTx/>
                <a:latin typeface="Georgia"/>
              </a:rPr>
              <a:t>Limitación 1:</a:t>
            </a:r>
            <a:br>
              <a:rPr sz="1500"/>
            </a:br>
            <a:r>
              <a:rPr lang="en-US" sz="1500" b="1" u="none" strike="noStrike">
                <a:solidFill>
                  <a:srgbClr val="D97706"/>
                </a:solidFill>
                <a:effectLst/>
                <a:uFillTx/>
                <a:latin typeface="Georgia"/>
              </a:rPr>
              <a:t>Cuello de Botella del Ancho de Banda</a:t>
            </a:r>
            <a:endParaRPr lang="en-US" sz="1500" b="0" u="none" strike="noStrike">
              <a:solidFill>
                <a:srgbClr val="000000"/>
              </a:solidFill>
              <a:effectLst/>
              <a:uFillTx/>
              <a:latin typeface="Arial"/>
            </a:endParaRPr>
          </a:p>
          <a:p>
            <a:pPr defTabSz="457200">
              <a:lnSpc>
                <a:spcPct val="100000"/>
              </a:lnSpc>
              <a:spcAft>
                <a:spcPts val="1199"/>
              </a:spcAft>
            </a:pPr>
            <a:r>
              <a:rPr lang="en-US" sz="1100" b="1" u="none" strike="noStrike">
                <a:solidFill>
                  <a:srgbClr val="334155"/>
                </a:solidFill>
                <a:effectLst/>
                <a:uFillTx/>
                <a:latin typeface="Arial"/>
              </a:rPr>
              <a:t>Filtro de Banda Vocal (300 Hz - 3400 Hz)</a:t>
            </a:r>
            <a:endParaRPr lang="en-US" sz="1100" b="0" u="none" strike="noStrike">
              <a:solidFill>
                <a:srgbClr val="000000"/>
              </a:solidFill>
              <a:effectLst/>
              <a:uFillTx/>
              <a:latin typeface="Arial"/>
            </a:endParaRPr>
          </a:p>
          <a:p>
            <a:pPr defTabSz="457200">
              <a:lnSpc>
                <a:spcPct val="100000"/>
              </a:lnSpc>
            </a:pPr>
            <a:r>
              <a:rPr lang="en-US" sz="1200" b="0" u="none" strike="noStrike">
                <a:solidFill>
                  <a:srgbClr val="0F172A"/>
                </a:solidFill>
                <a:effectLst/>
                <a:uFillTx/>
                <a:latin typeface="Arial"/>
              </a:rPr>
              <a:t>La RTB estaba optimizada de forma exclusiva para la voz humana. Los filtros de la central eliminaban todo el espectro fuera de los 3.1 kHz, limitando físicamente la velocidad por la ley de Shannon-Hartley a un máximo práctico de 33.6 - 56 kbps.</a:t>
            </a:r>
            <a:endParaRPr lang="en-US" sz="1200" b="0" u="none" strike="noStrike">
              <a:solidFill>
                <a:srgbClr val="000000"/>
              </a:solidFill>
              <a:effectLst/>
              <a:uFillTx/>
              <a:latin typeface="Arial"/>
            </a:endParaRPr>
          </a:p>
        </p:txBody>
      </p:sp>
      <p:sp>
        <p:nvSpPr>
          <p:cNvPr id="88" name="Rounded Rectangle 6"/>
          <p:cNvSpPr/>
          <p:nvPr/>
        </p:nvSpPr>
        <p:spPr>
          <a:xfrm>
            <a:off x="437076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9" name="TextBox 7"/>
          <p:cNvSpPr/>
          <p:nvPr/>
        </p:nvSpPr>
        <p:spPr>
          <a:xfrm>
            <a:off x="455364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601"/>
              </a:spcAft>
            </a:pPr>
            <a:r>
              <a:rPr lang="en-US" sz="1500" b="1" u="none" strike="noStrike">
                <a:solidFill>
                  <a:srgbClr val="0369A1"/>
                </a:solidFill>
                <a:effectLst/>
                <a:uFillTx/>
                <a:latin typeface="Georgia"/>
              </a:rPr>
              <a:t>Limitación 2:</a:t>
            </a:r>
            <a:br>
              <a:rPr sz="1500"/>
            </a:br>
            <a:r>
              <a:rPr lang="en-US" sz="1500" b="1" u="none" strike="noStrike">
                <a:solidFill>
                  <a:srgbClr val="0369A1"/>
                </a:solidFill>
                <a:effectLst/>
                <a:uFillTx/>
                <a:latin typeface="Georgia"/>
              </a:rPr>
              <a:t>Inexistencia de Simultaneidad</a:t>
            </a:r>
            <a:endParaRPr lang="en-US" sz="1500" b="0" u="none" strike="noStrike">
              <a:solidFill>
                <a:srgbClr val="000000"/>
              </a:solidFill>
              <a:effectLst/>
              <a:uFillTx/>
              <a:latin typeface="Arial"/>
            </a:endParaRPr>
          </a:p>
          <a:p>
            <a:pPr defTabSz="457200">
              <a:lnSpc>
                <a:spcPct val="100000"/>
              </a:lnSpc>
              <a:spcAft>
                <a:spcPts val="1199"/>
              </a:spcAft>
            </a:pPr>
            <a:r>
              <a:rPr lang="en-US" sz="1100" b="1" u="none" strike="noStrike">
                <a:solidFill>
                  <a:srgbClr val="334155"/>
                </a:solidFill>
                <a:effectLst/>
                <a:uFillTx/>
                <a:latin typeface="Arial"/>
              </a:rPr>
              <a:t>Canal Único Indivisible en el Par de Cobre</a:t>
            </a:r>
            <a:endParaRPr lang="en-US" sz="1100" b="0" u="none" strike="noStrike">
              <a:solidFill>
                <a:srgbClr val="000000"/>
              </a:solidFill>
              <a:effectLst/>
              <a:uFillTx/>
              <a:latin typeface="Arial"/>
            </a:endParaRPr>
          </a:p>
          <a:p>
            <a:pPr defTabSz="457200">
              <a:lnSpc>
                <a:spcPct val="100000"/>
              </a:lnSpc>
            </a:pPr>
            <a:r>
              <a:rPr lang="en-US" sz="1200" b="0" u="none" strike="noStrike">
                <a:solidFill>
                  <a:srgbClr val="0F172A"/>
                </a:solidFill>
                <a:effectLst/>
                <a:uFillTx/>
                <a:latin typeface="Arial"/>
              </a:rPr>
              <a:t>El par analógico funcionaba como un único canal no estructurado. Ocupar la línea con una llamada telefónica inhabilitaba por completo el envío de fax o la conexión por módem, obligando a contratar múltiples líneas físicas por oficina.</a:t>
            </a:r>
            <a:endParaRPr lang="en-US" sz="1200" b="0" u="none" strike="noStrike">
              <a:solidFill>
                <a:srgbClr val="000000"/>
              </a:solidFill>
              <a:effectLst/>
              <a:uFillTx/>
              <a:latin typeface="Arial"/>
            </a:endParaRPr>
          </a:p>
        </p:txBody>
      </p:sp>
      <p:sp>
        <p:nvSpPr>
          <p:cNvPr id="90" name="Rounded Rectangle 8"/>
          <p:cNvSpPr/>
          <p:nvPr/>
        </p:nvSpPr>
        <p:spPr>
          <a:xfrm>
            <a:off x="801000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1" name="TextBox 9"/>
          <p:cNvSpPr/>
          <p:nvPr/>
        </p:nvSpPr>
        <p:spPr>
          <a:xfrm>
            <a:off x="819288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601"/>
              </a:spcAft>
            </a:pPr>
            <a:r>
              <a:rPr lang="en-US" sz="1500" b="1" u="none" strike="noStrike">
                <a:solidFill>
                  <a:srgbClr val="0A192F"/>
                </a:solidFill>
                <a:effectLst/>
                <a:uFillTx/>
                <a:latin typeface="Georgia"/>
              </a:rPr>
              <a:t>Limitación 3:</a:t>
            </a:r>
            <a:br>
              <a:rPr sz="1500"/>
            </a:br>
            <a:r>
              <a:rPr lang="en-US" sz="1500" b="1" u="none" strike="noStrike">
                <a:solidFill>
                  <a:srgbClr val="0A192F"/>
                </a:solidFill>
                <a:effectLst/>
                <a:uFillTx/>
                <a:latin typeface="Georgia"/>
              </a:rPr>
              <a:t>Señalización en Banda Ineficiente</a:t>
            </a:r>
            <a:endParaRPr lang="en-US" sz="1500" b="0" u="none" strike="noStrike">
              <a:solidFill>
                <a:srgbClr val="000000"/>
              </a:solidFill>
              <a:effectLst/>
              <a:uFillTx/>
              <a:latin typeface="Arial"/>
            </a:endParaRPr>
          </a:p>
          <a:p>
            <a:pPr defTabSz="457200">
              <a:lnSpc>
                <a:spcPct val="100000"/>
              </a:lnSpc>
              <a:spcAft>
                <a:spcPts val="1199"/>
              </a:spcAft>
            </a:pPr>
            <a:r>
              <a:rPr lang="en-US" sz="1100" b="1" u="none" strike="noStrike">
                <a:solidFill>
                  <a:srgbClr val="334155"/>
                </a:solidFill>
                <a:effectLst/>
                <a:uFillTx/>
                <a:latin typeface="Arial"/>
              </a:rPr>
              <a:t>Tonos DTMF y Pulsos sobre el Canal de Voz</a:t>
            </a:r>
            <a:endParaRPr lang="en-US" sz="1100" b="0" u="none" strike="noStrike">
              <a:solidFill>
                <a:srgbClr val="000000"/>
              </a:solidFill>
              <a:effectLst/>
              <a:uFillTx/>
              <a:latin typeface="Arial"/>
            </a:endParaRPr>
          </a:p>
          <a:p>
            <a:pPr defTabSz="457200">
              <a:lnSpc>
                <a:spcPct val="100000"/>
              </a:lnSpc>
            </a:pPr>
            <a:r>
              <a:rPr lang="en-US" sz="1200" b="0" u="none" strike="noStrike">
                <a:solidFill>
                  <a:srgbClr val="0F172A"/>
                </a:solidFill>
                <a:effectLst/>
                <a:uFillTx/>
                <a:latin typeface="Arial"/>
              </a:rPr>
              <a:t>Los comandos de control se enviaban por la misma vía que la conversación. Esto generaba vulnerabilidades de seguridad (fraudes por generadores de tonos) y tiempos de establecimiento de llamada lentos de 10 a 15 segundos.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92" name="TextBox 1"/>
          <p:cNvSpPr/>
          <p:nvPr/>
        </p:nvSpPr>
        <p:spPr>
          <a:xfrm>
            <a:off x="731520" y="365760"/>
            <a:ext cx="10728360" cy="10054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1" u="none" strike="noStrike">
                <a:solidFill>
                  <a:srgbClr val="0284C7"/>
                </a:solidFill>
                <a:effectLst/>
                <a:uFillTx/>
                <a:latin typeface="Arial"/>
              </a:rPr>
              <a:t>REDES DE ALTA VELOCIDAD | PROTOCOLO RDSI</a:t>
            </a:r>
            <a:endParaRPr lang="en-US" sz="1000" b="0" u="none" strike="noStrike">
              <a:solidFill>
                <a:srgbClr val="000000"/>
              </a:solidFill>
              <a:effectLst/>
              <a:uFillTx/>
              <a:latin typeface="Arial"/>
            </a:endParaRPr>
          </a:p>
          <a:p>
            <a:pPr defTabSz="457200">
              <a:lnSpc>
                <a:spcPct val="100000"/>
              </a:lnSpc>
            </a:pPr>
            <a:r>
              <a:rPr lang="en-US" sz="2200" b="1" u="none" strike="noStrike">
                <a:solidFill>
                  <a:srgbClr val="0A192F"/>
                </a:solidFill>
                <a:effectLst/>
                <a:uFillTx/>
                <a:latin typeface="Georgia"/>
              </a:rPr>
              <a:t>Qué resolvió la RDSI frente a la Red Telefónica Básica (RTB / POTS)</a:t>
            </a:r>
            <a:endParaRPr lang="en-US" sz="2200" b="0" u="none" strike="noStrike">
              <a:solidFill>
                <a:srgbClr val="000000"/>
              </a:solidFill>
              <a:effectLst/>
              <a:uFillTx/>
              <a:latin typeface="Arial"/>
            </a:endParaRPr>
          </a:p>
        </p:txBody>
      </p:sp>
      <p:sp>
        <p:nvSpPr>
          <p:cNvPr id="93" name="Rectangle 2"/>
          <p:cNvSpPr/>
          <p:nvPr/>
        </p:nvSpPr>
        <p:spPr>
          <a:xfrm>
            <a:off x="731520" y="1371600"/>
            <a:ext cx="10728360" cy="25200"/>
          </a:xfrm>
          <a:prstGeom prst="rect">
            <a:avLst/>
          </a:prstGeom>
          <a:solidFill>
            <a:srgbClr val="0284C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94" name="TextBox 3"/>
          <p:cNvSpPr/>
          <p:nvPr/>
        </p:nvSpPr>
        <p:spPr>
          <a:xfrm>
            <a:off x="731520" y="6400800"/>
            <a:ext cx="10728360" cy="2739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900" b="0" u="none" strike="noStrike">
                <a:solidFill>
                  <a:srgbClr val="334155"/>
                </a:solidFill>
                <a:effectLst/>
                <a:uFillTx/>
                <a:latin typeface="Arial"/>
              </a:rPr>
              <a:t>Anatomía de la RDSI | Materia: Redes de Alta Velocidad | Diapositiva 5 de 16</a:t>
            </a:r>
            <a:endParaRPr lang="en-US" sz="900" b="0" u="none" strike="noStrike">
              <a:solidFill>
                <a:srgbClr val="000000"/>
              </a:solidFill>
              <a:effectLst/>
              <a:uFillTx/>
              <a:latin typeface="Arial"/>
            </a:endParaRPr>
          </a:p>
        </p:txBody>
      </p:sp>
      <p:graphicFrame>
        <p:nvGraphicFramePr>
          <p:cNvPr id="95" name="Table 4"/>
          <p:cNvGraphicFramePr/>
          <p:nvPr/>
        </p:nvGraphicFramePr>
        <p:xfrm>
          <a:off x="731520" y="1645920"/>
          <a:ext cx="10728360" cy="4480560"/>
        </p:xfrm>
        <a:graphic>
          <a:graphicData uri="http://schemas.openxmlformats.org/drawingml/2006/table">
            <a:tbl>
              <a:tblPr/>
              <a:tblGrid>
                <a:gridCol w="2560320"/>
                <a:gridCol w="4023360"/>
                <a:gridCol w="4144680"/>
              </a:tblGrid>
              <a:tr h="640080">
                <a:tc>
                  <a:txBody>
                    <a:bodyPr anchor="t">
                      <a:noAutofit/>
                    </a:bodyPr>
                    <a:p>
                      <a:pPr defTabSz="457200">
                        <a:lnSpc>
                          <a:spcPct val="100000"/>
                        </a:lnSpc>
                      </a:pPr>
                      <a:r>
                        <a:rPr lang="en-US" sz="1200" b="1" u="none" strike="noStrike">
                          <a:solidFill>
                            <a:srgbClr val="FFFFFF"/>
                          </a:solidFill>
                          <a:effectLst/>
                          <a:uFillTx/>
                          <a:latin typeface="Arial"/>
                        </a:rPr>
                        <a:t>Parámetro Técnico</a:t>
                      </a:r>
                      <a:endParaRPr lang="en-US"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A192F"/>
                    </a:solidFill>
                  </a:tcPr>
                </a:tc>
                <a:tc>
                  <a:txBody>
                    <a:bodyPr anchor="t">
                      <a:noAutofit/>
                    </a:bodyPr>
                    <a:p>
                      <a:pPr defTabSz="457200">
                        <a:lnSpc>
                          <a:spcPct val="100000"/>
                        </a:lnSpc>
                      </a:pPr>
                      <a:r>
                        <a:rPr lang="en-US" sz="1200" b="1" u="none" strike="noStrike">
                          <a:solidFill>
                            <a:srgbClr val="FFFFFF"/>
                          </a:solidFill>
                          <a:effectLst/>
                          <a:uFillTx/>
                          <a:latin typeface="Arial"/>
                        </a:rPr>
                        <a:t>Red Telefónica Básica (RTB / POTS)</a:t>
                      </a:r>
                      <a:endParaRPr lang="en-US"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A192F"/>
                    </a:solidFill>
                  </a:tcPr>
                </a:tc>
                <a:tc>
                  <a:txBody>
                    <a:bodyPr anchor="t">
                      <a:noAutofit/>
                    </a:bodyPr>
                    <a:p>
                      <a:pPr defTabSz="457200">
                        <a:lnSpc>
                          <a:spcPct val="100000"/>
                        </a:lnSpc>
                      </a:pPr>
                      <a:r>
                        <a:rPr lang="en-US" sz="1200" b="1" u="none" strike="noStrike">
                          <a:solidFill>
                            <a:srgbClr val="FFFFFF"/>
                          </a:solidFill>
                          <a:effectLst/>
                          <a:uFillTx/>
                          <a:latin typeface="Arial"/>
                        </a:rPr>
                        <a:t>Red Digital de Servicios Integrados (RDSI)</a:t>
                      </a:r>
                      <a:endParaRPr lang="en-US" sz="12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A192F"/>
                    </a:solidFill>
                  </a:tcPr>
                </a:tc>
              </a:tr>
              <a:tr h="640080">
                <a:tc>
                  <a:txBody>
                    <a:bodyPr anchor="t">
                      <a:noAutofit/>
                    </a:bodyPr>
                    <a:p>
                      <a:pPr defTabSz="457200">
                        <a:lnSpc>
                          <a:spcPct val="100000"/>
                        </a:lnSpc>
                      </a:pPr>
                      <a:r>
                        <a:rPr lang="en-US" sz="1100" b="1" u="none" strike="noStrike">
                          <a:solidFill>
                            <a:srgbClr val="0A192F"/>
                          </a:solidFill>
                          <a:effectLst/>
                          <a:uFillTx/>
                          <a:latin typeface="Arial"/>
                        </a:rPr>
                        <a:t>Naturaleza de la Señal</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100" b="0" u="none" strike="noStrike">
                          <a:solidFill>
                            <a:srgbClr val="0F172A"/>
                          </a:solidFill>
                          <a:effectLst/>
                          <a:uFillTx/>
                          <a:latin typeface="Arial"/>
                        </a:rPr>
                        <a:t>Analógica (voltaje variable proporcional a ondas sonoras)</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100" b="0" u="none" strike="noStrike">
                          <a:solidFill>
                            <a:srgbClr val="0F172A"/>
                          </a:solidFill>
                          <a:effectLst/>
                          <a:uFillTx/>
                          <a:latin typeface="Arial"/>
                        </a:rPr>
                        <a:t>Digital (flujo binario codificado directamente desde el origen)</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640080">
                <a:tc>
                  <a:txBody>
                    <a:bodyPr anchor="t">
                      <a:noAutofit/>
                    </a:bodyPr>
                    <a:p>
                      <a:pPr defTabSz="457200">
                        <a:lnSpc>
                          <a:spcPct val="100000"/>
                        </a:lnSpc>
                      </a:pPr>
                      <a:r>
                        <a:rPr lang="en-US" sz="1100" b="1" u="none" strike="noStrike">
                          <a:solidFill>
                            <a:srgbClr val="0A192F"/>
                          </a:solidFill>
                          <a:effectLst/>
                          <a:uFillTx/>
                          <a:latin typeface="Arial"/>
                        </a:rPr>
                        <a:t>Velocidad de Transferencia</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5F9"/>
                    </a:solidFill>
                  </a:tcPr>
                </a:tc>
                <a:tc>
                  <a:txBody>
                    <a:bodyPr anchor="t">
                      <a:noAutofit/>
                    </a:bodyPr>
                    <a:p>
                      <a:pPr defTabSz="457200">
                        <a:lnSpc>
                          <a:spcPct val="100000"/>
                        </a:lnSpc>
                      </a:pPr>
                      <a:r>
                        <a:rPr lang="en-US" sz="1100" b="0" u="none" strike="noStrike">
                          <a:solidFill>
                            <a:srgbClr val="0F172A"/>
                          </a:solidFill>
                          <a:effectLst/>
                          <a:uFillTx/>
                          <a:latin typeface="Arial"/>
                        </a:rPr>
                        <a:t>Limitada a máximo 33.6 kbps o 56 kbps por módem</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5F9"/>
                    </a:solidFill>
                  </a:tcPr>
                </a:tc>
                <a:tc>
                  <a:txBody>
                    <a:bodyPr anchor="t">
                      <a:noAutofit/>
                    </a:bodyPr>
                    <a:p>
                      <a:pPr defTabSz="457200">
                        <a:lnSpc>
                          <a:spcPct val="100000"/>
                        </a:lnSpc>
                      </a:pPr>
                      <a:r>
                        <a:rPr lang="en-US" sz="1100" b="0" u="none" strike="noStrike">
                          <a:solidFill>
                            <a:srgbClr val="0F172A"/>
                          </a:solidFill>
                          <a:effectLst/>
                          <a:uFillTx/>
                          <a:latin typeface="Arial"/>
                        </a:rPr>
                        <a:t>Múltiplos síncronos de 64 kbps (hasta 128 kbps BRI / 2 Mbps PRI)</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5F9"/>
                    </a:solidFill>
                  </a:tcPr>
                </a:tc>
              </a:tr>
              <a:tr h="640080">
                <a:tc>
                  <a:txBody>
                    <a:bodyPr anchor="t">
                      <a:noAutofit/>
                    </a:bodyPr>
                    <a:p>
                      <a:pPr defTabSz="457200">
                        <a:lnSpc>
                          <a:spcPct val="100000"/>
                        </a:lnSpc>
                      </a:pPr>
                      <a:r>
                        <a:rPr lang="en-US" sz="1100" b="1" u="none" strike="noStrike">
                          <a:solidFill>
                            <a:srgbClr val="0A192F"/>
                          </a:solidFill>
                          <a:effectLst/>
                          <a:uFillTx/>
                          <a:latin typeface="Arial"/>
                        </a:rPr>
                        <a:t>Estructura de Canales</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100" b="0" u="none" strike="noStrike">
                          <a:solidFill>
                            <a:srgbClr val="0F172A"/>
                          </a:solidFill>
                          <a:effectLst/>
                          <a:uFillTx/>
                          <a:latin typeface="Arial"/>
                        </a:rPr>
                        <a:t>Canal único analógico no estructurado</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100" b="0" u="none" strike="noStrike">
                          <a:solidFill>
                            <a:srgbClr val="0F172A"/>
                          </a:solidFill>
                          <a:effectLst/>
                          <a:uFillTx/>
                          <a:latin typeface="Arial"/>
                        </a:rPr>
                        <a:t>Canales lógicos B (datos/voz) y D (señalización y control)</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640080">
                <a:tc>
                  <a:txBody>
                    <a:bodyPr anchor="t">
                      <a:noAutofit/>
                    </a:bodyPr>
                    <a:p>
                      <a:pPr defTabSz="457200">
                        <a:lnSpc>
                          <a:spcPct val="100000"/>
                        </a:lnSpc>
                      </a:pPr>
                      <a:r>
                        <a:rPr lang="en-US" sz="1100" b="1" u="none" strike="noStrike">
                          <a:solidFill>
                            <a:srgbClr val="0A192F"/>
                          </a:solidFill>
                          <a:effectLst/>
                          <a:uFillTx/>
                          <a:latin typeface="Arial"/>
                        </a:rPr>
                        <a:t>Simultaneidad de Servicios</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5F9"/>
                    </a:solidFill>
                  </a:tcPr>
                </a:tc>
                <a:tc>
                  <a:txBody>
                    <a:bodyPr anchor="t">
                      <a:noAutofit/>
                    </a:bodyPr>
                    <a:p>
                      <a:pPr defTabSz="457200">
                        <a:lnSpc>
                          <a:spcPct val="100000"/>
                        </a:lnSpc>
                      </a:pPr>
                      <a:r>
                        <a:rPr lang="en-US" sz="1100" b="0" u="none" strike="noStrike">
                          <a:solidFill>
                            <a:srgbClr val="0F172A"/>
                          </a:solidFill>
                          <a:effectLst/>
                          <a:uFillTx/>
                          <a:latin typeface="Arial"/>
                        </a:rPr>
                        <a:t>Inexistente (exclusión mutua entre habla y datos/fax)</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5F9"/>
                    </a:solidFill>
                  </a:tcPr>
                </a:tc>
                <a:tc>
                  <a:txBody>
                    <a:bodyPr anchor="t">
                      <a:noAutofit/>
                    </a:bodyPr>
                    <a:p>
                      <a:pPr defTabSz="457200">
                        <a:lnSpc>
                          <a:spcPct val="100000"/>
                        </a:lnSpc>
                      </a:pPr>
                      <a:r>
                        <a:rPr lang="en-US" sz="1100" b="0" u="none" strike="noStrike">
                          <a:solidFill>
                            <a:srgbClr val="0F172A"/>
                          </a:solidFill>
                          <a:effectLst/>
                          <a:uFillTx/>
                          <a:latin typeface="Arial"/>
                        </a:rPr>
                        <a:t>Completa (llamada de voz y sesión de datos simultáneas)</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5F9"/>
                    </a:solidFill>
                  </a:tcPr>
                </a:tc>
              </a:tr>
              <a:tr h="640080">
                <a:tc>
                  <a:txBody>
                    <a:bodyPr anchor="t">
                      <a:noAutofit/>
                    </a:bodyPr>
                    <a:p>
                      <a:pPr defTabSz="457200">
                        <a:lnSpc>
                          <a:spcPct val="100000"/>
                        </a:lnSpc>
                      </a:pPr>
                      <a:r>
                        <a:rPr lang="en-US" sz="1100" b="1" u="none" strike="noStrike">
                          <a:solidFill>
                            <a:srgbClr val="0A192F"/>
                          </a:solidFill>
                          <a:effectLst/>
                          <a:uFillTx/>
                          <a:latin typeface="Arial"/>
                        </a:rPr>
                        <a:t>Mecanismo de Señalización</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100" b="0" u="none" strike="noStrike">
                          <a:solidFill>
                            <a:srgbClr val="0F172A"/>
                          </a:solidFill>
                          <a:effectLst/>
                          <a:uFillTx/>
                          <a:latin typeface="Arial"/>
                        </a:rPr>
                        <a:t>En banda (tonos analógicos DTMF o impulsos)</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100" b="0" u="none" strike="noStrike">
                          <a:solidFill>
                            <a:srgbClr val="0F172A"/>
                          </a:solidFill>
                          <a:effectLst/>
                          <a:uFillTx/>
                          <a:latin typeface="Arial"/>
                        </a:rPr>
                        <a:t>Fuera de banda (paquetes digitales por canal D con protocolo DSS1)</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640080">
                <a:tc>
                  <a:txBody>
                    <a:bodyPr anchor="t">
                      <a:noAutofit/>
                    </a:bodyPr>
                    <a:p>
                      <a:pPr defTabSz="457200">
                        <a:lnSpc>
                          <a:spcPct val="100000"/>
                        </a:lnSpc>
                      </a:pPr>
                      <a:r>
                        <a:rPr lang="en-US" sz="1100" b="1" u="none" strike="noStrike">
                          <a:solidFill>
                            <a:srgbClr val="0A192F"/>
                          </a:solidFill>
                          <a:effectLst/>
                          <a:uFillTx/>
                          <a:latin typeface="Arial"/>
                        </a:rPr>
                        <a:t>Tiempo de Conexión</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5F9"/>
                    </a:solidFill>
                  </a:tcPr>
                </a:tc>
                <a:tc>
                  <a:txBody>
                    <a:bodyPr anchor="t">
                      <a:noAutofit/>
                    </a:bodyPr>
                    <a:p>
                      <a:pPr defTabSz="457200">
                        <a:lnSpc>
                          <a:spcPct val="100000"/>
                        </a:lnSpc>
                      </a:pPr>
                      <a:r>
                        <a:rPr lang="en-US" sz="1100" b="0" u="none" strike="noStrike">
                          <a:solidFill>
                            <a:srgbClr val="0F172A"/>
                          </a:solidFill>
                          <a:effectLst/>
                          <a:uFillTx/>
                          <a:latin typeface="Arial"/>
                        </a:rPr>
                        <a:t>Lento (5 a 15 segundos por marcado analógico)</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5F9"/>
                    </a:solidFill>
                  </a:tcPr>
                </a:tc>
                <a:tc>
                  <a:txBody>
                    <a:bodyPr anchor="t">
                      <a:noAutofit/>
                    </a:bodyPr>
                    <a:p>
                      <a:pPr defTabSz="457200">
                        <a:lnSpc>
                          <a:spcPct val="100000"/>
                        </a:lnSpc>
                      </a:pPr>
                      <a:r>
                        <a:rPr lang="en-US" sz="1100" b="0" u="none" strike="noStrike">
                          <a:solidFill>
                            <a:srgbClr val="0F172A"/>
                          </a:solidFill>
                          <a:effectLst/>
                          <a:uFillTx/>
                          <a:latin typeface="Arial"/>
                        </a:rPr>
                        <a:t>Ultra rápido (generalmente inferior a 1 segundo)</a:t>
                      </a:r>
                      <a:endParaRPr lang="en-US" sz="11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5F9"/>
                    </a:solid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96" name="TextBox 1"/>
          <p:cNvSpPr/>
          <p:nvPr/>
        </p:nvSpPr>
        <p:spPr>
          <a:xfrm>
            <a:off x="731520" y="365760"/>
            <a:ext cx="10728360" cy="10054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1" u="none" strike="noStrike">
                <a:solidFill>
                  <a:srgbClr val="0284C7"/>
                </a:solidFill>
                <a:effectLst/>
                <a:uFillTx/>
                <a:latin typeface="Arial"/>
              </a:rPr>
              <a:t>REDES DE ALTA VELOCIDAD | PROTOCOLO RDSI</a:t>
            </a:r>
            <a:endParaRPr lang="en-US" sz="1000" b="0" u="none" strike="noStrike">
              <a:solidFill>
                <a:srgbClr val="000000"/>
              </a:solidFill>
              <a:effectLst/>
              <a:uFillTx/>
              <a:latin typeface="Arial"/>
            </a:endParaRPr>
          </a:p>
          <a:p>
            <a:pPr defTabSz="457200">
              <a:lnSpc>
                <a:spcPct val="100000"/>
              </a:lnSpc>
            </a:pPr>
            <a:r>
              <a:rPr lang="en-US" sz="2200" b="1" u="none" strike="noStrike">
                <a:solidFill>
                  <a:srgbClr val="0A192F"/>
                </a:solidFill>
                <a:effectLst/>
                <a:uFillTx/>
                <a:latin typeface="Georgia"/>
              </a:rPr>
              <a:t>La UIT-T (CCITT) y Bell Labs / Bellcore lideraron la invención y estandarización global</a:t>
            </a:r>
            <a:endParaRPr lang="en-US" sz="2200" b="0" u="none" strike="noStrike">
              <a:solidFill>
                <a:srgbClr val="000000"/>
              </a:solidFill>
              <a:effectLst/>
              <a:uFillTx/>
              <a:latin typeface="Arial"/>
            </a:endParaRPr>
          </a:p>
        </p:txBody>
      </p:sp>
      <p:sp>
        <p:nvSpPr>
          <p:cNvPr id="97" name="Rectangle 2"/>
          <p:cNvSpPr/>
          <p:nvPr/>
        </p:nvSpPr>
        <p:spPr>
          <a:xfrm>
            <a:off x="731520" y="1371600"/>
            <a:ext cx="10728360" cy="25200"/>
          </a:xfrm>
          <a:prstGeom prst="rect">
            <a:avLst/>
          </a:prstGeom>
          <a:solidFill>
            <a:srgbClr val="0284C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98" name="TextBox 3"/>
          <p:cNvSpPr/>
          <p:nvPr/>
        </p:nvSpPr>
        <p:spPr>
          <a:xfrm>
            <a:off x="731520" y="6400800"/>
            <a:ext cx="10728360" cy="2739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900" b="0" u="none" strike="noStrike">
                <a:solidFill>
                  <a:srgbClr val="334155"/>
                </a:solidFill>
                <a:effectLst/>
                <a:uFillTx/>
                <a:latin typeface="Arial"/>
              </a:rPr>
              <a:t>Anatomía de la RDSI | Materia: Redes de Alta Velocidad | Diapositiva 6 de 16</a:t>
            </a:r>
            <a:endParaRPr lang="en-US" sz="900" b="0" u="none" strike="noStrike">
              <a:solidFill>
                <a:srgbClr val="000000"/>
              </a:solidFill>
              <a:effectLst/>
              <a:uFillTx/>
              <a:latin typeface="Arial"/>
            </a:endParaRPr>
          </a:p>
        </p:txBody>
      </p:sp>
      <p:sp>
        <p:nvSpPr>
          <p:cNvPr id="99" name="Rounded Rectangle 4"/>
          <p:cNvSpPr/>
          <p:nvPr/>
        </p:nvSpPr>
        <p:spPr>
          <a:xfrm>
            <a:off x="731520" y="1645920"/>
            <a:ext cx="521172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0" name="TextBox 5"/>
          <p:cNvSpPr/>
          <p:nvPr/>
        </p:nvSpPr>
        <p:spPr>
          <a:xfrm>
            <a:off x="914400" y="1828800"/>
            <a:ext cx="484596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001"/>
              </a:spcAft>
            </a:pPr>
            <a:r>
              <a:rPr lang="en-US" sz="1600" b="1" u="none" strike="noStrike">
                <a:solidFill>
                  <a:srgbClr val="0A192F"/>
                </a:solidFill>
                <a:effectLst/>
                <a:uFillTx/>
                <a:latin typeface="Georgia"/>
              </a:rPr>
              <a:t>Investigación Fundamental (Bell Labs / Bellcore)</a:t>
            </a:r>
            <a:endParaRPr lang="en-US" sz="1600" b="0" u="none" strike="noStrike">
              <a:solidFill>
                <a:srgbClr val="000000"/>
              </a:solidFill>
              <a:effectLst/>
              <a:uFillTx/>
              <a:latin typeface="Arial"/>
            </a:endParaRPr>
          </a:p>
          <a:p>
            <a:pPr defTabSz="457200">
              <a:lnSpc>
                <a:spcPct val="100000"/>
              </a:lnSpc>
            </a:pPr>
            <a:r>
              <a:rPr lang="en-US" sz="1200" b="0" u="none" strike="noStrike">
                <a:solidFill>
                  <a:srgbClr val="0F172A"/>
                </a:solidFill>
                <a:effectLst/>
                <a:uFillTx/>
                <a:latin typeface="Arial"/>
              </a:rPr>
              <a:t>• Ingenieros Pioneros: Ralph Wyndrum, Barry Bossick y Joe Lechleider a finales de los años 70.</a:t>
            </a:r>
            <a:br>
              <a:rPr sz="1200"/>
            </a:br>
            <a:br>
              <a:rPr sz="1200"/>
            </a:br>
            <a:r>
              <a:rPr lang="en-US" sz="1200" b="0" u="none" strike="noStrike">
                <a:solidFill>
                  <a:srgbClr val="0F172A"/>
                </a:solidFill>
                <a:effectLst/>
                <a:uFillTx/>
                <a:latin typeface="Arial"/>
              </a:rPr>
              <a:t>• Descubrimiento Clave: Demostraron que las líneas de par de cobre telefónico existentes podían transportar señales digitales de alta velocidad a distancias de varios kilómetros sin atenuación destructiva.</a:t>
            </a:r>
            <a:br>
              <a:rPr sz="1200"/>
            </a:br>
            <a:br>
              <a:rPr sz="1200"/>
            </a:br>
            <a:r>
              <a:rPr lang="en-US" sz="1200" b="0" u="none" strike="noStrike">
                <a:solidFill>
                  <a:srgbClr val="0F172A"/>
                </a:solidFill>
                <a:effectLst/>
                <a:uFillTx/>
                <a:latin typeface="Arial"/>
              </a:rPr>
              <a:t>• Premisa Fundamental: Reutilizar el bucle de abonado existente del operador sin necesidad de re-cablear las ciudades, convirtiéndolo en un conducto digital transparente.</a:t>
            </a:r>
            <a:endParaRPr lang="en-US" sz="1200" b="0" u="none" strike="noStrike">
              <a:solidFill>
                <a:srgbClr val="000000"/>
              </a:solidFill>
              <a:effectLst/>
              <a:uFillTx/>
              <a:latin typeface="Arial"/>
            </a:endParaRPr>
          </a:p>
        </p:txBody>
      </p:sp>
      <p:sp>
        <p:nvSpPr>
          <p:cNvPr id="101" name="Rounded Rectangle 6"/>
          <p:cNvSpPr/>
          <p:nvPr/>
        </p:nvSpPr>
        <p:spPr>
          <a:xfrm>
            <a:off x="6248160" y="1645920"/>
            <a:ext cx="521172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2" name="TextBox 7"/>
          <p:cNvSpPr/>
          <p:nvPr/>
        </p:nvSpPr>
        <p:spPr>
          <a:xfrm>
            <a:off x="6431040" y="1828800"/>
            <a:ext cx="484596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001"/>
              </a:spcAft>
            </a:pPr>
            <a:r>
              <a:rPr lang="en-US" sz="1600" b="1" u="none" strike="noStrike">
                <a:solidFill>
                  <a:srgbClr val="0369A1"/>
                </a:solidFill>
                <a:effectLst/>
                <a:uFillTx/>
                <a:latin typeface="Georgia"/>
              </a:rPr>
              <a:t>Estandarización Internacional (CCITT / UIT-T)</a:t>
            </a:r>
            <a:endParaRPr lang="en-US" sz="1600" b="0" u="none" strike="noStrike">
              <a:solidFill>
                <a:srgbClr val="000000"/>
              </a:solidFill>
              <a:effectLst/>
              <a:uFillTx/>
              <a:latin typeface="Arial"/>
            </a:endParaRPr>
          </a:p>
          <a:p>
            <a:pPr defTabSz="457200">
              <a:lnSpc>
                <a:spcPct val="100000"/>
              </a:lnSpc>
            </a:pPr>
            <a:r>
              <a:rPr lang="en-US" sz="1200" b="0" u="none" strike="noStrike">
                <a:solidFill>
                  <a:srgbClr val="0F172A"/>
                </a:solidFill>
                <a:effectLst/>
                <a:uFillTx/>
                <a:latin typeface="Arial"/>
              </a:rPr>
              <a:t>• El Organismo Regulador: El Comité Consultivo Internacional Telegráfico y Telefónico (CCITT, actual UIT-T) coordinó el desarrollo normativo.</a:t>
            </a:r>
            <a:br>
              <a:rPr sz="1200"/>
            </a:br>
            <a:br>
              <a:rPr sz="1200"/>
            </a:br>
            <a:r>
              <a:rPr lang="en-US" sz="1200" b="0" u="none" strike="noStrike">
                <a:solidFill>
                  <a:srgbClr val="0F172A"/>
                </a:solidFill>
                <a:effectLst/>
                <a:uFillTx/>
                <a:latin typeface="Arial"/>
              </a:rPr>
              <a:t>• El 'Libro Rojo' (1984): Primera definición formal de la RDSI, estableciendo los principios de integración de servicios y estructura de accesos.</a:t>
            </a:r>
            <a:br>
              <a:rPr sz="1200"/>
            </a:br>
            <a:br>
              <a:rPr sz="1200"/>
            </a:br>
            <a:r>
              <a:rPr lang="en-US" sz="1200" b="0" u="none" strike="noStrike">
                <a:solidFill>
                  <a:srgbClr val="0F172A"/>
                </a:solidFill>
                <a:effectLst/>
                <a:uFillTx/>
                <a:latin typeface="Arial"/>
              </a:rPr>
              <a:t>• El 'Libro Azul' (1988): Recomendaciones completas de la Serie I (I.110 a I.605) y Serie Q (Q.920/Q.931), consolidando el estándar mundial de arquitectura de capas y señalización por canal D.</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03" name="TextBox 1"/>
          <p:cNvSpPr/>
          <p:nvPr/>
        </p:nvSpPr>
        <p:spPr>
          <a:xfrm>
            <a:off x="731520" y="365760"/>
            <a:ext cx="10728360" cy="10054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1" u="none" strike="noStrike">
                <a:solidFill>
                  <a:srgbClr val="0284C7"/>
                </a:solidFill>
                <a:effectLst/>
                <a:uFillTx/>
                <a:latin typeface="Arial"/>
              </a:rPr>
              <a:t>REDES DE ALTA VELOCIDAD | PROTOCOLO RDSI</a:t>
            </a:r>
            <a:endParaRPr lang="en-US" sz="1000" b="0" u="none" strike="noStrike">
              <a:solidFill>
                <a:srgbClr val="000000"/>
              </a:solidFill>
              <a:effectLst/>
              <a:uFillTx/>
              <a:latin typeface="Arial"/>
            </a:endParaRPr>
          </a:p>
          <a:p>
            <a:pPr defTabSz="457200">
              <a:lnSpc>
                <a:spcPct val="100000"/>
              </a:lnSpc>
            </a:pPr>
            <a:r>
              <a:rPr lang="en-US" sz="2200" b="1" u="none" strike="noStrike">
                <a:solidFill>
                  <a:srgbClr val="0A192F"/>
                </a:solidFill>
                <a:effectLst/>
                <a:uFillTx/>
                <a:latin typeface="Georgia"/>
              </a:rPr>
              <a:t>La RDSI organizó el ancho de banda en tres canales lógicos independientes (B, D y H)</a:t>
            </a:r>
            <a:endParaRPr lang="en-US" sz="2200" b="0" u="none" strike="noStrike">
              <a:solidFill>
                <a:srgbClr val="000000"/>
              </a:solidFill>
              <a:effectLst/>
              <a:uFillTx/>
              <a:latin typeface="Arial"/>
            </a:endParaRPr>
          </a:p>
        </p:txBody>
      </p:sp>
      <p:sp>
        <p:nvSpPr>
          <p:cNvPr id="104" name="Rectangle 2"/>
          <p:cNvSpPr/>
          <p:nvPr/>
        </p:nvSpPr>
        <p:spPr>
          <a:xfrm>
            <a:off x="731520" y="1371600"/>
            <a:ext cx="10728360" cy="25200"/>
          </a:xfrm>
          <a:prstGeom prst="rect">
            <a:avLst/>
          </a:prstGeom>
          <a:solidFill>
            <a:srgbClr val="0284C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05" name="TextBox 3"/>
          <p:cNvSpPr/>
          <p:nvPr/>
        </p:nvSpPr>
        <p:spPr>
          <a:xfrm>
            <a:off x="731520" y="6400800"/>
            <a:ext cx="10728360" cy="2739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900" b="0" u="none" strike="noStrike">
                <a:solidFill>
                  <a:srgbClr val="334155"/>
                </a:solidFill>
                <a:effectLst/>
                <a:uFillTx/>
                <a:latin typeface="Arial"/>
              </a:rPr>
              <a:t>Anatomía de la RDSI | Materia: Redes de Alta Velocidad | Diapositiva 7 de 16</a:t>
            </a:r>
            <a:endParaRPr lang="en-US" sz="900" b="0" u="none" strike="noStrike">
              <a:solidFill>
                <a:srgbClr val="000000"/>
              </a:solidFill>
              <a:effectLst/>
              <a:uFillTx/>
              <a:latin typeface="Arial"/>
            </a:endParaRPr>
          </a:p>
        </p:txBody>
      </p:sp>
      <p:sp>
        <p:nvSpPr>
          <p:cNvPr id="106" name="Rounded Rectangle 4"/>
          <p:cNvSpPr/>
          <p:nvPr/>
        </p:nvSpPr>
        <p:spPr>
          <a:xfrm>
            <a:off x="73152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7" name="TextBox 5"/>
          <p:cNvSpPr/>
          <p:nvPr/>
        </p:nvSpPr>
        <p:spPr>
          <a:xfrm>
            <a:off x="91440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201"/>
              </a:spcAft>
            </a:pPr>
            <a:r>
              <a:rPr lang="en-US" sz="1600" b="1" u="none" strike="noStrike">
                <a:solidFill>
                  <a:srgbClr val="0284C7"/>
                </a:solidFill>
                <a:effectLst/>
                <a:uFillTx/>
                <a:latin typeface="Georgia"/>
              </a:rPr>
              <a:t>Canal B (Bearer)</a:t>
            </a:r>
            <a:endParaRPr lang="en-US" sz="1600" b="0" u="none" strike="noStrike">
              <a:solidFill>
                <a:srgbClr val="000000"/>
              </a:solidFill>
              <a:effectLst/>
              <a:uFillTx/>
              <a:latin typeface="Arial"/>
            </a:endParaRPr>
          </a:p>
          <a:p>
            <a:pPr defTabSz="457200">
              <a:lnSpc>
                <a:spcPct val="100000"/>
              </a:lnSpc>
              <a:spcAft>
                <a:spcPts val="1001"/>
              </a:spcAft>
            </a:pPr>
            <a:r>
              <a:rPr lang="en-US" sz="1100" b="1" u="none" strike="noStrike">
                <a:solidFill>
                  <a:srgbClr val="334155"/>
                </a:solidFill>
                <a:effectLst/>
                <a:uFillTx/>
                <a:latin typeface="Arial"/>
              </a:rPr>
              <a:t>64 kbps Síncrono</a:t>
            </a:r>
            <a:endParaRPr lang="en-US" sz="1100" b="0" u="none" strike="noStrike">
              <a:solidFill>
                <a:srgbClr val="000000"/>
              </a:solidFill>
              <a:effectLst/>
              <a:uFillTx/>
              <a:latin typeface="Arial"/>
            </a:endParaRPr>
          </a:p>
          <a:p>
            <a:pPr defTabSz="457200">
              <a:lnSpc>
                <a:spcPct val="100000"/>
              </a:lnSpc>
            </a:pPr>
            <a:r>
              <a:rPr lang="en-US" sz="1150" b="0" u="none" strike="noStrike">
                <a:solidFill>
                  <a:srgbClr val="0F172A"/>
                </a:solidFill>
                <a:effectLst/>
                <a:uFillTx/>
                <a:latin typeface="Arial"/>
              </a:rPr>
              <a:t>• Destinado exclusivamente al transporte de datos de usuario (voz PCM codificada, datos informáticos, fax Grupo 4, archivos).</a:t>
            </a:r>
            <a:br>
              <a:rPr sz="1150"/>
            </a:br>
            <a:r>
              <a:rPr lang="en-US" sz="1150" b="0" u="none" strike="noStrike">
                <a:solidFill>
                  <a:srgbClr val="0F172A"/>
                </a:solidFill>
                <a:effectLst/>
                <a:uFillTx/>
                <a:latin typeface="Arial"/>
              </a:rPr>
              <a:t>• Funciona en modo conmutación de circuitos, conexiones permanentes o conmutación de paquetes.</a:t>
            </a:r>
            <a:br>
              <a:rPr sz="1150"/>
            </a:br>
            <a:r>
              <a:rPr lang="en-US" sz="1150" b="0" u="none" strike="noStrike">
                <a:solidFill>
                  <a:srgbClr val="0F172A"/>
                </a:solidFill>
                <a:effectLst/>
                <a:uFillTx/>
                <a:latin typeface="Arial"/>
              </a:rPr>
              <a:t>• Permite agregación de canales (ej. 2B = 128 kbps).</a:t>
            </a:r>
            <a:endParaRPr lang="en-US" sz="1150" b="0" u="none" strike="noStrike">
              <a:solidFill>
                <a:srgbClr val="000000"/>
              </a:solidFill>
              <a:effectLst/>
              <a:uFillTx/>
              <a:latin typeface="Arial"/>
            </a:endParaRPr>
          </a:p>
        </p:txBody>
      </p:sp>
      <p:sp>
        <p:nvSpPr>
          <p:cNvPr id="108" name="Rounded Rectangle 6"/>
          <p:cNvSpPr/>
          <p:nvPr/>
        </p:nvSpPr>
        <p:spPr>
          <a:xfrm>
            <a:off x="437076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9" name="TextBox 7"/>
          <p:cNvSpPr/>
          <p:nvPr/>
        </p:nvSpPr>
        <p:spPr>
          <a:xfrm>
            <a:off x="455364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201"/>
              </a:spcAft>
            </a:pPr>
            <a:r>
              <a:rPr lang="en-US" sz="1600" b="1" u="none" strike="noStrike">
                <a:solidFill>
                  <a:srgbClr val="0D9488"/>
                </a:solidFill>
                <a:effectLst/>
                <a:uFillTx/>
                <a:latin typeface="Georgia"/>
              </a:rPr>
              <a:t>Canal D (Data)</a:t>
            </a:r>
            <a:endParaRPr lang="en-US" sz="1600" b="0" u="none" strike="noStrike">
              <a:solidFill>
                <a:srgbClr val="000000"/>
              </a:solidFill>
              <a:effectLst/>
              <a:uFillTx/>
              <a:latin typeface="Arial"/>
            </a:endParaRPr>
          </a:p>
          <a:p>
            <a:pPr defTabSz="457200">
              <a:lnSpc>
                <a:spcPct val="100000"/>
              </a:lnSpc>
              <a:spcAft>
                <a:spcPts val="1001"/>
              </a:spcAft>
            </a:pPr>
            <a:r>
              <a:rPr lang="en-US" sz="1100" b="1" u="none" strike="noStrike">
                <a:solidFill>
                  <a:srgbClr val="334155"/>
                </a:solidFill>
                <a:effectLst/>
                <a:uFillTx/>
                <a:latin typeface="Arial"/>
              </a:rPr>
              <a:t>16 kbps (BRI) / 64 kbps (PRI)</a:t>
            </a:r>
            <a:endParaRPr lang="en-US" sz="1100" b="0" u="none" strike="noStrike">
              <a:solidFill>
                <a:srgbClr val="000000"/>
              </a:solidFill>
              <a:effectLst/>
              <a:uFillTx/>
              <a:latin typeface="Arial"/>
            </a:endParaRPr>
          </a:p>
          <a:p>
            <a:pPr defTabSz="457200">
              <a:lnSpc>
                <a:spcPct val="100000"/>
              </a:lnSpc>
            </a:pPr>
            <a:r>
              <a:rPr lang="en-US" sz="1150" b="0" u="none" strike="noStrike">
                <a:solidFill>
                  <a:srgbClr val="0F172A"/>
                </a:solidFill>
                <a:effectLst/>
                <a:uFillTx/>
                <a:latin typeface="Arial"/>
              </a:rPr>
              <a:t>• Dedicado principalmente a la señalización fuera de banda mediante el protocolo DSS1 (Recomendación ITU-T Q.931).</a:t>
            </a:r>
            <a:br>
              <a:rPr sz="1150"/>
            </a:br>
            <a:r>
              <a:rPr lang="en-US" sz="1150" b="0" u="none" strike="noStrike">
                <a:solidFill>
                  <a:srgbClr val="0F172A"/>
                </a:solidFill>
                <a:effectLst/>
                <a:uFillTx/>
                <a:latin typeface="Arial"/>
              </a:rPr>
              <a:t>• Transporta mensajes de establecimiento, control y liberación de llamadas.</a:t>
            </a:r>
            <a:br>
              <a:rPr sz="1150"/>
            </a:br>
            <a:r>
              <a:rPr lang="en-US" sz="1150" b="0" u="none" strike="noStrike">
                <a:solidFill>
                  <a:srgbClr val="0F172A"/>
                </a:solidFill>
                <a:effectLst/>
                <a:uFillTx/>
                <a:latin typeface="Arial"/>
              </a:rPr>
              <a:t>• En inactividad, transfiere datos en paquetes a baja velocidad (telemetría, POS).</a:t>
            </a:r>
            <a:endParaRPr lang="en-US" sz="1150" b="0" u="none" strike="noStrike">
              <a:solidFill>
                <a:srgbClr val="000000"/>
              </a:solidFill>
              <a:effectLst/>
              <a:uFillTx/>
              <a:latin typeface="Arial"/>
            </a:endParaRPr>
          </a:p>
        </p:txBody>
      </p:sp>
      <p:sp>
        <p:nvSpPr>
          <p:cNvPr id="110" name="Rounded Rectangle 8"/>
          <p:cNvSpPr/>
          <p:nvPr/>
        </p:nvSpPr>
        <p:spPr>
          <a:xfrm>
            <a:off x="801000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1" name="TextBox 9"/>
          <p:cNvSpPr/>
          <p:nvPr/>
        </p:nvSpPr>
        <p:spPr>
          <a:xfrm>
            <a:off x="819288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201"/>
              </a:spcAft>
            </a:pPr>
            <a:r>
              <a:rPr lang="en-US" sz="1600" b="1" u="none" strike="noStrike">
                <a:solidFill>
                  <a:srgbClr val="0A192F"/>
                </a:solidFill>
                <a:effectLst/>
                <a:uFillTx/>
                <a:latin typeface="Georgia"/>
              </a:rPr>
              <a:t>Canal H (High-Speed)</a:t>
            </a:r>
            <a:endParaRPr lang="en-US" sz="1600" b="0" u="none" strike="noStrike">
              <a:solidFill>
                <a:srgbClr val="000000"/>
              </a:solidFill>
              <a:effectLst/>
              <a:uFillTx/>
              <a:latin typeface="Arial"/>
            </a:endParaRPr>
          </a:p>
          <a:p>
            <a:pPr defTabSz="457200">
              <a:lnSpc>
                <a:spcPct val="100000"/>
              </a:lnSpc>
              <a:spcAft>
                <a:spcPts val="1001"/>
              </a:spcAft>
            </a:pPr>
            <a:r>
              <a:rPr lang="en-US" sz="1100" b="1" u="none" strike="noStrike">
                <a:solidFill>
                  <a:srgbClr val="334155"/>
                </a:solidFill>
                <a:effectLst/>
                <a:uFillTx/>
                <a:latin typeface="Arial"/>
              </a:rPr>
              <a:t>384 kbps a 1920 kbps</a:t>
            </a:r>
            <a:endParaRPr lang="en-US" sz="1100" b="0" u="none" strike="noStrike">
              <a:solidFill>
                <a:srgbClr val="000000"/>
              </a:solidFill>
              <a:effectLst/>
              <a:uFillTx/>
              <a:latin typeface="Arial"/>
            </a:endParaRPr>
          </a:p>
          <a:p>
            <a:pPr defTabSz="457200">
              <a:lnSpc>
                <a:spcPct val="100000"/>
              </a:lnSpc>
            </a:pPr>
            <a:r>
              <a:rPr lang="en-US" sz="1150" b="0" u="none" strike="noStrike">
                <a:solidFill>
                  <a:srgbClr val="0F172A"/>
                </a:solidFill>
                <a:effectLst/>
                <a:uFillTx/>
                <a:latin typeface="Arial"/>
              </a:rPr>
              <a:t>• Agrupación de múltiples canales B para aplicaciones de alto ancho de banda.</a:t>
            </a:r>
            <a:br>
              <a:rPr sz="1150"/>
            </a:br>
            <a:r>
              <a:rPr lang="en-US" sz="1150" b="0" u="none" strike="noStrike">
                <a:solidFill>
                  <a:srgbClr val="0F172A"/>
                </a:solidFill>
                <a:effectLst/>
                <a:uFillTx/>
                <a:latin typeface="Arial"/>
              </a:rPr>
              <a:t>• H0 = 384 kbps (6 canales B) -&gt; Videoconferencia H.320.</a:t>
            </a:r>
            <a:br>
              <a:rPr sz="1150"/>
            </a:br>
            <a:r>
              <a:rPr lang="en-US" sz="1150" b="0" u="none" strike="noStrike">
                <a:solidFill>
                  <a:srgbClr val="0F172A"/>
                </a:solidFill>
                <a:effectLst/>
                <a:uFillTx/>
                <a:latin typeface="Arial"/>
              </a:rPr>
              <a:t>• H11 = 1536 kbps (24 B - T1) / H12 = 1920 kbps (30 B - E1) -&gt; Enlaces troncales de datos corporativos.</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12" name="TextBox 1"/>
          <p:cNvSpPr/>
          <p:nvPr/>
        </p:nvSpPr>
        <p:spPr>
          <a:xfrm>
            <a:off x="731520" y="365760"/>
            <a:ext cx="10728360" cy="10054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1" u="none" strike="noStrike">
                <a:solidFill>
                  <a:srgbClr val="0284C7"/>
                </a:solidFill>
                <a:effectLst/>
                <a:uFillTx/>
                <a:latin typeface="Arial"/>
              </a:rPr>
              <a:t>REDES DE ALTA VELOCIDAD | PROTOCOLO RDSI</a:t>
            </a:r>
            <a:endParaRPr lang="en-US" sz="1000" b="0" u="none" strike="noStrike">
              <a:solidFill>
                <a:srgbClr val="000000"/>
              </a:solidFill>
              <a:effectLst/>
              <a:uFillTx/>
              <a:latin typeface="Arial"/>
            </a:endParaRPr>
          </a:p>
          <a:p>
            <a:pPr defTabSz="457200">
              <a:lnSpc>
                <a:spcPct val="100000"/>
              </a:lnSpc>
            </a:pPr>
            <a:r>
              <a:rPr lang="en-US" sz="2200" b="1" u="none" strike="noStrike">
                <a:solidFill>
                  <a:srgbClr val="0A192F"/>
                </a:solidFill>
                <a:effectLst/>
                <a:uFillTx/>
                <a:latin typeface="Georgia"/>
              </a:rPr>
              <a:t>El modelo de referencia definió grupos funcionales y puntos de interfaz estandarizados</a:t>
            </a:r>
            <a:endParaRPr lang="en-US" sz="2200" b="0" u="none" strike="noStrike">
              <a:solidFill>
                <a:srgbClr val="000000"/>
              </a:solidFill>
              <a:effectLst/>
              <a:uFillTx/>
              <a:latin typeface="Arial"/>
            </a:endParaRPr>
          </a:p>
        </p:txBody>
      </p:sp>
      <p:sp>
        <p:nvSpPr>
          <p:cNvPr id="113" name="Rectangle 2"/>
          <p:cNvSpPr/>
          <p:nvPr/>
        </p:nvSpPr>
        <p:spPr>
          <a:xfrm>
            <a:off x="731520" y="1371600"/>
            <a:ext cx="10728360" cy="25200"/>
          </a:xfrm>
          <a:prstGeom prst="rect">
            <a:avLst/>
          </a:prstGeom>
          <a:solidFill>
            <a:srgbClr val="0284C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14" name="TextBox 3"/>
          <p:cNvSpPr/>
          <p:nvPr/>
        </p:nvSpPr>
        <p:spPr>
          <a:xfrm>
            <a:off x="731520" y="6400800"/>
            <a:ext cx="10728360" cy="2739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900" b="0" u="none" strike="noStrike">
                <a:solidFill>
                  <a:srgbClr val="334155"/>
                </a:solidFill>
                <a:effectLst/>
                <a:uFillTx/>
                <a:latin typeface="Arial"/>
              </a:rPr>
              <a:t>Anatomía de la RDSI | Materia: Redes de Alta Velocidad | Diapositiva 9 de 16</a:t>
            </a:r>
            <a:endParaRPr lang="en-US" sz="900" b="0" u="none" strike="noStrike">
              <a:solidFill>
                <a:srgbClr val="000000"/>
              </a:solidFill>
              <a:effectLst/>
              <a:uFillTx/>
              <a:latin typeface="Arial"/>
            </a:endParaRPr>
          </a:p>
        </p:txBody>
      </p:sp>
      <p:pic>
        <p:nvPicPr>
          <p:cNvPr id="115" name="Picture 4" descr="diagram_reference_points.png"/>
          <p:cNvPicPr/>
          <p:nvPr/>
        </p:nvPicPr>
        <p:blipFill>
          <a:blip r:embed="rId1"/>
          <a:stretch/>
        </p:blipFill>
        <p:spPr>
          <a:xfrm>
            <a:off x="731520" y="1554480"/>
            <a:ext cx="10728360" cy="2377080"/>
          </a:xfrm>
          <a:prstGeom prst="rect">
            <a:avLst/>
          </a:prstGeom>
          <a:noFill/>
          <a:ln w="0">
            <a:noFill/>
          </a:ln>
        </p:spPr>
      </p:pic>
      <p:sp>
        <p:nvSpPr>
          <p:cNvPr id="116" name="Rounded Rectangle 5"/>
          <p:cNvSpPr/>
          <p:nvPr/>
        </p:nvSpPr>
        <p:spPr>
          <a:xfrm>
            <a:off x="731520" y="4069080"/>
            <a:ext cx="10728360" cy="214848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7" name="TextBox 6"/>
          <p:cNvSpPr/>
          <p:nvPr/>
        </p:nvSpPr>
        <p:spPr>
          <a:xfrm>
            <a:off x="914400" y="4160520"/>
            <a:ext cx="10362600" cy="1965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400" b="1" u="none" strike="noStrike">
                <a:solidFill>
                  <a:srgbClr val="0A192F"/>
                </a:solidFill>
                <a:effectLst/>
                <a:uFillTx/>
                <a:latin typeface="Georgia"/>
              </a:rPr>
              <a:t>Grupos Funcionales y Puntos de Referencia Clave (UIT-T I.411):</a:t>
            </a:r>
            <a:endParaRPr lang="en-US" sz="1400" b="0" u="none" strike="noStrike">
              <a:solidFill>
                <a:srgbClr val="000000"/>
              </a:solidFill>
              <a:effectLst/>
              <a:uFillTx/>
              <a:latin typeface="Arial"/>
            </a:endParaRPr>
          </a:p>
          <a:p>
            <a:pPr defTabSz="457200">
              <a:lnSpc>
                <a:spcPct val="100000"/>
              </a:lnSpc>
            </a:pPr>
            <a:r>
              <a:rPr lang="en-US" sz="1100" b="0" u="none" strike="noStrike">
                <a:solidFill>
                  <a:srgbClr val="0F172A"/>
                </a:solidFill>
                <a:effectLst/>
                <a:uFillTx/>
                <a:latin typeface="Arial"/>
              </a:rPr>
              <a:t>• TE1 (Terminal Equipment 1): Dispositivos nativos RDSI (teléfono digital, fax G4) conectados en la interfaz S.</a:t>
            </a:r>
            <a:br>
              <a:rPr sz="1100"/>
            </a:br>
            <a:r>
              <a:rPr lang="en-US" sz="1100" b="0" u="none" strike="noStrike">
                <a:solidFill>
                  <a:srgbClr val="0F172A"/>
                </a:solidFill>
                <a:effectLst/>
                <a:uFillTx/>
                <a:latin typeface="Arial"/>
              </a:rPr>
              <a:t>• TE2 (Terminal Equipment 2) + TA (Terminal Adapter): Equipos analógicos o seriales (V.24/RS-232) adaptados mediante el punto R.</a:t>
            </a:r>
            <a:br>
              <a:rPr sz="1100"/>
            </a:br>
            <a:r>
              <a:rPr lang="en-US" sz="1100" b="0" u="none" strike="noStrike">
                <a:solidFill>
                  <a:srgbClr val="0F172A"/>
                </a:solidFill>
                <a:effectLst/>
                <a:uFillTx/>
                <a:latin typeface="Arial"/>
              </a:rPr>
              <a:t>• NT2 (Network Termination 2): Conmutador inteligente del cliente (PABX o router corporativo) entre los puntos S y T.</a:t>
            </a:r>
            <a:br>
              <a:rPr sz="1100"/>
            </a:br>
            <a:r>
              <a:rPr lang="en-US" sz="1100" b="0" u="none" strike="noStrike">
                <a:solidFill>
                  <a:srgbClr val="0F172A"/>
                </a:solidFill>
                <a:effectLst/>
                <a:uFillTx/>
                <a:latin typeface="Arial"/>
              </a:rPr>
              <a:t>• NT1 (Network Termination 1): Dispositivo de frontera física que convierte el bus interior a 4 hilos (punto T/S) en la línea exterior de cobre a 2 hilos (punto U) hacia la Central Local (punto V).</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18" name="TextBox 1"/>
          <p:cNvSpPr/>
          <p:nvPr/>
        </p:nvSpPr>
        <p:spPr>
          <a:xfrm>
            <a:off x="731520" y="365760"/>
            <a:ext cx="10728360" cy="10054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1" u="none" strike="noStrike">
                <a:solidFill>
                  <a:srgbClr val="0284C7"/>
                </a:solidFill>
                <a:effectLst/>
                <a:uFillTx/>
                <a:latin typeface="Arial"/>
              </a:rPr>
              <a:t>REDES DE ALTA VELOCIDAD | PROTOCOLO RDSI</a:t>
            </a:r>
            <a:endParaRPr lang="en-US" sz="1000" b="0" u="none" strike="noStrike">
              <a:solidFill>
                <a:srgbClr val="000000"/>
              </a:solidFill>
              <a:effectLst/>
              <a:uFillTx/>
              <a:latin typeface="Arial"/>
            </a:endParaRPr>
          </a:p>
          <a:p>
            <a:pPr defTabSz="457200">
              <a:lnSpc>
                <a:spcPct val="100000"/>
              </a:lnSpc>
            </a:pPr>
            <a:r>
              <a:rPr lang="en-US" sz="2200" b="1" u="none" strike="noStrike">
                <a:solidFill>
                  <a:srgbClr val="0A192F"/>
                </a:solidFill>
                <a:effectLst/>
                <a:uFillTx/>
                <a:latin typeface="Georgia"/>
              </a:rPr>
              <a:t>Mientras EE.UU. sufría fragmentación, Europa unificó Euro-RDSI y España se anticipó con Ibercom</a:t>
            </a:r>
            <a:endParaRPr lang="en-US" sz="2200" b="0" u="none" strike="noStrike">
              <a:solidFill>
                <a:srgbClr val="000000"/>
              </a:solidFill>
              <a:effectLst/>
              <a:uFillTx/>
              <a:latin typeface="Arial"/>
            </a:endParaRPr>
          </a:p>
        </p:txBody>
      </p:sp>
      <p:sp>
        <p:nvSpPr>
          <p:cNvPr id="119" name="Rectangle 2"/>
          <p:cNvSpPr/>
          <p:nvPr/>
        </p:nvSpPr>
        <p:spPr>
          <a:xfrm>
            <a:off x="731520" y="1371600"/>
            <a:ext cx="10728360" cy="25200"/>
          </a:xfrm>
          <a:prstGeom prst="rect">
            <a:avLst/>
          </a:prstGeom>
          <a:solidFill>
            <a:srgbClr val="0284C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20" name="TextBox 3"/>
          <p:cNvSpPr/>
          <p:nvPr/>
        </p:nvSpPr>
        <p:spPr>
          <a:xfrm>
            <a:off x="731520" y="6400800"/>
            <a:ext cx="10728360" cy="2739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900" b="0" u="none" strike="noStrike">
                <a:solidFill>
                  <a:srgbClr val="334155"/>
                </a:solidFill>
                <a:effectLst/>
                <a:uFillTx/>
                <a:latin typeface="Arial"/>
              </a:rPr>
              <a:t>Anatomía de la RDSI | Materia: Redes de Alta Velocidad | Diapositiva 10 de 16</a:t>
            </a:r>
            <a:endParaRPr lang="en-US" sz="900" b="0" u="none" strike="noStrike">
              <a:solidFill>
                <a:srgbClr val="000000"/>
              </a:solidFill>
              <a:effectLst/>
              <a:uFillTx/>
              <a:latin typeface="Arial"/>
            </a:endParaRPr>
          </a:p>
        </p:txBody>
      </p:sp>
      <p:sp>
        <p:nvSpPr>
          <p:cNvPr id="121" name="Rounded Rectangle 4"/>
          <p:cNvSpPr/>
          <p:nvPr/>
        </p:nvSpPr>
        <p:spPr>
          <a:xfrm>
            <a:off x="73152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2" name="TextBox 5"/>
          <p:cNvSpPr/>
          <p:nvPr/>
        </p:nvSpPr>
        <p:spPr>
          <a:xfrm>
            <a:off x="91440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001"/>
              </a:spcAft>
            </a:pPr>
            <a:r>
              <a:rPr lang="en-US" sz="1500" b="1" u="none" strike="noStrike">
                <a:solidFill>
                  <a:srgbClr val="0A192F"/>
                </a:solidFill>
                <a:effectLst/>
                <a:uFillTx/>
                <a:latin typeface="Georgia"/>
              </a:rPr>
              <a:t>Brecha Global de Gobernanza</a:t>
            </a:r>
            <a:endParaRPr lang="en-US" sz="1500" b="0" u="none" strike="noStrike">
              <a:solidFill>
                <a:srgbClr val="000000"/>
              </a:solidFill>
              <a:effectLst/>
              <a:uFillTx/>
              <a:latin typeface="Arial"/>
            </a:endParaRPr>
          </a:p>
          <a:p>
            <a:pPr defTabSz="457200">
              <a:lnSpc>
                <a:spcPct val="100000"/>
              </a:lnSpc>
            </a:pPr>
            <a:r>
              <a:rPr lang="en-US" sz="1150" b="0" u="none" strike="noStrike">
                <a:solidFill>
                  <a:srgbClr val="0F172A"/>
                </a:solidFill>
                <a:effectLst/>
                <a:uFillTx/>
                <a:latin typeface="Arial"/>
              </a:rPr>
              <a:t>• EE.UU.: La disolución del monopolio de AT&amp;T (1982) originó operadoras regionales (Bell Companies) con versiones propietarias no homologadas de RDSI.</a:t>
            </a:r>
            <a:br>
              <a:rPr sz="1150"/>
            </a:br>
            <a:r>
              <a:rPr lang="en-US" sz="1150" b="0" u="none" strike="noStrike">
                <a:solidFill>
                  <a:srgbClr val="0F172A"/>
                </a:solidFill>
                <a:effectLst/>
                <a:uFillTx/>
                <a:latin typeface="Arial"/>
              </a:rPr>
              <a:t>• Europa: El Instituto Europeo de Normas de Telecomunicaciones (ETSI) armonizó el estándar paneuropeo Euro-RDSI, garantizando la interoperabilidad total de terminales.</a:t>
            </a:r>
            <a:endParaRPr lang="en-US" sz="1150" b="0" u="none" strike="noStrike">
              <a:solidFill>
                <a:srgbClr val="000000"/>
              </a:solidFill>
              <a:effectLst/>
              <a:uFillTx/>
              <a:latin typeface="Arial"/>
            </a:endParaRPr>
          </a:p>
        </p:txBody>
      </p:sp>
      <p:sp>
        <p:nvSpPr>
          <p:cNvPr id="123" name="Rounded Rectangle 6"/>
          <p:cNvSpPr/>
          <p:nvPr/>
        </p:nvSpPr>
        <p:spPr>
          <a:xfrm>
            <a:off x="437076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4" name="TextBox 7"/>
          <p:cNvSpPr/>
          <p:nvPr/>
        </p:nvSpPr>
        <p:spPr>
          <a:xfrm>
            <a:off x="455364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001"/>
              </a:spcAft>
            </a:pPr>
            <a:r>
              <a:rPr lang="en-US" sz="1500" b="1" u="none" strike="noStrike">
                <a:solidFill>
                  <a:srgbClr val="0A192F"/>
                </a:solidFill>
                <a:effectLst/>
                <a:uFillTx/>
                <a:latin typeface="Georgia"/>
              </a:rPr>
              <a:t>Paso Previo: Red Ibercom (1985)</a:t>
            </a:r>
            <a:endParaRPr lang="en-US" sz="1500" b="0" u="none" strike="noStrike">
              <a:solidFill>
                <a:srgbClr val="000000"/>
              </a:solidFill>
              <a:effectLst/>
              <a:uFillTx/>
              <a:latin typeface="Arial"/>
            </a:endParaRPr>
          </a:p>
          <a:p>
            <a:pPr defTabSz="457200">
              <a:lnSpc>
                <a:spcPct val="100000"/>
              </a:lnSpc>
            </a:pPr>
            <a:r>
              <a:rPr lang="en-US" sz="1150" b="0" u="none" strike="noStrike">
                <a:solidFill>
                  <a:srgbClr val="0F172A"/>
                </a:solidFill>
                <a:effectLst/>
                <a:uFillTx/>
                <a:latin typeface="Arial"/>
              </a:rPr>
              <a:t>• Ante la lentitud de los comités de la UIT, Telefónica lanzó el Servicio Ibercom en España a finales de 1985.</a:t>
            </a:r>
            <a:br>
              <a:rPr sz="1150"/>
            </a:br>
            <a:r>
              <a:rPr lang="en-US" sz="1150" b="0" u="none" strike="noStrike">
                <a:solidFill>
                  <a:srgbClr val="0F172A"/>
                </a:solidFill>
                <a:effectLst/>
                <a:uFillTx/>
                <a:latin typeface="Arial"/>
              </a:rPr>
              <a:t>• Red privada virtual sobre la red troncal digitalizada (RDI) que emulaba las ventajas operativas de centralitas RDSI corporativas antes de la norma final.</a:t>
            </a:r>
            <a:endParaRPr lang="en-US" sz="1150" b="0" u="none" strike="noStrike">
              <a:solidFill>
                <a:srgbClr val="000000"/>
              </a:solidFill>
              <a:effectLst/>
              <a:uFillTx/>
              <a:latin typeface="Arial"/>
            </a:endParaRPr>
          </a:p>
        </p:txBody>
      </p:sp>
      <p:sp>
        <p:nvSpPr>
          <p:cNvPr id="125" name="Rounded Rectangle 8"/>
          <p:cNvSpPr/>
          <p:nvPr/>
        </p:nvSpPr>
        <p:spPr>
          <a:xfrm>
            <a:off x="801000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6" name="TextBox 9"/>
          <p:cNvSpPr/>
          <p:nvPr/>
        </p:nvSpPr>
        <p:spPr>
          <a:xfrm>
            <a:off x="819288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001"/>
              </a:spcAft>
            </a:pPr>
            <a:r>
              <a:rPr lang="en-US" sz="1500" b="1" u="none" strike="noStrike">
                <a:solidFill>
                  <a:srgbClr val="0A192F"/>
                </a:solidFill>
                <a:effectLst/>
                <a:uFillTx/>
                <a:latin typeface="Georgia"/>
              </a:rPr>
              <a:t>Despliegue de Euro-RDSI en España</a:t>
            </a:r>
            <a:endParaRPr lang="en-US" sz="1500" b="0" u="none" strike="noStrike">
              <a:solidFill>
                <a:srgbClr val="000000"/>
              </a:solidFill>
              <a:effectLst/>
              <a:uFillTx/>
              <a:latin typeface="Arial"/>
            </a:endParaRPr>
          </a:p>
          <a:p>
            <a:pPr defTabSz="457200">
              <a:lnSpc>
                <a:spcPct val="100000"/>
              </a:lnSpc>
            </a:pPr>
            <a:r>
              <a:rPr lang="en-US" sz="1150" b="0" u="none" strike="noStrike">
                <a:solidFill>
                  <a:srgbClr val="0F172A"/>
                </a:solidFill>
                <a:effectLst/>
                <a:uFillTx/>
                <a:latin typeface="Arial"/>
              </a:rPr>
              <a:t>• 1989: Instalación experimental de las primeras centrales RDSI en Madrid para pruebas de voz, vídeo y datos.</a:t>
            </a:r>
            <a:br>
              <a:rPr sz="1150"/>
            </a:br>
            <a:r>
              <a:rPr lang="en-US" sz="1150" b="0" u="none" strike="noStrike">
                <a:solidFill>
                  <a:srgbClr val="0F172A"/>
                </a:solidFill>
                <a:effectLst/>
                <a:uFillTx/>
                <a:latin typeface="Arial"/>
              </a:rPr>
              <a:t>• 1993: Lanzamiento comercial masivo de accesos BRI/PRI apoyado en la señalización por canal común SS7 y centrales digitales AXE10 y Diana.</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27" name="TextBox 1"/>
          <p:cNvSpPr/>
          <p:nvPr/>
        </p:nvSpPr>
        <p:spPr>
          <a:xfrm>
            <a:off x="731520" y="365760"/>
            <a:ext cx="10728360" cy="10054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1" u="none" strike="noStrike">
                <a:solidFill>
                  <a:srgbClr val="0284C7"/>
                </a:solidFill>
                <a:effectLst/>
                <a:uFillTx/>
                <a:latin typeface="Arial"/>
              </a:rPr>
              <a:t>REDES DE ALTA VELOCIDAD | PROTOCOLO RDSI</a:t>
            </a:r>
            <a:endParaRPr lang="en-US" sz="1000" b="0" u="none" strike="noStrike">
              <a:solidFill>
                <a:srgbClr val="000000"/>
              </a:solidFill>
              <a:effectLst/>
              <a:uFillTx/>
              <a:latin typeface="Arial"/>
            </a:endParaRPr>
          </a:p>
          <a:p>
            <a:pPr defTabSz="457200">
              <a:lnSpc>
                <a:spcPct val="100000"/>
              </a:lnSpc>
            </a:pPr>
            <a:r>
              <a:rPr lang="en-US" sz="2200" b="1" u="none" strike="noStrike">
                <a:solidFill>
                  <a:srgbClr val="0A192F"/>
                </a:solidFill>
                <a:effectLst/>
                <a:uFillTx/>
                <a:latin typeface="Georgia"/>
              </a:rPr>
              <a:t>Guerra de códigos de línea, rechazo por costes y la paradoja que engendró al ADSL</a:t>
            </a:r>
            <a:endParaRPr lang="en-US" sz="2200" b="0" u="none" strike="noStrike">
              <a:solidFill>
                <a:srgbClr val="000000"/>
              </a:solidFill>
              <a:effectLst/>
              <a:uFillTx/>
              <a:latin typeface="Arial"/>
            </a:endParaRPr>
          </a:p>
        </p:txBody>
      </p:sp>
      <p:sp>
        <p:nvSpPr>
          <p:cNvPr id="128" name="Rectangle 2"/>
          <p:cNvSpPr/>
          <p:nvPr/>
        </p:nvSpPr>
        <p:spPr>
          <a:xfrm>
            <a:off x="731520" y="1371600"/>
            <a:ext cx="10728360" cy="25200"/>
          </a:xfrm>
          <a:prstGeom prst="rect">
            <a:avLst/>
          </a:prstGeom>
          <a:solidFill>
            <a:srgbClr val="0284C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29" name="TextBox 3"/>
          <p:cNvSpPr/>
          <p:nvPr/>
        </p:nvSpPr>
        <p:spPr>
          <a:xfrm>
            <a:off x="731520" y="6400800"/>
            <a:ext cx="10728360" cy="2739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900" b="0" u="none" strike="noStrike">
                <a:solidFill>
                  <a:srgbClr val="334155"/>
                </a:solidFill>
                <a:effectLst/>
                <a:uFillTx/>
                <a:latin typeface="Arial"/>
              </a:rPr>
              <a:t>Anatomía de la RDSI | Materia: Redes de Alta Velocidad | Diapositiva 11 de 16</a:t>
            </a:r>
            <a:endParaRPr lang="en-US" sz="900" b="0" u="none" strike="noStrike">
              <a:solidFill>
                <a:srgbClr val="000000"/>
              </a:solidFill>
              <a:effectLst/>
              <a:uFillTx/>
              <a:latin typeface="Arial"/>
            </a:endParaRPr>
          </a:p>
        </p:txBody>
      </p:sp>
      <p:sp>
        <p:nvSpPr>
          <p:cNvPr id="130" name="Rounded Rectangle 4"/>
          <p:cNvSpPr/>
          <p:nvPr/>
        </p:nvSpPr>
        <p:spPr>
          <a:xfrm>
            <a:off x="73152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1" name="TextBox 5"/>
          <p:cNvSpPr/>
          <p:nvPr/>
        </p:nvSpPr>
        <p:spPr>
          <a:xfrm>
            <a:off x="91440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500" b="1" u="none" strike="noStrike">
                <a:solidFill>
                  <a:srgbClr val="0A192F"/>
                </a:solidFill>
                <a:effectLst/>
                <a:uFillTx/>
                <a:latin typeface="Georgia"/>
              </a:rPr>
              <a:t>Guerra de </a:t>
            </a:r>
            <a:r>
              <a:rPr lang="en-US" sz="1500" b="1" u="none" strike="noStrike">
                <a:solidFill>
                  <a:srgbClr val="0A192F"/>
                </a:solidFill>
                <a:effectLst/>
                <a:uFillTx/>
                <a:latin typeface="Georgia"/>
              </a:rPr>
              <a:t>Códigos de Línea</a:t>
            </a:r>
            <a:endParaRPr lang="en-US" sz="1500" b="0" u="none" strike="noStrike">
              <a:solidFill>
                <a:srgbClr val="000000"/>
              </a:solidFill>
              <a:effectLst/>
              <a:uFillTx/>
              <a:latin typeface="Arial"/>
            </a:endParaRPr>
          </a:p>
          <a:p>
            <a:pPr defTabSz="457200">
              <a:lnSpc>
                <a:spcPct val="100000"/>
              </a:lnSpc>
              <a:spcAft>
                <a:spcPts val="1001"/>
              </a:spcAft>
            </a:pPr>
            <a:r>
              <a:rPr lang="en-US" sz="1100" b="1" u="none" strike="noStrike">
                <a:solidFill>
                  <a:srgbClr val="334155"/>
                </a:solidFill>
                <a:effectLst/>
                <a:uFillTx/>
                <a:latin typeface="Arial"/>
              </a:rPr>
              <a:t>La Batalla en el Comité </a:t>
            </a:r>
            <a:r>
              <a:rPr lang="en-US" sz="1100" b="1" u="none" strike="noStrike">
                <a:solidFill>
                  <a:srgbClr val="334155"/>
                </a:solidFill>
                <a:effectLst/>
                <a:uFillTx/>
                <a:latin typeface="Arial"/>
              </a:rPr>
              <a:t>ANSI T1E1.4</a:t>
            </a:r>
            <a:endParaRPr lang="en-US" sz="1100" b="0" u="none" strike="noStrike">
              <a:solidFill>
                <a:srgbClr val="000000"/>
              </a:solidFill>
              <a:effectLst/>
              <a:uFillTx/>
              <a:latin typeface="Arial"/>
            </a:endParaRPr>
          </a:p>
          <a:p>
            <a:pPr defTabSz="457200">
              <a:lnSpc>
                <a:spcPct val="100000"/>
              </a:lnSpc>
            </a:pPr>
            <a:r>
              <a:rPr lang="en-US" sz="1100" b="0" u="none" strike="noStrike">
                <a:solidFill>
                  <a:srgbClr val="0F172A"/>
                </a:solidFill>
                <a:effectLst/>
                <a:uFillTx/>
                <a:latin typeface="Arial"/>
              </a:rPr>
              <a:t>A mediados de los 80 se </a:t>
            </a:r>
            <a:r>
              <a:rPr lang="en-US" sz="1100" b="0" u="none" strike="noStrike">
                <a:solidFill>
                  <a:srgbClr val="0F172A"/>
                </a:solidFill>
                <a:effectLst/>
                <a:uFillTx/>
                <a:latin typeface="Arial"/>
              </a:rPr>
              <a:t>libró una encarnizada </a:t>
            </a:r>
            <a:r>
              <a:rPr lang="en-US" sz="1100" b="0" u="none" strike="noStrike">
                <a:solidFill>
                  <a:srgbClr val="0F172A"/>
                </a:solidFill>
                <a:effectLst/>
                <a:uFillTx/>
                <a:latin typeface="Arial"/>
              </a:rPr>
              <a:t>disputa técnica por la </a:t>
            </a:r>
            <a:r>
              <a:rPr lang="en-US" sz="1100" b="0" u="none" strike="noStrike">
                <a:solidFill>
                  <a:srgbClr val="0F172A"/>
                </a:solidFill>
                <a:effectLst/>
                <a:uFillTx/>
                <a:latin typeface="Arial"/>
              </a:rPr>
              <a:t>modulación en el punto U. </a:t>
            </a:r>
            <a:r>
              <a:rPr lang="en-US" sz="1100" b="0" u="none" strike="noStrike">
                <a:solidFill>
                  <a:srgbClr val="0F172A"/>
                </a:solidFill>
                <a:effectLst/>
                <a:uFillTx/>
                <a:latin typeface="Arial"/>
              </a:rPr>
              <a:t>Se enfrentaron esquemas </a:t>
            </a:r>
            <a:r>
              <a:rPr lang="en-US" sz="1100" b="0" u="none" strike="noStrike">
                <a:solidFill>
                  <a:srgbClr val="0F172A"/>
                </a:solidFill>
                <a:effectLst/>
                <a:uFillTx/>
                <a:latin typeface="Arial"/>
              </a:rPr>
              <a:t>como 4B3T y 2B1Q. Tras </a:t>
            </a:r>
            <a:r>
              <a:rPr lang="en-US" sz="1100" b="0" u="none" strike="noStrike">
                <a:solidFill>
                  <a:srgbClr val="0F172A"/>
                </a:solidFill>
                <a:effectLst/>
                <a:uFillTx/>
                <a:latin typeface="Arial"/>
              </a:rPr>
              <a:t>intensos debates y pruebas </a:t>
            </a:r>
            <a:r>
              <a:rPr lang="en-US" sz="1100" b="0" u="none" strike="noStrike">
                <a:solidFill>
                  <a:srgbClr val="0F172A"/>
                </a:solidFill>
                <a:effectLst/>
                <a:uFillTx/>
                <a:latin typeface="Arial"/>
              </a:rPr>
              <a:t>en British Telecom, el código </a:t>
            </a:r>
            <a:r>
              <a:rPr lang="en-US" sz="1100" b="0" u="none" strike="noStrike">
                <a:solidFill>
                  <a:srgbClr val="0F172A"/>
                </a:solidFill>
                <a:effectLst/>
                <a:uFillTx/>
                <a:latin typeface="Arial"/>
              </a:rPr>
              <a:t>2B1Q fue seleccionado en </a:t>
            </a:r>
            <a:r>
              <a:rPr lang="en-US" sz="1100" b="0" u="none" strike="noStrike">
                <a:solidFill>
                  <a:srgbClr val="0F172A"/>
                </a:solidFill>
                <a:effectLst/>
                <a:uFillTx/>
                <a:latin typeface="Arial"/>
              </a:rPr>
              <a:t>1986 como estándar </a:t>
            </a:r>
            <a:r>
              <a:rPr lang="en-US" sz="1100" b="0" u="none" strike="noStrike">
                <a:solidFill>
                  <a:srgbClr val="0F172A"/>
                </a:solidFill>
                <a:effectLst/>
                <a:uFillTx/>
                <a:latin typeface="Arial"/>
              </a:rPr>
              <a:t>comprimido de 4 niveles de </a:t>
            </a:r>
            <a:r>
              <a:rPr lang="en-US" sz="1100" b="0" u="none" strike="noStrike">
                <a:solidFill>
                  <a:srgbClr val="0F172A"/>
                </a:solidFill>
                <a:effectLst/>
                <a:uFillTx/>
                <a:latin typeface="Arial"/>
              </a:rPr>
              <a:t>tensión.</a:t>
            </a:r>
            <a:endParaRPr lang="en-US" sz="1100" b="0" u="none" strike="noStrike">
              <a:solidFill>
                <a:srgbClr val="000000"/>
              </a:solidFill>
              <a:effectLst/>
              <a:uFillTx/>
              <a:latin typeface="Arial"/>
            </a:endParaRPr>
          </a:p>
        </p:txBody>
      </p:sp>
      <p:sp>
        <p:nvSpPr>
          <p:cNvPr id="132" name="Rounded Rectangle 6"/>
          <p:cNvSpPr/>
          <p:nvPr/>
        </p:nvSpPr>
        <p:spPr>
          <a:xfrm>
            <a:off x="437076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3" name="TextBox 7"/>
          <p:cNvSpPr/>
          <p:nvPr/>
        </p:nvSpPr>
        <p:spPr>
          <a:xfrm>
            <a:off x="455364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500" b="1" u="none" strike="noStrike">
                <a:solidFill>
                  <a:srgbClr val="0A192F"/>
                </a:solidFill>
                <a:effectLst/>
                <a:uFillTx/>
                <a:latin typeface="Georgia"/>
              </a:rPr>
              <a:t>Sarcasmo y Rechazo Comercial</a:t>
            </a:r>
            <a:endParaRPr lang="en-US" sz="1500" b="0" u="none" strike="noStrike">
              <a:solidFill>
                <a:srgbClr val="000000"/>
              </a:solidFill>
              <a:effectLst/>
              <a:uFillTx/>
              <a:latin typeface="Arial"/>
            </a:endParaRPr>
          </a:p>
          <a:p>
            <a:pPr defTabSz="457200">
              <a:lnSpc>
                <a:spcPct val="100000"/>
              </a:lnSpc>
              <a:spcAft>
                <a:spcPts val="1001"/>
              </a:spcAft>
            </a:pPr>
            <a:r>
              <a:rPr lang="en-US" sz="1100" b="1" u="none" strike="noStrike">
                <a:solidFill>
                  <a:srgbClr val="334155"/>
                </a:solidFill>
                <a:effectLst/>
                <a:uFillTx/>
                <a:latin typeface="Arial"/>
              </a:rPr>
              <a:t>Acrónimos Populares en la Industria</a:t>
            </a:r>
            <a:endParaRPr lang="en-US" sz="1100" b="0" u="none" strike="noStrike">
              <a:solidFill>
                <a:srgbClr val="000000"/>
              </a:solidFill>
              <a:effectLst/>
              <a:uFillTx/>
              <a:latin typeface="Arial"/>
            </a:endParaRPr>
          </a:p>
          <a:p>
            <a:pPr defTabSz="457200">
              <a:lnSpc>
                <a:spcPct val="100000"/>
              </a:lnSpc>
            </a:pPr>
            <a:r>
              <a:rPr lang="en-US" sz="1100" b="0" u="none" strike="noStrike">
                <a:solidFill>
                  <a:srgbClr val="0F172A"/>
                </a:solidFill>
                <a:effectLst/>
                <a:uFillTx/>
                <a:latin typeface="Arial"/>
              </a:rPr>
              <a:t>El coste prohibitivo de los teléfonos digitales y la engorrosa configuración manual de los SPID (Service Profile Identifiers) causaron gran frustración en los administradores de sistemas, quienes rebautizaron ISDN como:</a:t>
            </a:r>
            <a:br>
              <a:rPr sz="1100"/>
            </a:br>
            <a:r>
              <a:rPr lang="en-US" sz="1100" b="0" u="none" strike="noStrike">
                <a:solidFill>
                  <a:srgbClr val="0F172A"/>
                </a:solidFill>
                <a:effectLst/>
                <a:uFillTx/>
                <a:latin typeface="Arial"/>
              </a:rPr>
              <a:t>• 'I Still Don't Know' (Aún no lo sé).</a:t>
            </a:r>
            <a:br>
              <a:rPr sz="1100"/>
            </a:br>
            <a:r>
              <a:rPr lang="en-US" sz="1100" b="0" u="none" strike="noStrike">
                <a:solidFill>
                  <a:srgbClr val="0F172A"/>
                </a:solidFill>
                <a:effectLst/>
                <a:uFillTx/>
                <a:latin typeface="Arial"/>
              </a:rPr>
              <a:t>• 'Innovations Subscribers Didn't Need' (Innovaciones innecesarias).</a:t>
            </a:r>
            <a:endParaRPr lang="en-US" sz="1100" b="0" u="none" strike="noStrike">
              <a:solidFill>
                <a:srgbClr val="000000"/>
              </a:solidFill>
              <a:effectLst/>
              <a:uFillTx/>
              <a:latin typeface="Arial"/>
            </a:endParaRPr>
          </a:p>
        </p:txBody>
      </p:sp>
      <p:sp>
        <p:nvSpPr>
          <p:cNvPr id="134" name="Rounded Rectangle 8"/>
          <p:cNvSpPr/>
          <p:nvPr/>
        </p:nvSpPr>
        <p:spPr>
          <a:xfrm>
            <a:off x="801000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5" name="TextBox 9"/>
          <p:cNvSpPr/>
          <p:nvPr/>
        </p:nvSpPr>
        <p:spPr>
          <a:xfrm>
            <a:off x="819288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500" b="1" u="none" strike="noStrike">
                <a:solidFill>
                  <a:srgbClr val="D97706"/>
                </a:solidFill>
                <a:effectLst/>
                <a:uFillTx/>
                <a:latin typeface="Georgia"/>
              </a:rPr>
              <a:t>La Paradoja de Lechleider</a:t>
            </a:r>
            <a:endParaRPr lang="en-US" sz="1500" b="0" u="none" strike="noStrike">
              <a:solidFill>
                <a:srgbClr val="000000"/>
              </a:solidFill>
              <a:effectLst/>
              <a:uFillTx/>
              <a:latin typeface="Arial"/>
            </a:endParaRPr>
          </a:p>
          <a:p>
            <a:pPr defTabSz="457200">
              <a:lnSpc>
                <a:spcPct val="100000"/>
              </a:lnSpc>
              <a:spcAft>
                <a:spcPts val="1001"/>
              </a:spcAft>
            </a:pPr>
            <a:r>
              <a:rPr lang="en-US" sz="1100" b="1" u="none" strike="noStrike">
                <a:solidFill>
                  <a:srgbClr val="334155"/>
                </a:solidFill>
                <a:effectLst/>
                <a:uFillTx/>
                <a:latin typeface="Arial"/>
              </a:rPr>
              <a:t>El Nacimiento Accidental del ADSL</a:t>
            </a:r>
            <a:endParaRPr lang="en-US" sz="1100" b="0" u="none" strike="noStrike">
              <a:solidFill>
                <a:srgbClr val="000000"/>
              </a:solidFill>
              <a:effectLst/>
              <a:uFillTx/>
              <a:latin typeface="Arial"/>
            </a:endParaRPr>
          </a:p>
          <a:p>
            <a:pPr defTabSz="457200">
              <a:lnSpc>
                <a:spcPct val="100000"/>
              </a:lnSpc>
            </a:pPr>
            <a:r>
              <a:rPr lang="en-US" sz="1100" b="0" u="none" strike="noStrike">
                <a:solidFill>
                  <a:srgbClr val="0F172A"/>
                </a:solidFill>
                <a:effectLst/>
                <a:uFillTx/>
                <a:latin typeface="Arial"/>
              </a:rPr>
              <a:t>Intentando acelerar la RDSI síncrona sobre cobre en Bellcore (1988), Joe Lechleider chocó contra la diafonía NEXT (Near-End Crosstalk). Al proponer la asimetría (más velocidad de bajada que de subida), eliminó la NEXT... ¡engendrando sin querer la tecnología ADSL que terminó extinguiendo a la RDSI!</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36" name="TextBox 1"/>
          <p:cNvSpPr/>
          <p:nvPr/>
        </p:nvSpPr>
        <p:spPr>
          <a:xfrm>
            <a:off x="731520" y="365760"/>
            <a:ext cx="10728360" cy="10054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1" u="none" strike="noStrike">
                <a:solidFill>
                  <a:srgbClr val="0284C7"/>
                </a:solidFill>
                <a:effectLst/>
                <a:uFillTx/>
                <a:latin typeface="Arial"/>
              </a:rPr>
              <a:t>REDES DE ALTA VELOCIDAD | PROTOCOLO RDSI</a:t>
            </a:r>
            <a:endParaRPr lang="en-US" sz="1000" b="0" u="none" strike="noStrike">
              <a:solidFill>
                <a:srgbClr val="000000"/>
              </a:solidFill>
              <a:effectLst/>
              <a:uFillTx/>
              <a:latin typeface="Arial"/>
            </a:endParaRPr>
          </a:p>
          <a:p>
            <a:pPr defTabSz="457200">
              <a:lnSpc>
                <a:spcPct val="100000"/>
              </a:lnSpc>
            </a:pPr>
            <a:r>
              <a:rPr lang="en-US" sz="2200" b="1" u="none" strike="noStrike">
                <a:solidFill>
                  <a:srgbClr val="0A192F"/>
                </a:solidFill>
                <a:effectLst/>
                <a:uFillTx/>
                <a:latin typeface="Georgia"/>
              </a:rPr>
              <a:t>Lo que la RDSI ya no pudo resolver: La conmutación de circuitos frente a la Web masiva</a:t>
            </a:r>
            <a:endParaRPr lang="en-US" sz="2200" b="0" u="none" strike="noStrike">
              <a:solidFill>
                <a:srgbClr val="000000"/>
              </a:solidFill>
              <a:effectLst/>
              <a:uFillTx/>
              <a:latin typeface="Arial"/>
            </a:endParaRPr>
          </a:p>
        </p:txBody>
      </p:sp>
      <p:sp>
        <p:nvSpPr>
          <p:cNvPr id="137" name="Rectangle 2"/>
          <p:cNvSpPr/>
          <p:nvPr/>
        </p:nvSpPr>
        <p:spPr>
          <a:xfrm>
            <a:off x="731520" y="1371600"/>
            <a:ext cx="10728360" cy="25200"/>
          </a:xfrm>
          <a:prstGeom prst="rect">
            <a:avLst/>
          </a:prstGeom>
          <a:solidFill>
            <a:srgbClr val="0284C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38" name="TextBox 3"/>
          <p:cNvSpPr/>
          <p:nvPr/>
        </p:nvSpPr>
        <p:spPr>
          <a:xfrm>
            <a:off x="731520" y="6400800"/>
            <a:ext cx="10728360" cy="2739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900" b="0" u="none" strike="noStrike">
                <a:solidFill>
                  <a:srgbClr val="334155"/>
                </a:solidFill>
                <a:effectLst/>
                <a:uFillTx/>
                <a:latin typeface="Arial"/>
              </a:rPr>
              <a:t>Anatomía de la RDSI | Materia: Redes de Alta Velocidad | Diapositiva 12 de 16</a:t>
            </a:r>
            <a:endParaRPr lang="en-US" sz="900" b="0" u="none" strike="noStrike">
              <a:solidFill>
                <a:srgbClr val="000000"/>
              </a:solidFill>
              <a:effectLst/>
              <a:uFillTx/>
              <a:latin typeface="Arial"/>
            </a:endParaRPr>
          </a:p>
        </p:txBody>
      </p:sp>
      <p:sp>
        <p:nvSpPr>
          <p:cNvPr id="139" name="Rounded Rectangle 4"/>
          <p:cNvSpPr/>
          <p:nvPr/>
        </p:nvSpPr>
        <p:spPr>
          <a:xfrm>
            <a:off x="731520" y="1645920"/>
            <a:ext cx="521172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0" name="TextBox 5"/>
          <p:cNvSpPr/>
          <p:nvPr/>
        </p:nvSpPr>
        <p:spPr>
          <a:xfrm>
            <a:off x="914400" y="1828800"/>
            <a:ext cx="484596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001"/>
              </a:spcAft>
            </a:pPr>
            <a:r>
              <a:rPr lang="en-US" sz="1600" b="1" u="none" strike="noStrike">
                <a:solidFill>
                  <a:srgbClr val="D97706"/>
                </a:solidFill>
                <a:effectLst/>
                <a:uFillTx/>
                <a:latin typeface="Georgia"/>
              </a:rPr>
              <a:t>El Colapso de la Conmutación de Circuitos</a:t>
            </a:r>
            <a:endParaRPr lang="en-US" sz="1600" b="0" u="none" strike="noStrike">
              <a:solidFill>
                <a:srgbClr val="000000"/>
              </a:solidFill>
              <a:effectLst/>
              <a:uFillTx/>
              <a:latin typeface="Arial"/>
            </a:endParaRPr>
          </a:p>
          <a:p>
            <a:pPr defTabSz="457200">
              <a:lnSpc>
                <a:spcPct val="100000"/>
              </a:lnSpc>
            </a:pPr>
            <a:r>
              <a:rPr lang="en-US" sz="1200" b="0" u="none" strike="noStrike">
                <a:solidFill>
                  <a:srgbClr val="0F172A"/>
                </a:solidFill>
                <a:effectLst/>
                <a:uFillTx/>
                <a:latin typeface="Arial"/>
              </a:rPr>
              <a:t>• Ineficiencia de Ancho de Banda: La RDSI reservaba circuitos físicos/lógicos fijos de 64 kbps por llamada. El tráfico ráfaga de la World Wide Web desperdiciaba la línea durante la lectura de páginas.</a:t>
            </a:r>
            <a:br>
              <a:rPr sz="1200"/>
            </a:br>
            <a:br>
              <a:rPr sz="1200"/>
            </a:br>
            <a:r>
              <a:rPr lang="en-US" sz="1200" b="0" u="none" strike="noStrike">
                <a:solidFill>
                  <a:srgbClr val="0F172A"/>
                </a:solidFill>
                <a:effectLst/>
                <a:uFillTx/>
                <a:latin typeface="Arial"/>
              </a:rPr>
              <a:t>• Modelo Comercial por Minuto: Las telefónicas facturaban la RDSI según la duración de la llamada (coste por minuto), impidiendo conexiones permanentes (always-on).</a:t>
            </a:r>
            <a:br>
              <a:rPr sz="1200"/>
            </a:br>
            <a:br>
              <a:rPr sz="1200"/>
            </a:br>
            <a:r>
              <a:rPr lang="en-US" sz="1200" b="0" u="none" strike="noStrike">
                <a:solidFill>
                  <a:srgbClr val="0F172A"/>
                </a:solidFill>
                <a:effectLst/>
                <a:uFillTx/>
                <a:latin typeface="Arial"/>
              </a:rPr>
              <a:t>• Techo de Velocidad: Los 128 kbps del BRI resultaron insuficientes ante la irrupción de gráficos, audio y vídeo multimedia a finales de los 90.</a:t>
            </a:r>
            <a:endParaRPr lang="en-US" sz="1200" b="0" u="none" strike="noStrike">
              <a:solidFill>
                <a:srgbClr val="000000"/>
              </a:solidFill>
              <a:effectLst/>
              <a:uFillTx/>
              <a:latin typeface="Arial"/>
            </a:endParaRPr>
          </a:p>
        </p:txBody>
      </p:sp>
      <p:sp>
        <p:nvSpPr>
          <p:cNvPr id="141" name="Rounded Rectangle 6"/>
          <p:cNvSpPr/>
          <p:nvPr/>
        </p:nvSpPr>
        <p:spPr>
          <a:xfrm>
            <a:off x="6248160" y="1645920"/>
            <a:ext cx="521172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2" name="TextBox 7"/>
          <p:cNvSpPr/>
          <p:nvPr/>
        </p:nvSpPr>
        <p:spPr>
          <a:xfrm>
            <a:off x="6431040" y="1828800"/>
            <a:ext cx="484596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001"/>
              </a:spcAft>
            </a:pPr>
            <a:r>
              <a:rPr lang="en-US" sz="1600" b="1" u="none" strike="noStrike">
                <a:solidFill>
                  <a:srgbClr val="0D9488"/>
                </a:solidFill>
                <a:effectLst/>
                <a:uFillTx/>
                <a:latin typeface="Georgia"/>
              </a:rPr>
              <a:t>La Solución Disruptiva del ADSL</a:t>
            </a:r>
            <a:endParaRPr lang="en-US" sz="1600" b="0" u="none" strike="noStrike">
              <a:solidFill>
                <a:srgbClr val="000000"/>
              </a:solidFill>
              <a:effectLst/>
              <a:uFillTx/>
              <a:latin typeface="Arial"/>
            </a:endParaRPr>
          </a:p>
          <a:p>
            <a:pPr defTabSz="457200">
              <a:lnSpc>
                <a:spcPct val="100000"/>
              </a:lnSpc>
            </a:pPr>
            <a:r>
              <a:rPr lang="en-US" sz="1200" b="0" u="none" strike="noStrike">
                <a:solidFill>
                  <a:srgbClr val="0F172A"/>
                </a:solidFill>
                <a:effectLst/>
                <a:uFillTx/>
                <a:latin typeface="Arial"/>
              </a:rPr>
              <a:t>• Separación Espectral por Splitters: Aisló los primeros 4 kHz para la telefonía analógica tradicional y usó altas frecuencias (25 kHz - 1.1 MHz) para datos de alta velocidad.</a:t>
            </a:r>
            <a:br>
              <a:rPr sz="1200"/>
            </a:br>
            <a:br>
              <a:rPr sz="1200"/>
            </a:br>
            <a:r>
              <a:rPr lang="en-US" sz="1200" b="0" u="none" strike="noStrike">
                <a:solidFill>
                  <a:srgbClr val="0F172A"/>
                </a:solidFill>
                <a:effectLst/>
                <a:uFillTx/>
                <a:latin typeface="Arial"/>
              </a:rPr>
              <a:t>• Desvío por DSLAM: El multiplexor DSLAM en central derivó todo el tráfico de datos directamente a redes de conmutación de paquetes (ATM/IP), liberando la conmutadora telefónica.</a:t>
            </a:r>
            <a:br>
              <a:rPr sz="1200"/>
            </a:br>
            <a:br>
              <a:rPr sz="1200"/>
            </a:br>
            <a:r>
              <a:rPr lang="en-US" sz="1200" b="0" u="none" strike="noStrike">
                <a:solidFill>
                  <a:srgbClr val="0F172A"/>
                </a:solidFill>
                <a:effectLst/>
                <a:uFillTx/>
                <a:latin typeface="Arial"/>
              </a:rPr>
              <a:t>• Salto de Velocidad y Tarifa Plana: Alcanzó de 1.5 a 24 Mbps de bajada, introduciendo la tarifa plana mensual y la conexión permanente 'always-on'.</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43" name="TextBox 1"/>
          <p:cNvSpPr/>
          <p:nvPr/>
        </p:nvSpPr>
        <p:spPr>
          <a:xfrm>
            <a:off x="731520" y="365760"/>
            <a:ext cx="10728360" cy="10054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1" u="none" strike="noStrike">
                <a:solidFill>
                  <a:srgbClr val="0284C7"/>
                </a:solidFill>
                <a:effectLst/>
                <a:uFillTx/>
                <a:latin typeface="Arial"/>
              </a:rPr>
              <a:t>REDES DE ALTA VELOCIDAD | PROTOCOLO RDSI</a:t>
            </a:r>
            <a:endParaRPr lang="en-US" sz="1000" b="0" u="none" strike="noStrike">
              <a:solidFill>
                <a:srgbClr val="000000"/>
              </a:solidFill>
              <a:effectLst/>
              <a:uFillTx/>
              <a:latin typeface="Arial"/>
            </a:endParaRPr>
          </a:p>
          <a:p>
            <a:pPr defTabSz="457200">
              <a:lnSpc>
                <a:spcPct val="100000"/>
              </a:lnSpc>
            </a:pPr>
            <a:r>
              <a:rPr lang="en-US" sz="2200" b="1" u="none" strike="noStrike">
                <a:solidFill>
                  <a:srgbClr val="0A192F"/>
                </a:solidFill>
                <a:effectLst/>
                <a:uFillTx/>
                <a:latin typeface="Georgia"/>
              </a:rPr>
              <a:t>Voz sobre IP (VoIP) y SIP desmantelaron la telefonía conmutada al virtualizar la voz en IP</a:t>
            </a:r>
            <a:endParaRPr lang="en-US" sz="2200" b="0" u="none" strike="noStrike">
              <a:solidFill>
                <a:srgbClr val="000000"/>
              </a:solidFill>
              <a:effectLst/>
              <a:uFillTx/>
              <a:latin typeface="Arial"/>
            </a:endParaRPr>
          </a:p>
        </p:txBody>
      </p:sp>
      <p:sp>
        <p:nvSpPr>
          <p:cNvPr id="144" name="Rectangle 2"/>
          <p:cNvSpPr/>
          <p:nvPr/>
        </p:nvSpPr>
        <p:spPr>
          <a:xfrm>
            <a:off x="731520" y="1371600"/>
            <a:ext cx="10728360" cy="25200"/>
          </a:xfrm>
          <a:prstGeom prst="rect">
            <a:avLst/>
          </a:prstGeom>
          <a:solidFill>
            <a:srgbClr val="0284C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45" name="TextBox 3"/>
          <p:cNvSpPr/>
          <p:nvPr/>
        </p:nvSpPr>
        <p:spPr>
          <a:xfrm>
            <a:off x="731520" y="6400800"/>
            <a:ext cx="10728360" cy="2739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900" b="0" u="none" strike="noStrike">
                <a:solidFill>
                  <a:srgbClr val="334155"/>
                </a:solidFill>
                <a:effectLst/>
                <a:uFillTx/>
                <a:latin typeface="Arial"/>
              </a:rPr>
              <a:t>Anatomía de la RDSI | Materia: Redes de Alta Velocidad | Diapositiva 13 de 16</a:t>
            </a:r>
            <a:endParaRPr lang="en-US" sz="900" b="0" u="none" strike="noStrike">
              <a:solidFill>
                <a:srgbClr val="000000"/>
              </a:solidFill>
              <a:effectLst/>
              <a:uFillTx/>
              <a:latin typeface="Arial"/>
            </a:endParaRPr>
          </a:p>
        </p:txBody>
      </p:sp>
      <p:sp>
        <p:nvSpPr>
          <p:cNvPr id="146" name="Rounded Rectangle 4"/>
          <p:cNvSpPr/>
          <p:nvPr/>
        </p:nvSpPr>
        <p:spPr>
          <a:xfrm>
            <a:off x="731520" y="1645920"/>
            <a:ext cx="10728360" cy="132552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7" name="TextBox 5"/>
          <p:cNvSpPr/>
          <p:nvPr/>
        </p:nvSpPr>
        <p:spPr>
          <a:xfrm>
            <a:off x="914400" y="1783080"/>
            <a:ext cx="10362600" cy="1051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500" b="1" u="none" strike="noStrike">
                <a:solidFill>
                  <a:srgbClr val="0369A1"/>
                </a:solidFill>
                <a:effectLst/>
                <a:uFillTx/>
                <a:latin typeface="Georgia"/>
              </a:rPr>
              <a:t>1. Encapsulamiento en Paquetes IP</a:t>
            </a:r>
            <a:endParaRPr lang="en-US" sz="1500" b="0" u="none" strike="noStrike">
              <a:solidFill>
                <a:srgbClr val="000000"/>
              </a:solidFill>
              <a:effectLst/>
              <a:uFillTx/>
              <a:latin typeface="Arial"/>
            </a:endParaRPr>
          </a:p>
          <a:p>
            <a:pPr defTabSz="457200">
              <a:lnSpc>
                <a:spcPct val="100000"/>
              </a:lnSpc>
            </a:pPr>
            <a:r>
              <a:rPr lang="en-US" sz="1200" b="0" u="none" strike="noStrike">
                <a:solidFill>
                  <a:srgbClr val="0F172A"/>
                </a:solidFill>
                <a:effectLst/>
                <a:uFillTx/>
                <a:latin typeface="Arial"/>
              </a:rPr>
              <a:t>La voz humana dejó de requerir circuitos dedicados. Fue muestreada, comprimida con códecs eficientes (G.711, G.729) y encapsulada en paquetes IP ligeros que viajan por cualquier red de datos ordinaria.</a:t>
            </a:r>
            <a:endParaRPr lang="en-US" sz="1200" b="0" u="none" strike="noStrike">
              <a:solidFill>
                <a:srgbClr val="000000"/>
              </a:solidFill>
              <a:effectLst/>
              <a:uFillTx/>
              <a:latin typeface="Arial"/>
            </a:endParaRPr>
          </a:p>
        </p:txBody>
      </p:sp>
      <p:sp>
        <p:nvSpPr>
          <p:cNvPr id="148" name="Rounded Rectangle 6"/>
          <p:cNvSpPr/>
          <p:nvPr/>
        </p:nvSpPr>
        <p:spPr>
          <a:xfrm>
            <a:off x="731520" y="3154680"/>
            <a:ext cx="10728360" cy="132552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9" name="TextBox 7"/>
          <p:cNvSpPr/>
          <p:nvPr/>
        </p:nvSpPr>
        <p:spPr>
          <a:xfrm>
            <a:off x="914400" y="3291840"/>
            <a:ext cx="10362600" cy="1051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500" b="1" u="none" strike="noStrike">
                <a:solidFill>
                  <a:srgbClr val="0369A1"/>
                </a:solidFill>
                <a:effectLst/>
                <a:uFillTx/>
                <a:latin typeface="Georgia"/>
              </a:rPr>
              <a:t>2. Protocolo de Señalización SIP</a:t>
            </a:r>
            <a:endParaRPr lang="en-US" sz="1500" b="0" u="none" strike="noStrike">
              <a:solidFill>
                <a:srgbClr val="000000"/>
              </a:solidFill>
              <a:effectLst/>
              <a:uFillTx/>
              <a:latin typeface="Arial"/>
            </a:endParaRPr>
          </a:p>
          <a:p>
            <a:pPr defTabSz="457200">
              <a:lnSpc>
                <a:spcPct val="100000"/>
              </a:lnSpc>
            </a:pPr>
            <a:r>
              <a:rPr lang="en-US" sz="1200" b="0" u="none" strike="noStrike">
                <a:solidFill>
                  <a:srgbClr val="0F172A"/>
                </a:solidFill>
                <a:effectLst/>
                <a:uFillTx/>
                <a:latin typeface="Arial"/>
              </a:rPr>
              <a:t>El protocolo SIP (Session Initiation Protocol, RFC 3261) sustituyó la rigidez del protocolo Q.931 de la RDSI, permitiendo negociar sesiones multimedia flexibles en la capa de aplicación.</a:t>
            </a:r>
            <a:endParaRPr lang="en-US" sz="1200" b="0" u="none" strike="noStrike">
              <a:solidFill>
                <a:srgbClr val="000000"/>
              </a:solidFill>
              <a:effectLst/>
              <a:uFillTx/>
              <a:latin typeface="Arial"/>
            </a:endParaRPr>
          </a:p>
        </p:txBody>
      </p:sp>
      <p:sp>
        <p:nvSpPr>
          <p:cNvPr id="150" name="Rounded Rectangle 8"/>
          <p:cNvSpPr/>
          <p:nvPr/>
        </p:nvSpPr>
        <p:spPr>
          <a:xfrm>
            <a:off x="731520" y="4663440"/>
            <a:ext cx="10728360" cy="132552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1" name="TextBox 9"/>
          <p:cNvSpPr/>
          <p:nvPr/>
        </p:nvSpPr>
        <p:spPr>
          <a:xfrm>
            <a:off x="914400" y="4800600"/>
            <a:ext cx="10362600" cy="10512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500" b="1" u="none" strike="noStrike">
                <a:solidFill>
                  <a:srgbClr val="0369A1"/>
                </a:solidFill>
                <a:effectLst/>
                <a:uFillTx/>
                <a:latin typeface="Georgia"/>
              </a:rPr>
              <a:t>3. Extinción de Enlaces Físicos PRI</a:t>
            </a:r>
            <a:endParaRPr lang="en-US" sz="1500" b="0" u="none" strike="noStrike">
              <a:solidFill>
                <a:srgbClr val="000000"/>
              </a:solidFill>
              <a:effectLst/>
              <a:uFillTx/>
              <a:latin typeface="Arial"/>
            </a:endParaRPr>
          </a:p>
          <a:p>
            <a:pPr defTabSz="457200">
              <a:lnSpc>
                <a:spcPct val="100000"/>
              </a:lnSpc>
            </a:pPr>
            <a:r>
              <a:rPr lang="en-US" sz="1200" b="0" u="none" strike="noStrike">
                <a:solidFill>
                  <a:srgbClr val="0F172A"/>
                </a:solidFill>
                <a:effectLst/>
                <a:uFillTx/>
                <a:latin typeface="Arial"/>
              </a:rPr>
              <a:t>El Trunking SIP eliminó la necesidad de instalar costosas tarjetas de línea PRI (30B+D) y adaptadores físicos, permitiendo cientos de canales de voz simultáneos sobre una única fibra óptica de datos.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52" name="TextBox 1"/>
          <p:cNvSpPr/>
          <p:nvPr/>
        </p:nvSpPr>
        <p:spPr>
          <a:xfrm>
            <a:off x="731520" y="365760"/>
            <a:ext cx="10728360" cy="10054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1" u="none" strike="noStrike">
                <a:solidFill>
                  <a:srgbClr val="0284C7"/>
                </a:solidFill>
                <a:effectLst/>
                <a:uFillTx/>
                <a:latin typeface="Arial"/>
              </a:rPr>
              <a:t>REDES DE ALTA VELOCIDAD | PROTOCOLO RDSI</a:t>
            </a:r>
            <a:endParaRPr lang="en-US" sz="1000" b="0" u="none" strike="noStrike">
              <a:solidFill>
                <a:srgbClr val="000000"/>
              </a:solidFill>
              <a:effectLst/>
              <a:uFillTx/>
              <a:latin typeface="Arial"/>
            </a:endParaRPr>
          </a:p>
          <a:p>
            <a:pPr defTabSz="457200">
              <a:lnSpc>
                <a:spcPct val="100000"/>
              </a:lnSpc>
            </a:pPr>
            <a:r>
              <a:rPr lang="en-US" sz="2200" b="1" u="none" strike="noStrike">
                <a:solidFill>
                  <a:srgbClr val="0A192F"/>
                </a:solidFill>
                <a:effectLst/>
                <a:uFillTx/>
                <a:latin typeface="Georgia"/>
              </a:rPr>
              <a:t>Matriz Comparativa Tridimensional: RDSI vs. ADSL vs. Voz sobre IP (VoIP)</a:t>
            </a:r>
            <a:endParaRPr lang="en-US" sz="2200" b="0" u="none" strike="noStrike">
              <a:solidFill>
                <a:srgbClr val="000000"/>
              </a:solidFill>
              <a:effectLst/>
              <a:uFillTx/>
              <a:latin typeface="Arial"/>
            </a:endParaRPr>
          </a:p>
        </p:txBody>
      </p:sp>
      <p:sp>
        <p:nvSpPr>
          <p:cNvPr id="153" name="Rectangle 2"/>
          <p:cNvSpPr/>
          <p:nvPr/>
        </p:nvSpPr>
        <p:spPr>
          <a:xfrm>
            <a:off x="731520" y="1371600"/>
            <a:ext cx="10728360" cy="25200"/>
          </a:xfrm>
          <a:prstGeom prst="rect">
            <a:avLst/>
          </a:prstGeom>
          <a:solidFill>
            <a:srgbClr val="0284C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54" name="TextBox 3"/>
          <p:cNvSpPr/>
          <p:nvPr/>
        </p:nvSpPr>
        <p:spPr>
          <a:xfrm>
            <a:off x="731520" y="6400800"/>
            <a:ext cx="10728360" cy="2739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900" b="0" u="none" strike="noStrike">
                <a:solidFill>
                  <a:srgbClr val="334155"/>
                </a:solidFill>
                <a:effectLst/>
                <a:uFillTx/>
                <a:latin typeface="Arial"/>
              </a:rPr>
              <a:t>Anatomía de la RDSI | Materia: Redes de Alta Velocidad | Diapositiva 14 de 16</a:t>
            </a:r>
            <a:endParaRPr lang="en-US" sz="900" b="0" u="none" strike="noStrike">
              <a:solidFill>
                <a:srgbClr val="000000"/>
              </a:solidFill>
              <a:effectLst/>
              <a:uFillTx/>
              <a:latin typeface="Arial"/>
            </a:endParaRPr>
          </a:p>
        </p:txBody>
      </p:sp>
      <p:graphicFrame>
        <p:nvGraphicFramePr>
          <p:cNvPr id="155" name="Table 4"/>
          <p:cNvGraphicFramePr/>
          <p:nvPr/>
        </p:nvGraphicFramePr>
        <p:xfrm>
          <a:off x="731520" y="1645920"/>
          <a:ext cx="10726560" cy="4480200"/>
        </p:xfrm>
        <a:graphic>
          <a:graphicData uri="http://schemas.openxmlformats.org/drawingml/2006/table">
            <a:tbl>
              <a:tblPr/>
              <a:tblGrid>
                <a:gridCol w="2011680"/>
                <a:gridCol w="2904840"/>
                <a:gridCol w="2904840"/>
                <a:gridCol w="2904840"/>
              </a:tblGrid>
              <a:tr h="746640">
                <a:tc>
                  <a:txBody>
                    <a:bodyPr anchor="t">
                      <a:noAutofit/>
                    </a:bodyPr>
                    <a:p>
                      <a:pPr defTabSz="457200">
                        <a:lnSpc>
                          <a:spcPct val="100000"/>
                        </a:lnSpc>
                      </a:pPr>
                      <a:r>
                        <a:rPr lang="en-US" sz="1150" b="1" u="none" strike="noStrike">
                          <a:solidFill>
                            <a:srgbClr val="FFFFFF"/>
                          </a:solidFill>
                          <a:effectLst/>
                          <a:uFillTx/>
                          <a:latin typeface="Arial"/>
                        </a:rPr>
                        <a:t>Criterio de Análisis</a:t>
                      </a:r>
                      <a:endParaRPr lang="en-US" sz="115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A192F"/>
                    </a:solidFill>
                  </a:tcPr>
                </a:tc>
                <a:tc>
                  <a:txBody>
                    <a:bodyPr anchor="t">
                      <a:noAutofit/>
                    </a:bodyPr>
                    <a:p>
                      <a:pPr defTabSz="457200">
                        <a:lnSpc>
                          <a:spcPct val="100000"/>
                        </a:lnSpc>
                      </a:pPr>
                      <a:r>
                        <a:rPr lang="en-US" sz="1150" b="1" u="none" strike="noStrike">
                          <a:solidFill>
                            <a:srgbClr val="FFFFFF"/>
                          </a:solidFill>
                          <a:effectLst/>
                          <a:uFillTx/>
                          <a:latin typeface="Arial"/>
                        </a:rPr>
                        <a:t>RDSI (ISDN)</a:t>
                      </a:r>
                      <a:endParaRPr lang="en-US" sz="115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A192F"/>
                    </a:solidFill>
                  </a:tcPr>
                </a:tc>
                <a:tc>
                  <a:txBody>
                    <a:bodyPr anchor="t">
                      <a:noAutofit/>
                    </a:bodyPr>
                    <a:p>
                      <a:pPr defTabSz="457200">
                        <a:lnSpc>
                          <a:spcPct val="100000"/>
                        </a:lnSpc>
                      </a:pPr>
                      <a:r>
                        <a:rPr lang="en-US" sz="1150" b="1" u="none" strike="noStrike">
                          <a:solidFill>
                            <a:srgbClr val="FFFFFF"/>
                          </a:solidFill>
                          <a:effectLst/>
                          <a:uFillTx/>
                          <a:latin typeface="Arial"/>
                        </a:rPr>
                        <a:t>ADSL / ADSL2+</a:t>
                      </a:r>
                      <a:endParaRPr lang="en-US" sz="115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A192F"/>
                    </a:solidFill>
                  </a:tcPr>
                </a:tc>
                <a:tc>
                  <a:txBody>
                    <a:bodyPr anchor="t">
                      <a:noAutofit/>
                    </a:bodyPr>
                    <a:p>
                      <a:pPr defTabSz="457200">
                        <a:lnSpc>
                          <a:spcPct val="100000"/>
                        </a:lnSpc>
                      </a:pPr>
                      <a:r>
                        <a:rPr lang="en-US" sz="1150" b="1" u="none" strike="noStrike">
                          <a:solidFill>
                            <a:srgbClr val="FFFFFF"/>
                          </a:solidFill>
                          <a:effectLst/>
                          <a:uFillTx/>
                          <a:latin typeface="Arial"/>
                        </a:rPr>
                        <a:t>Voz sobre IP (VoIP / SIP)</a:t>
                      </a:r>
                      <a:endParaRPr lang="en-US" sz="115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A192F"/>
                    </a:solidFill>
                  </a:tcPr>
                </a:tc>
              </a:tr>
              <a:tr h="746640">
                <a:tc>
                  <a:txBody>
                    <a:bodyPr anchor="t">
                      <a:noAutofit/>
                    </a:bodyPr>
                    <a:p>
                      <a:pPr defTabSz="457200">
                        <a:lnSpc>
                          <a:spcPct val="100000"/>
                        </a:lnSpc>
                      </a:pPr>
                      <a:r>
                        <a:rPr lang="en-US" sz="1050" b="1" u="none" strike="noStrike">
                          <a:solidFill>
                            <a:srgbClr val="0A192F"/>
                          </a:solidFill>
                          <a:effectLst/>
                          <a:uFillTx/>
                          <a:latin typeface="Arial"/>
                        </a:rPr>
                        <a:t>Arquitectura Base</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050" b="0" u="none" strike="noStrike">
                          <a:solidFill>
                            <a:srgbClr val="0F172A"/>
                          </a:solidFill>
                          <a:effectLst/>
                          <a:uFillTx/>
                          <a:latin typeface="Arial"/>
                        </a:rPr>
                        <a:t>Conmutación de circuitos dedicados (64 kbps)</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050" b="0" u="none" strike="noStrike">
                          <a:solidFill>
                            <a:srgbClr val="0F172A"/>
                          </a:solidFill>
                          <a:effectLst/>
                          <a:uFillTx/>
                          <a:latin typeface="Arial"/>
                        </a:rPr>
                        <a:t>Conmutación de paquetes a nivel físico de transporte</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050" b="0" u="none" strike="noStrike">
                          <a:solidFill>
                            <a:srgbClr val="0F172A"/>
                          </a:solidFill>
                          <a:effectLst/>
                          <a:uFillTx/>
                          <a:latin typeface="Arial"/>
                        </a:rPr>
                        <a:t>Conmutación de paquetes lógicos (Capa de Aplicación IP)</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46640">
                <a:tc>
                  <a:txBody>
                    <a:bodyPr anchor="t">
                      <a:noAutofit/>
                    </a:bodyPr>
                    <a:p>
                      <a:pPr defTabSz="457200">
                        <a:lnSpc>
                          <a:spcPct val="100000"/>
                        </a:lnSpc>
                      </a:pPr>
                      <a:r>
                        <a:rPr lang="en-US" sz="1050" b="1" u="none" strike="noStrike">
                          <a:solidFill>
                            <a:srgbClr val="0A192F"/>
                          </a:solidFill>
                          <a:effectLst/>
                          <a:uFillTx/>
                          <a:latin typeface="Arial"/>
                        </a:rPr>
                        <a:t>Velocidad / Ancho Banda</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5F9"/>
                    </a:solidFill>
                  </a:tcPr>
                </a:tc>
                <a:tc>
                  <a:txBody>
                    <a:bodyPr anchor="t">
                      <a:noAutofit/>
                    </a:bodyPr>
                    <a:p>
                      <a:pPr defTabSz="457200">
                        <a:lnSpc>
                          <a:spcPct val="100000"/>
                        </a:lnSpc>
                      </a:pPr>
                      <a:r>
                        <a:rPr lang="en-US" sz="1050" b="0" u="none" strike="noStrike">
                          <a:solidFill>
                            <a:srgbClr val="0F172A"/>
                          </a:solidFill>
                          <a:effectLst/>
                          <a:uFillTx/>
                          <a:latin typeface="Arial"/>
                        </a:rPr>
                        <a:t>Simétrica: 64 kbps - 128 kbps (BRI) / 2 Mbps (PRI)</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5F9"/>
                    </a:solidFill>
                  </a:tcPr>
                </a:tc>
                <a:tc>
                  <a:txBody>
                    <a:bodyPr anchor="t">
                      <a:noAutofit/>
                    </a:bodyPr>
                    <a:p>
                      <a:pPr defTabSz="457200">
                        <a:lnSpc>
                          <a:spcPct val="100000"/>
                        </a:lnSpc>
                      </a:pPr>
                      <a:r>
                        <a:rPr lang="en-US" sz="1050" b="0" u="none" strike="noStrike">
                          <a:solidFill>
                            <a:srgbClr val="0F172A"/>
                          </a:solidFill>
                          <a:effectLst/>
                          <a:uFillTx/>
                          <a:latin typeface="Arial"/>
                        </a:rPr>
                        <a:t>Asimétrica: Hasta 24 Mbps bajada / 2 Mbps subida</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5F9"/>
                    </a:solidFill>
                  </a:tcPr>
                </a:tc>
                <a:tc>
                  <a:txBody>
                    <a:bodyPr anchor="t">
                      <a:noAutofit/>
                    </a:bodyPr>
                    <a:p>
                      <a:pPr defTabSz="457200">
                        <a:lnSpc>
                          <a:spcPct val="100000"/>
                        </a:lnSpc>
                      </a:pPr>
                      <a:r>
                        <a:rPr lang="en-US" sz="1050" b="0" u="none" strike="noStrike">
                          <a:solidFill>
                            <a:srgbClr val="0F172A"/>
                          </a:solidFill>
                          <a:effectLst/>
                          <a:uFillTx/>
                          <a:latin typeface="Arial"/>
                        </a:rPr>
                        <a:t>Escalable ilimitadamente según el enlace de datos IP</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5F9"/>
                    </a:solidFill>
                  </a:tcPr>
                </a:tc>
              </a:tr>
              <a:tr h="746640">
                <a:tc>
                  <a:txBody>
                    <a:bodyPr anchor="t">
                      <a:noAutofit/>
                    </a:bodyPr>
                    <a:p>
                      <a:pPr defTabSz="457200">
                        <a:lnSpc>
                          <a:spcPct val="100000"/>
                        </a:lnSpc>
                      </a:pPr>
                      <a:r>
                        <a:rPr lang="en-US" sz="1050" b="1" u="none" strike="noStrike">
                          <a:solidFill>
                            <a:srgbClr val="0A192F"/>
                          </a:solidFill>
                          <a:effectLst/>
                          <a:uFillTx/>
                          <a:latin typeface="Arial"/>
                        </a:rPr>
                        <a:t>Esquema de Cobro</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050" b="0" u="none" strike="noStrike">
                          <a:solidFill>
                            <a:srgbClr val="0F172A"/>
                          </a:solidFill>
                          <a:effectLst/>
                          <a:uFillTx/>
                          <a:latin typeface="Arial"/>
                        </a:rPr>
                        <a:t>Por tiempo de ocupación física (pago por minuto)</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050" b="0" u="none" strike="noStrike">
                          <a:solidFill>
                            <a:srgbClr val="0F172A"/>
                          </a:solidFill>
                          <a:effectLst/>
                          <a:uFillTx/>
                          <a:latin typeface="Arial"/>
                        </a:rPr>
                        <a:t>Tarifa plana ilimitada mensual (always-on)</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050" b="0" u="none" strike="noStrike">
                          <a:solidFill>
                            <a:srgbClr val="0F172A"/>
                          </a:solidFill>
                          <a:effectLst/>
                          <a:uFillTx/>
                          <a:latin typeface="Arial"/>
                        </a:rPr>
                        <a:t>Integrado en la tarifa de datos general / volumen IP</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46640">
                <a:tc>
                  <a:txBody>
                    <a:bodyPr anchor="t">
                      <a:noAutofit/>
                    </a:bodyPr>
                    <a:p>
                      <a:pPr defTabSz="457200">
                        <a:lnSpc>
                          <a:spcPct val="100000"/>
                        </a:lnSpc>
                      </a:pPr>
                      <a:r>
                        <a:rPr lang="en-US" sz="1050" b="1" u="none" strike="noStrike">
                          <a:solidFill>
                            <a:srgbClr val="0A192F"/>
                          </a:solidFill>
                          <a:effectLst/>
                          <a:uFillTx/>
                          <a:latin typeface="Arial"/>
                        </a:rPr>
                        <a:t>Infraestructura Usuario</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5F9"/>
                    </a:solidFill>
                  </a:tcPr>
                </a:tc>
                <a:tc>
                  <a:txBody>
                    <a:bodyPr anchor="t">
                      <a:noAutofit/>
                    </a:bodyPr>
                    <a:p>
                      <a:pPr defTabSz="457200">
                        <a:lnSpc>
                          <a:spcPct val="100000"/>
                        </a:lnSpc>
                      </a:pPr>
                      <a:r>
                        <a:rPr lang="en-US" sz="1050" b="0" u="none" strike="noStrike">
                          <a:solidFill>
                            <a:srgbClr val="0F172A"/>
                          </a:solidFill>
                          <a:effectLst/>
                          <a:uFillTx/>
                          <a:latin typeface="Arial"/>
                        </a:rPr>
                        <a:t>Terminales nativos RDSI, adaptadores TA y NT1/NT2</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5F9"/>
                    </a:solidFill>
                  </a:tcPr>
                </a:tc>
                <a:tc>
                  <a:txBody>
                    <a:bodyPr anchor="t">
                      <a:noAutofit/>
                    </a:bodyPr>
                    <a:p>
                      <a:pPr defTabSz="457200">
                        <a:lnSpc>
                          <a:spcPct val="100000"/>
                        </a:lnSpc>
                      </a:pPr>
                      <a:r>
                        <a:rPr lang="en-US" sz="1050" b="0" u="none" strike="noStrike">
                          <a:solidFill>
                            <a:srgbClr val="0F172A"/>
                          </a:solidFill>
                          <a:effectLst/>
                          <a:uFillTx/>
                          <a:latin typeface="Arial"/>
                        </a:rPr>
                        <a:t>Splitter pasivo analógico y módem/router ADSL</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5F9"/>
                    </a:solidFill>
                  </a:tcPr>
                </a:tc>
                <a:tc>
                  <a:txBody>
                    <a:bodyPr anchor="t">
                      <a:noAutofit/>
                    </a:bodyPr>
                    <a:p>
                      <a:pPr defTabSz="457200">
                        <a:lnSpc>
                          <a:spcPct val="100000"/>
                        </a:lnSpc>
                      </a:pPr>
                      <a:r>
                        <a:rPr lang="en-US" sz="1050" b="0" u="none" strike="noStrike">
                          <a:solidFill>
                            <a:srgbClr val="0F172A"/>
                          </a:solidFill>
                          <a:effectLst/>
                          <a:uFillTx/>
                          <a:latin typeface="Arial"/>
                        </a:rPr>
                        <a:t>Enlace IP, adaptador ATA, softphones o teléfonos IP</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1F5F9"/>
                    </a:solidFill>
                  </a:tcPr>
                </a:tc>
              </a:tr>
              <a:tr h="746640">
                <a:tc>
                  <a:txBody>
                    <a:bodyPr anchor="t">
                      <a:noAutofit/>
                    </a:bodyPr>
                    <a:p>
                      <a:pPr defTabSz="457200">
                        <a:lnSpc>
                          <a:spcPct val="100000"/>
                        </a:lnSpc>
                      </a:pPr>
                      <a:r>
                        <a:rPr lang="en-US" sz="1050" b="1" u="none" strike="noStrike">
                          <a:solidFill>
                            <a:srgbClr val="0A192F"/>
                          </a:solidFill>
                          <a:effectLst/>
                          <a:uFillTx/>
                          <a:latin typeface="Arial"/>
                        </a:rPr>
                        <a:t>Estado en el Mercado</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050" b="0" u="none" strike="noStrike">
                          <a:solidFill>
                            <a:srgbClr val="0F172A"/>
                          </a:solidFill>
                          <a:effectLst/>
                          <a:uFillTx/>
                          <a:latin typeface="Arial"/>
                        </a:rPr>
                        <a:t>En fase final de desmantelamiento / apagado global</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050" b="0" u="none" strike="noStrike">
                          <a:solidFill>
                            <a:srgbClr val="0F172A"/>
                          </a:solidFill>
                          <a:effectLst/>
                          <a:uFillTx/>
                          <a:latin typeface="Arial"/>
                        </a:rPr>
                        <a:t>Superado progresivamente por Fibra Óptica (FTTH)</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t">
                      <a:noAutofit/>
                    </a:bodyPr>
                    <a:p>
                      <a:pPr defTabSz="457200">
                        <a:lnSpc>
                          <a:spcPct val="100000"/>
                        </a:lnSpc>
                      </a:pPr>
                      <a:r>
                        <a:rPr lang="en-US" sz="1050" b="0" u="none" strike="noStrike">
                          <a:solidFill>
                            <a:srgbClr val="0F172A"/>
                          </a:solidFill>
                          <a:effectLst/>
                          <a:uFillTx/>
                          <a:latin typeface="Arial"/>
                        </a:rPr>
                        <a:t>Estándar dominante global para comunicaciones de voz</a:t>
                      </a:r>
                      <a:endParaRPr lang="en-US" sz="10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56" name="TextBox 1"/>
          <p:cNvSpPr/>
          <p:nvPr/>
        </p:nvSpPr>
        <p:spPr>
          <a:xfrm>
            <a:off x="731520" y="365760"/>
            <a:ext cx="10728360" cy="10054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1" u="none" strike="noStrike">
                <a:solidFill>
                  <a:srgbClr val="0284C7"/>
                </a:solidFill>
                <a:effectLst/>
                <a:uFillTx/>
                <a:latin typeface="Arial"/>
              </a:rPr>
              <a:t>REDES DE ALTA VELOCIDAD | PROTOCOLO RDSI</a:t>
            </a:r>
            <a:endParaRPr lang="en-US" sz="1000" b="0" u="none" strike="noStrike">
              <a:solidFill>
                <a:srgbClr val="000000"/>
              </a:solidFill>
              <a:effectLst/>
              <a:uFillTx/>
              <a:latin typeface="Arial"/>
            </a:endParaRPr>
          </a:p>
          <a:p>
            <a:pPr defTabSz="457200">
              <a:lnSpc>
                <a:spcPct val="100000"/>
              </a:lnSpc>
            </a:pPr>
            <a:r>
              <a:rPr lang="en-US" sz="2200" b="1" u="none" strike="noStrike">
                <a:solidFill>
                  <a:srgbClr val="0A192F"/>
                </a:solidFill>
                <a:effectLst/>
                <a:uFillTx/>
                <a:latin typeface="Georgia"/>
              </a:rPr>
              <a:t>Equipamiento activo y registros fotográficos históricos de la infraestructura RDSI</a:t>
            </a:r>
            <a:endParaRPr lang="en-US" sz="2200" b="0" u="none" strike="noStrike">
              <a:solidFill>
                <a:srgbClr val="000000"/>
              </a:solidFill>
              <a:effectLst/>
              <a:uFillTx/>
              <a:latin typeface="Arial"/>
            </a:endParaRPr>
          </a:p>
        </p:txBody>
      </p:sp>
      <p:sp>
        <p:nvSpPr>
          <p:cNvPr id="157" name="Rectangle 2"/>
          <p:cNvSpPr/>
          <p:nvPr/>
        </p:nvSpPr>
        <p:spPr>
          <a:xfrm>
            <a:off x="731520" y="1371600"/>
            <a:ext cx="10728360" cy="25200"/>
          </a:xfrm>
          <a:prstGeom prst="rect">
            <a:avLst/>
          </a:prstGeom>
          <a:solidFill>
            <a:srgbClr val="0284C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58" name="TextBox 3"/>
          <p:cNvSpPr/>
          <p:nvPr/>
        </p:nvSpPr>
        <p:spPr>
          <a:xfrm>
            <a:off x="731520" y="6400800"/>
            <a:ext cx="10728360" cy="2739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900" b="0" u="none" strike="noStrike">
                <a:solidFill>
                  <a:srgbClr val="334155"/>
                </a:solidFill>
                <a:effectLst/>
                <a:uFillTx/>
                <a:latin typeface="Arial"/>
              </a:rPr>
              <a:t>Anatomía de la RDSI | Materia: Redes de Alta Velocidad | Diapositiva 15 de 16</a:t>
            </a:r>
            <a:endParaRPr lang="en-US" sz="900" b="0" u="none" strike="noStrike">
              <a:solidFill>
                <a:srgbClr val="000000"/>
              </a:solidFill>
              <a:effectLst/>
              <a:uFillTx/>
              <a:latin typeface="Arial"/>
            </a:endParaRPr>
          </a:p>
        </p:txBody>
      </p:sp>
      <p:sp>
        <p:nvSpPr>
          <p:cNvPr id="159" name="Rounded Rectangle 4"/>
          <p:cNvSpPr/>
          <p:nvPr/>
        </p:nvSpPr>
        <p:spPr>
          <a:xfrm>
            <a:off x="73152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0" name="TextBox 5"/>
          <p:cNvSpPr/>
          <p:nvPr/>
        </p:nvSpPr>
        <p:spPr>
          <a:xfrm>
            <a:off x="91440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001"/>
              </a:spcAft>
            </a:pPr>
            <a:r>
              <a:rPr lang="en-US" sz="1500" b="1" u="none" strike="noStrike">
                <a:solidFill>
                  <a:srgbClr val="0A192F"/>
                </a:solidFill>
                <a:effectLst/>
                <a:uFillTx/>
                <a:latin typeface="Georgia"/>
              </a:rPr>
              <a:t>Centrales Digitales de Conmutación</a:t>
            </a:r>
            <a:endParaRPr lang="en-US" sz="1500" b="0" u="none" strike="noStrike">
              <a:solidFill>
                <a:srgbClr val="000000"/>
              </a:solidFill>
              <a:effectLst/>
              <a:uFillTx/>
              <a:latin typeface="Arial"/>
            </a:endParaRPr>
          </a:p>
          <a:p>
            <a:pPr defTabSz="457200">
              <a:lnSpc>
                <a:spcPct val="100000"/>
              </a:lnSpc>
              <a:spcAft>
                <a:spcPts val="1400"/>
              </a:spcAft>
            </a:pPr>
            <a:r>
              <a:rPr lang="en-US" sz="1100" b="0" u="none" strike="noStrike">
                <a:solidFill>
                  <a:srgbClr val="0F172A"/>
                </a:solidFill>
                <a:effectLst/>
                <a:uFillTx/>
                <a:latin typeface="Arial"/>
              </a:rPr>
              <a:t>• Central Diana y System 1240 (Madrid): Bastidores de conmutación digital con procesadores distribuidos para enlaces transitados.</a:t>
            </a:r>
            <a:br>
              <a:rPr sz="1100"/>
            </a:br>
            <a:r>
              <a:rPr lang="en-US" sz="1100" b="0" u="none" strike="noStrike">
                <a:solidFill>
                  <a:srgbClr val="0F172A"/>
                </a:solidFill>
                <a:effectLst/>
                <a:uFillTx/>
                <a:latin typeface="Arial"/>
              </a:rPr>
              <a:t>• Centrales AXE10 (Ericsson): Módulos de abonado digital con selectores de canal común SS7.</a:t>
            </a:r>
            <a:endParaRPr lang="en-US" sz="1100" b="0" u="none" strike="noStrike">
              <a:solidFill>
                <a:srgbClr val="000000"/>
              </a:solidFill>
              <a:effectLst/>
              <a:uFillTx/>
              <a:latin typeface="Arial"/>
            </a:endParaRPr>
          </a:p>
          <a:p>
            <a:pPr defTabSz="457200">
              <a:lnSpc>
                <a:spcPct val="100000"/>
              </a:lnSpc>
            </a:pPr>
            <a:r>
              <a:rPr lang="en-US" sz="950" b="1" u="none" strike="noStrike">
                <a:solidFill>
                  <a:srgbClr val="0369A1"/>
                </a:solidFill>
                <a:effectLst/>
                <a:uFillTx/>
                <a:latin typeface="Arial"/>
              </a:rPr>
              <a:t>Ref: Archivo Telefónica [1, 5]</a:t>
            </a:r>
            <a:endParaRPr lang="en-US" sz="950" b="0" u="none" strike="noStrike">
              <a:solidFill>
                <a:srgbClr val="000000"/>
              </a:solidFill>
              <a:effectLst/>
              <a:uFillTx/>
              <a:latin typeface="Arial"/>
            </a:endParaRPr>
          </a:p>
        </p:txBody>
      </p:sp>
      <p:sp>
        <p:nvSpPr>
          <p:cNvPr id="161" name="Rounded Rectangle 6"/>
          <p:cNvSpPr/>
          <p:nvPr/>
        </p:nvSpPr>
        <p:spPr>
          <a:xfrm>
            <a:off x="437076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2" name="TextBox 7"/>
          <p:cNvSpPr/>
          <p:nvPr/>
        </p:nvSpPr>
        <p:spPr>
          <a:xfrm>
            <a:off x="455364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001"/>
              </a:spcAft>
            </a:pPr>
            <a:r>
              <a:rPr lang="en-US" sz="1500" b="1" u="none" strike="noStrike">
                <a:solidFill>
                  <a:srgbClr val="0A192F"/>
                </a:solidFill>
                <a:effectLst/>
                <a:uFillTx/>
                <a:latin typeface="Georgia"/>
              </a:rPr>
              <a:t>Terminales de Usuario y Telemática</a:t>
            </a:r>
            <a:endParaRPr lang="en-US" sz="1500" b="0" u="none" strike="noStrike">
              <a:solidFill>
                <a:srgbClr val="000000"/>
              </a:solidFill>
              <a:effectLst/>
              <a:uFillTx/>
              <a:latin typeface="Arial"/>
            </a:endParaRPr>
          </a:p>
          <a:p>
            <a:pPr defTabSz="457200">
              <a:lnSpc>
                <a:spcPct val="100000"/>
              </a:lnSpc>
              <a:spcAft>
                <a:spcPts val="1400"/>
              </a:spcAft>
            </a:pPr>
            <a:r>
              <a:rPr lang="en-US" sz="1100" b="0" u="none" strike="noStrike">
                <a:solidFill>
                  <a:srgbClr val="0F172A"/>
                </a:solidFill>
                <a:effectLst/>
                <a:uFillTx/>
                <a:latin typeface="Arial"/>
              </a:rPr>
              <a:t>• Terminal Ibertex (Telettra): Monitor CRT dedicado a videotex sobre red digital.</a:t>
            </a:r>
            <a:br>
              <a:rPr sz="1100"/>
            </a:br>
            <a:r>
              <a:rPr lang="en-US" sz="1100" b="0" u="none" strike="noStrike">
                <a:solidFill>
                  <a:srgbClr val="0F172A"/>
                </a:solidFill>
                <a:effectLst/>
                <a:uFillTx/>
                <a:latin typeface="Arial"/>
              </a:rPr>
              <a:t>• Datáfonos Redelta: Transmisión de transacciones de pago sobre datos RDSI.</a:t>
            </a:r>
            <a:br>
              <a:rPr sz="1100"/>
            </a:br>
            <a:r>
              <a:rPr lang="en-US" sz="1100" b="0" u="none" strike="noStrike">
                <a:solidFill>
                  <a:srgbClr val="0F172A"/>
                </a:solidFill>
                <a:effectLst/>
                <a:uFillTx/>
                <a:latin typeface="Arial"/>
              </a:rPr>
              <a:t>• Teléfonos Teide y Forma 1: Teléfonos con pantalla e identificador nativo.</a:t>
            </a:r>
            <a:endParaRPr lang="en-US" sz="1100" b="0" u="none" strike="noStrike">
              <a:solidFill>
                <a:srgbClr val="000000"/>
              </a:solidFill>
              <a:effectLst/>
              <a:uFillTx/>
              <a:latin typeface="Arial"/>
            </a:endParaRPr>
          </a:p>
          <a:p>
            <a:pPr defTabSz="457200">
              <a:lnSpc>
                <a:spcPct val="100000"/>
              </a:lnSpc>
            </a:pPr>
            <a:r>
              <a:rPr lang="en-US" sz="950" b="1" u="none" strike="noStrike">
                <a:solidFill>
                  <a:srgbClr val="0369A1"/>
                </a:solidFill>
                <a:effectLst/>
                <a:uFillTx/>
                <a:latin typeface="Arial"/>
              </a:rPr>
              <a:t>Ref: Historia de Telefónica 1976-2000 [5]</a:t>
            </a:r>
            <a:endParaRPr lang="en-US" sz="950" b="0" u="none" strike="noStrike">
              <a:solidFill>
                <a:srgbClr val="000000"/>
              </a:solidFill>
              <a:effectLst/>
              <a:uFillTx/>
              <a:latin typeface="Arial"/>
            </a:endParaRPr>
          </a:p>
        </p:txBody>
      </p:sp>
      <p:sp>
        <p:nvSpPr>
          <p:cNvPr id="163" name="Rounded Rectangle 8"/>
          <p:cNvSpPr/>
          <p:nvPr/>
        </p:nvSpPr>
        <p:spPr>
          <a:xfrm>
            <a:off x="8010000" y="1645920"/>
            <a:ext cx="345600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4" name="TextBox 9"/>
          <p:cNvSpPr/>
          <p:nvPr/>
        </p:nvSpPr>
        <p:spPr>
          <a:xfrm>
            <a:off x="8192880" y="1828800"/>
            <a:ext cx="30902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001"/>
              </a:spcAft>
            </a:pPr>
            <a:r>
              <a:rPr lang="en-US" sz="1500" b="1" u="none" strike="noStrike">
                <a:solidFill>
                  <a:srgbClr val="0A192F"/>
                </a:solidFill>
                <a:effectLst/>
                <a:uFillTx/>
                <a:latin typeface="Georgia"/>
              </a:rPr>
              <a:t>Equipos de Frontera y Acceso (NT1/TA)</a:t>
            </a:r>
            <a:endParaRPr lang="en-US" sz="1500" b="0" u="none" strike="noStrike">
              <a:solidFill>
                <a:srgbClr val="000000"/>
              </a:solidFill>
              <a:effectLst/>
              <a:uFillTx/>
              <a:latin typeface="Arial"/>
            </a:endParaRPr>
          </a:p>
          <a:p>
            <a:pPr defTabSz="457200">
              <a:lnSpc>
                <a:spcPct val="100000"/>
              </a:lnSpc>
              <a:spcAft>
                <a:spcPts val="1400"/>
              </a:spcAft>
            </a:pPr>
            <a:r>
              <a:rPr lang="en-US" sz="1100" b="0" u="none" strike="noStrike">
                <a:solidFill>
                  <a:srgbClr val="0F172A"/>
                </a:solidFill>
                <a:effectLst/>
                <a:uFillTx/>
                <a:latin typeface="Arial"/>
              </a:rPr>
              <a:t>• Roseta TR1 / NT1: Convertidor de bucle U (2 hilos) a bus pasivo S/T (4 hilos con conectores RJ-45).</a:t>
            </a:r>
            <a:br>
              <a:rPr sz="1100"/>
            </a:br>
            <a:r>
              <a:rPr lang="en-US" sz="1100" b="0" u="none" strike="noStrike">
                <a:solidFill>
                  <a:srgbClr val="0F172A"/>
                </a:solidFill>
                <a:effectLst/>
                <a:uFillTx/>
                <a:latin typeface="Arial"/>
              </a:rPr>
              <a:t>• Adaptadores de Terminal (TA a/b, TA X.25): Interfaz de conversión para teléfonos analógicos e impresoras de fax Grupo 3.</a:t>
            </a:r>
            <a:endParaRPr lang="en-US" sz="1100" b="0" u="none" strike="noStrike">
              <a:solidFill>
                <a:srgbClr val="000000"/>
              </a:solidFill>
              <a:effectLst/>
              <a:uFillTx/>
              <a:latin typeface="Arial"/>
            </a:endParaRPr>
          </a:p>
          <a:p>
            <a:pPr defTabSz="457200">
              <a:lnSpc>
                <a:spcPct val="100000"/>
              </a:lnSpc>
            </a:pPr>
            <a:r>
              <a:rPr lang="en-US" sz="950" b="1" u="none" strike="noStrike">
                <a:solidFill>
                  <a:srgbClr val="0369A1"/>
                </a:solidFill>
                <a:effectLst/>
                <a:uFillTx/>
                <a:latin typeface="Arial"/>
              </a:rPr>
              <a:t>Ref: Recomendación UIT-T I.430 / ETSI [2, 3]</a:t>
            </a:r>
            <a:endParaRPr lang="en-US"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65" name="TextBox 1"/>
          <p:cNvSpPr/>
          <p:nvPr/>
        </p:nvSpPr>
        <p:spPr>
          <a:xfrm>
            <a:off x="731520" y="365760"/>
            <a:ext cx="10728360" cy="10054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01"/>
              </a:spcAft>
            </a:pPr>
            <a:r>
              <a:rPr lang="en-US" sz="1000" b="1" u="none" strike="noStrike">
                <a:solidFill>
                  <a:srgbClr val="0284C7"/>
                </a:solidFill>
                <a:effectLst/>
                <a:uFillTx/>
                <a:latin typeface="Arial"/>
              </a:rPr>
              <a:t>REDES DE ALTA VELOCIDAD | PROTOCOLO RDSI</a:t>
            </a:r>
            <a:endParaRPr lang="en-US" sz="1000" b="0" u="none" strike="noStrike">
              <a:solidFill>
                <a:srgbClr val="000000"/>
              </a:solidFill>
              <a:effectLst/>
              <a:uFillTx/>
              <a:latin typeface="Arial"/>
            </a:endParaRPr>
          </a:p>
          <a:p>
            <a:pPr defTabSz="457200">
              <a:lnSpc>
                <a:spcPct val="100000"/>
              </a:lnSpc>
            </a:pPr>
            <a:r>
              <a:rPr lang="en-US" sz="2200" b="1" u="none" strike="noStrike">
                <a:solidFill>
                  <a:srgbClr val="0A192F"/>
                </a:solidFill>
                <a:effectLst/>
                <a:uFillTx/>
                <a:latin typeface="Georgia"/>
              </a:rPr>
              <a:t>Referencias Bibliográficas (Formato Estándar IEEE)</a:t>
            </a:r>
            <a:endParaRPr lang="en-US" sz="2200" b="0" u="none" strike="noStrike">
              <a:solidFill>
                <a:srgbClr val="000000"/>
              </a:solidFill>
              <a:effectLst/>
              <a:uFillTx/>
              <a:latin typeface="Arial"/>
            </a:endParaRPr>
          </a:p>
        </p:txBody>
      </p:sp>
      <p:sp>
        <p:nvSpPr>
          <p:cNvPr id="166" name="Rectangle 2"/>
          <p:cNvSpPr/>
          <p:nvPr/>
        </p:nvSpPr>
        <p:spPr>
          <a:xfrm>
            <a:off x="731520" y="1371600"/>
            <a:ext cx="10728360" cy="25200"/>
          </a:xfrm>
          <a:prstGeom prst="rect">
            <a:avLst/>
          </a:prstGeom>
          <a:solidFill>
            <a:srgbClr val="0284C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p>
            <a:endParaRPr lang="en-US" sz="1800" b="0" u="none" strike="noStrike">
              <a:solidFill>
                <a:schemeClr val="lt1"/>
              </a:solidFill>
              <a:effectLst/>
              <a:uFillTx/>
              <a:latin typeface="Calibri"/>
            </a:endParaRPr>
          </a:p>
        </p:txBody>
      </p:sp>
      <p:sp>
        <p:nvSpPr>
          <p:cNvPr id="167" name="TextBox 3"/>
          <p:cNvSpPr/>
          <p:nvPr/>
        </p:nvSpPr>
        <p:spPr>
          <a:xfrm>
            <a:off x="731520" y="6400800"/>
            <a:ext cx="10728360" cy="2739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900" b="0" u="none" strike="noStrike">
                <a:solidFill>
                  <a:srgbClr val="334155"/>
                </a:solidFill>
                <a:effectLst/>
                <a:uFillTx/>
                <a:latin typeface="Arial"/>
              </a:rPr>
              <a:t>Anatomía de la RDSI | Materia: Redes de Alta Velocidad | Diapositiva 16 de 16</a:t>
            </a:r>
            <a:endParaRPr lang="en-US" sz="900" b="0" u="none" strike="noStrike">
              <a:solidFill>
                <a:srgbClr val="000000"/>
              </a:solidFill>
              <a:effectLst/>
              <a:uFillTx/>
              <a:latin typeface="Arial"/>
            </a:endParaRPr>
          </a:p>
        </p:txBody>
      </p:sp>
      <p:sp>
        <p:nvSpPr>
          <p:cNvPr id="168" name="Rounded Rectangle 4"/>
          <p:cNvSpPr/>
          <p:nvPr/>
        </p:nvSpPr>
        <p:spPr>
          <a:xfrm>
            <a:off x="731520" y="1645920"/>
            <a:ext cx="10728360" cy="4480200"/>
          </a:xfrm>
          <a:prstGeom prst="roundRect">
            <a:avLst>
              <a:gd name="adj" fmla="val 16667"/>
            </a:avLst>
          </a:prstGeom>
          <a:solidFill>
            <a:srgbClr val="FFFFFF"/>
          </a:solidFill>
          <a:ln w="12700">
            <a:solidFill>
              <a:srgbClr val="CBD5E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9" name="TextBox 5"/>
          <p:cNvSpPr/>
          <p:nvPr/>
        </p:nvSpPr>
        <p:spPr>
          <a:xfrm>
            <a:off x="914400" y="1828800"/>
            <a:ext cx="1036260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799"/>
              </a:spcAft>
            </a:pPr>
            <a:r>
              <a:rPr lang="en-US" sz="1400" b="1" u="none" strike="noStrike">
                <a:solidFill>
                  <a:srgbClr val="0A192F"/>
                </a:solidFill>
                <a:effectLst/>
                <a:uFillTx/>
                <a:latin typeface="Georgia"/>
              </a:rPr>
              <a:t>Fuentes Primarias y Normativa Técnica Consultada:</a:t>
            </a:r>
            <a:endParaRPr lang="en-US" sz="1400" b="0" u="none" strike="noStrike">
              <a:solidFill>
                <a:srgbClr val="000000"/>
              </a:solidFill>
              <a:effectLst/>
              <a:uFillTx/>
              <a:latin typeface="Arial"/>
            </a:endParaRPr>
          </a:p>
          <a:p>
            <a:pPr defTabSz="457200">
              <a:lnSpc>
                <a:spcPct val="100000"/>
              </a:lnSpc>
              <a:spcAft>
                <a:spcPts val="400"/>
              </a:spcAft>
            </a:pPr>
            <a:r>
              <a:rPr lang="en-US" sz="1050" b="0" u="none" strike="noStrike">
                <a:solidFill>
                  <a:srgbClr val="0F172A"/>
                </a:solidFill>
                <a:effectLst/>
                <a:uFillTx/>
                <a:latin typeface="Arial"/>
              </a:rPr>
              <a:t>[1] CCITT, "Integrated Services Digital Network (ISDN); General Structure and Service Capabilities," CCITT Red Book, Vol. III, Fascicle III.5, Rec. I.110-I.257, Malaga-Torremolinos, 1984.</a:t>
            </a:r>
            <a:endParaRPr lang="en-US" sz="1050" b="0" u="none" strike="noStrike">
              <a:solidFill>
                <a:srgbClr val="000000"/>
              </a:solidFill>
              <a:effectLst/>
              <a:uFillTx/>
              <a:latin typeface="Arial"/>
            </a:endParaRPr>
          </a:p>
          <a:p>
            <a:pPr defTabSz="457200">
              <a:lnSpc>
                <a:spcPct val="100000"/>
              </a:lnSpc>
              <a:spcAft>
                <a:spcPts val="400"/>
              </a:spcAft>
            </a:pPr>
            <a:r>
              <a:rPr lang="en-US" sz="1050" b="0" u="none" strike="noStrike">
                <a:solidFill>
                  <a:srgbClr val="0F172A"/>
                </a:solidFill>
                <a:effectLst/>
                <a:uFillTx/>
                <a:latin typeface="Arial"/>
              </a:rPr>
              <a:t>[2] ITU-T, "ISDN user-network interface layer 3 specification for basic call control," ITU-T Recommendation Q.931 (1998) Amd. 2, Geneva, Dec. 2023.</a:t>
            </a:r>
            <a:endParaRPr lang="en-US" sz="1050" b="0" u="none" strike="noStrike">
              <a:solidFill>
                <a:srgbClr val="000000"/>
              </a:solidFill>
              <a:effectLst/>
              <a:uFillTx/>
              <a:latin typeface="Arial"/>
            </a:endParaRPr>
          </a:p>
          <a:p>
            <a:pPr defTabSz="457200">
              <a:lnSpc>
                <a:spcPct val="100000"/>
              </a:lnSpc>
              <a:spcAft>
                <a:spcPts val="400"/>
              </a:spcAft>
            </a:pPr>
            <a:r>
              <a:rPr lang="en-US" sz="1050" b="0" u="none" strike="noStrike">
                <a:solidFill>
                  <a:srgbClr val="0F172A"/>
                </a:solidFill>
                <a:effectLst/>
                <a:uFillTx/>
                <a:latin typeface="Arial"/>
              </a:rPr>
              <a:t>[3] ITU-T, "Basic user-network interface - Layer 1 specification," ITU-T Recommendation I.430, Geneva, Nov. 1993.</a:t>
            </a:r>
            <a:endParaRPr lang="en-US" sz="1050" b="0" u="none" strike="noStrike">
              <a:solidFill>
                <a:srgbClr val="000000"/>
              </a:solidFill>
              <a:effectLst/>
              <a:uFillTx/>
              <a:latin typeface="Arial"/>
            </a:endParaRPr>
          </a:p>
          <a:p>
            <a:pPr defTabSz="457200">
              <a:lnSpc>
                <a:spcPct val="100000"/>
              </a:lnSpc>
              <a:spcAft>
                <a:spcPts val="400"/>
              </a:spcAft>
            </a:pPr>
            <a:r>
              <a:rPr lang="en-US" sz="1050" b="0" u="none" strike="noStrike">
                <a:solidFill>
                  <a:srgbClr val="0F172A"/>
                </a:solidFill>
                <a:effectLst/>
                <a:uFillTx/>
                <a:latin typeface="Arial"/>
              </a:rPr>
              <a:t>[4] R. Aaron and R. Wyndrum, "Future trends in digital communications," IEEE Communications Magazine, vol. 24, no. 3, pp. 38–43, Mar. 1986.</a:t>
            </a:r>
            <a:endParaRPr lang="en-US" sz="1050" b="0" u="none" strike="noStrike">
              <a:solidFill>
                <a:srgbClr val="000000"/>
              </a:solidFill>
              <a:effectLst/>
              <a:uFillTx/>
              <a:latin typeface="Arial"/>
            </a:endParaRPr>
          </a:p>
          <a:p>
            <a:pPr defTabSz="457200">
              <a:lnSpc>
                <a:spcPct val="100000"/>
              </a:lnSpc>
              <a:spcAft>
                <a:spcPts val="400"/>
              </a:spcAft>
            </a:pPr>
            <a:r>
              <a:rPr lang="en-US" sz="1050" b="0" u="none" strike="noStrike">
                <a:solidFill>
                  <a:srgbClr val="0F172A"/>
                </a:solidFill>
                <a:effectLst/>
                <a:uFillTx/>
                <a:latin typeface="Arial"/>
              </a:rPr>
              <a:t>[5] Á. Calvo (Coord.), Historia de Telefónica: 1976-2000. Las telecomunicaciones en la España democrática, Madrid, España: Ariel / Fundación Telefónica, 2010.</a:t>
            </a:r>
            <a:endParaRPr lang="en-US" sz="1050" b="0" u="none" strike="noStrike">
              <a:solidFill>
                <a:srgbClr val="000000"/>
              </a:solidFill>
              <a:effectLst/>
              <a:uFillTx/>
              <a:latin typeface="Arial"/>
            </a:endParaRPr>
          </a:p>
          <a:p>
            <a:pPr defTabSz="457200">
              <a:lnSpc>
                <a:spcPct val="100000"/>
              </a:lnSpc>
              <a:spcAft>
                <a:spcPts val="400"/>
              </a:spcAft>
            </a:pPr>
            <a:r>
              <a:rPr lang="en-US" sz="1050" b="0" u="none" strike="noStrike">
                <a:solidFill>
                  <a:srgbClr val="0F172A"/>
                </a:solidFill>
                <a:effectLst/>
                <a:uFillTx/>
                <a:latin typeface="Arial"/>
              </a:rPr>
              <a:t>[6] ETSI, "Integrated Services Digital Network (ISDN); Signalling System No.7," European Standard EN 300 009-02 V1.2.1, ETSI, Sophia Antipolis, France, 1996.</a:t>
            </a:r>
            <a:endParaRPr lang="en-US" sz="1050" b="0" u="none" strike="noStrike">
              <a:solidFill>
                <a:srgbClr val="000000"/>
              </a:solidFill>
              <a:effectLst/>
              <a:uFillTx/>
              <a:latin typeface="Arial"/>
            </a:endParaRPr>
          </a:p>
          <a:p>
            <a:pPr defTabSz="457200">
              <a:lnSpc>
                <a:spcPct val="100000"/>
              </a:lnSpc>
              <a:spcAft>
                <a:spcPts val="400"/>
              </a:spcAft>
            </a:pPr>
            <a:r>
              <a:rPr lang="en-US" sz="1050" b="0" u="none" strike="noStrike">
                <a:solidFill>
                  <a:srgbClr val="0F172A"/>
                </a:solidFill>
                <a:effectLst/>
                <a:uFillTx/>
                <a:latin typeface="Arial"/>
              </a:rPr>
              <a:t>[7] J. Lechleider, "High bit rate digital subscriber lines: a review of HDSL and ADSL progress," IEEE Journal on Selected Areas in Communications, vol. 9, no. 6, pp. 769–784, Aug. 1991.</a:t>
            </a:r>
            <a:endParaRPr lang="en-US" sz="1050" b="0" u="none" strike="noStrike">
              <a:solidFill>
                <a:srgbClr val="000000"/>
              </a:solidFill>
              <a:effectLst/>
              <a:uFillTx/>
              <a:latin typeface="Arial"/>
            </a:endParaRPr>
          </a:p>
          <a:p>
            <a:pPr defTabSz="457200">
              <a:lnSpc>
                <a:spcPct val="100000"/>
              </a:lnSpc>
              <a:spcAft>
                <a:spcPts val="400"/>
              </a:spcAft>
            </a:pPr>
            <a:r>
              <a:rPr lang="en-US" sz="1050" b="0" u="none" strike="noStrike">
                <a:solidFill>
                  <a:srgbClr val="0F172A"/>
                </a:solidFill>
                <a:effectLst/>
                <a:uFillTx/>
                <a:latin typeface="Arial"/>
              </a:rPr>
              <a:t>[8] R. J. Millán Tejedor, "RDSI (Red Digital de Servicios Integrados)," Monografías de Telecomunicaciones, 2008. [En línea]. Disponible en: https://www.ramonmillan.com/tutoriales/rdsi.php</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LibreOffice/26.2.5.2$Linux_X86_64 LibreOffice_project/620$Build-2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2026-09-10T01:22:55Z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